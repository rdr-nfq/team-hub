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Seguimiento del equipo RDR a 28 de septiembre de 2026: 10 proyectos, 54 tareas, 3 incidencias o tareas abiertas y 4 traspasos pendientes.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bloques: planificación del equipo, seguimiento de proyectos e incidencias y traspasos.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Bloque 1: planificación del equipo por responsable interno.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Planificación por responsable (julio – octubre 2026), derivada de las fechas límite de cada tarea. Las tareas sin iniciar con fecha por trimestre aparecen en espera.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Bloque 2: 10 proyectos y 54 tareas; 34 al 100 % y 3 en riesgo.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Decomisado MIDAS · Migración Operaciones (SDATOOL-51125 · 2025-51). 6 tareas · 4 al 100 % · Asignación: Marta. Pendiente: Soporte pruebas (Q3, 95 %, en plazo); Implantación a producción (Q4, 0 %, sin iniciar).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Decomisado MIDAS · Cargador Thirdparties (SDATOOL-51125 · 2026-21). 5 tareas · 2 al 100 % · 1 en riesgo · Asignación: Marta. Pendiente: desarrollo (7 Ago, 90 %, en riesgo); Pruebas unitarias (14 Ago, 90 %, en curso); implantación (Q4, 0 %, sin iniciar).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Decomisado MIDAS · Agreements CLS BBVA México (SDATOOL-51125 · 2026-49). 7 tareas · 7 al 100 % · Asignación: Marta.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Security Lending Undisclosed · Validaciones (SDATOOL-38779 · 2026-52). 4 tareas · 2 al 100 % · Asignación: Pablo y Marta. Pendiente: pruebas (1 Oct, 99 %, en plazo); implantación (17 Oct, 0 %, sin iniciar).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BSI 2.0 (SDATOOL-49629 · 2026-50). 3 tareas · 0 al 100 % · Asignación: Pablo y Marta. Pendiente: análisis (Q3, — %, en plazo); Soporte a pruebas (Q3, — %, en plazo); Ventana Legal Agreements BSI (17 Oct, 0 %, sin iniciar).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Automatización Emisiones RV (SDATOOL-42226 · 2026-46). 6 tareas · 5 al 100 % · Asignación: Pablo. Pendiente: soporte (Q3, — %, en plazo).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Calypso OTC Madrid Fase V (SDATOOL-34546 · 2025). 6 tareas · 6 al 100 % · Asignación: Marta.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Eventos Corporativos (SDATOOL-51827 · 2026-41). 6 tareas · 5 al 100 % · Asignación: Pablo. Pendiente: implantación (3 Oct, 0 %, sin iniciar).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Testing / IA - RDR (BAU · 2026). 1 tarea · 0 al 100 % · Asignación: Pablo. Pendiente: Testing (Q3, 80 %, en plazo).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Vulnerabilidades Java (SDATOOL-51827 · 2026-54). 10 tareas · 3 al 100 % · 2 en riesgo · Asignación: Chema. Pendiente: desarrollo · b2 (7 Sep, 80 %, en plazo); desarrollo · b3 (19 Oct, 20 %, sin iniciar); pruebas · unitarias · b2 (14 Sep, 65 %, en plazo); pruebas · unitarias · b3 (19 Oct, 10 %, sin iniciar); implantación · b1 (26 Sep, 0 %, en riesgo); implantación · b2 (3 Oct, 0 %, en riesgo); implantación · b3 (7 Nov, 0 %, sin iniciar).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Bloque 3: incidencias, tareas abiertas y traspasos.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incidencia: Strategic Boost — Duplicados en ISSR, en el alta automática de emisores; Error en el proceso si el usuario deja vacío el Legal Regime. tarea · en riesgo: 2024-57 — Eliminar columnas no utilizadas FT_T_RLA1. tarea · en plazo: Migración Midas FX — Volcado de BBDD.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Traspasos: Supply Chain Finance - Contrapartidas 2025-61 (Alejandro Romero → Ángela Montero, falta ok usuario); Cargador Thirdparties 2026-21 (Lucía Garrido → Marta Trujillano, falta implantación golive); Cargador Fondos 2026-23 (Lucía Garrido → Jesús Tejada, falta ok usuario); Legal Agreements CLS 2026-49 (Lucía Garrido → Marta Trujillano, falta ok usuario / ok destino).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Resumen: 10 proyectos, 54 tareas, 34 al 100 %, 3 en riesgo; 1 incidencias; 4 traspasos.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Institucional Clientes · E-Clients (SDATOOL-34546 · 2026-39). 5 tareas · 5 al 100 % · Asignación: Marta y Pilar.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3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1552" y="384048"/>
            <a:ext cx="1554480" cy="4663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178308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SEGUIMIENTO · 28 DE SEPTIEMBRE DE 2026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2103120"/>
            <a:ext cx="10058400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rgbClr val="F7F8F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Seguimiento</a:t>
            </a:r>
            <a:endParaRPr lang="en-US" sz="46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rgbClr val="F7F8F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RDR Global 2026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36576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D9DDEC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Planificación del equipo, estado de los proyectos, incidencias y traspasos pendientes.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02920" y="5084064"/>
            <a:ext cx="1351483" cy="31089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5152644"/>
            <a:ext cx="173736" cy="17373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50392" y="5084064"/>
            <a:ext cx="9400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PLANIFICACIÓN</a:t>
            </a:r>
            <a:endParaRPr lang="en-US" sz="850" dirty="0"/>
          </a:p>
        </p:txBody>
      </p:sp>
      <p:sp>
        <p:nvSpPr>
          <p:cNvPr id="9" name="Shape 5"/>
          <p:cNvSpPr/>
          <p:nvPr/>
        </p:nvSpPr>
        <p:spPr>
          <a:xfrm>
            <a:off x="2046427" y="5084064"/>
            <a:ext cx="1291133" cy="310896"/>
          </a:xfrm>
          <a:prstGeom prst="roundRect">
            <a:avLst>
              <a:gd name="adj" fmla="val 50000"/>
            </a:avLst>
          </a:prstGeom>
          <a:solidFill>
            <a:srgbClr val="88E783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5299" y="5152644"/>
            <a:ext cx="173736" cy="17373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393899" y="5084064"/>
            <a:ext cx="87965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 PROYECTOS</a:t>
            </a:r>
            <a:endParaRPr lang="en-US" sz="850" dirty="0"/>
          </a:p>
        </p:txBody>
      </p:sp>
      <p:sp>
        <p:nvSpPr>
          <p:cNvPr id="12" name="Shape 7"/>
          <p:cNvSpPr/>
          <p:nvPr/>
        </p:nvSpPr>
        <p:spPr>
          <a:xfrm>
            <a:off x="3529584" y="5084064"/>
            <a:ext cx="1230782" cy="31089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8456" y="5152644"/>
            <a:ext cx="173736" cy="17373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877056" y="5084064"/>
            <a:ext cx="8193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4 TRASPASOS</a:t>
            </a:r>
            <a:endParaRPr lang="en-US" sz="850" dirty="0"/>
          </a:p>
        </p:txBody>
      </p:sp>
      <p:sp>
        <p:nvSpPr>
          <p:cNvPr id="15" name="Text 9"/>
          <p:cNvSpPr txBox="1"/>
          <p:nvPr/>
        </p:nvSpPr>
        <p:spPr>
          <a:xfrm>
            <a:off x="502920" y="6364224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Nfq Advisory Services, 2026</a:t>
            </a:r>
            <a:endParaRPr lang="en-US" sz="850" dirty="0"/>
          </a:p>
        </p:txBody>
      </p:sp>
      <p:sp>
        <p:nvSpPr>
          <p:cNvPr id="16" name="Text 10"/>
          <p:cNvSpPr txBox="1"/>
          <p:nvPr/>
        </p:nvSpPr>
        <p:spPr>
          <a:xfrm>
            <a:off x="9976104" y="6364224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HECHO POR</a:t>
            </a:r>
            <a:endParaRPr lang="en-US" sz="8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91088" y="6364224"/>
            <a:ext cx="64008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SEGUIMIENTO RDR   ÍNDICE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Seguimiento RDR Global 2026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02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188720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7F8F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Índice</a:t>
            </a:r>
            <a:endParaRPr lang="en-US" sz="3000" dirty="0"/>
          </a:p>
        </p:txBody>
      </p:sp>
      <p:sp>
        <p:nvSpPr>
          <p:cNvPr id="8" name="Shape 4"/>
          <p:cNvSpPr/>
          <p:nvPr/>
        </p:nvSpPr>
        <p:spPr>
          <a:xfrm>
            <a:off x="502920" y="2103120"/>
            <a:ext cx="3557016" cy="3520440"/>
          </a:xfrm>
          <a:prstGeom prst="roundRect">
            <a:avLst>
              <a:gd name="adj" fmla="val 3117"/>
            </a:avLst>
          </a:prstGeom>
          <a:solidFill>
            <a:srgbClr val="85C8FF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22376" y="2340864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BLOQUE 01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722376" y="2651760"/>
            <a:ext cx="31181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Planificación del equipo</a:t>
            </a:r>
            <a:endParaRPr lang="en-US" sz="1550" dirty="0"/>
          </a:p>
        </p:txBody>
      </p:sp>
      <p:sp>
        <p:nvSpPr>
          <p:cNvPr id="11" name="Text 7"/>
          <p:cNvSpPr txBox="1"/>
          <p:nvPr/>
        </p:nvSpPr>
        <p:spPr>
          <a:xfrm>
            <a:off x="722376" y="3584448"/>
            <a:ext cx="31181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Fases de cada proyecto por semana y responsable interno.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315968" y="2103120"/>
            <a:ext cx="3557016" cy="3520440"/>
          </a:xfrm>
          <a:prstGeom prst="roundRect">
            <a:avLst>
              <a:gd name="adj" fmla="val 3117"/>
            </a:avLst>
          </a:prstGeom>
          <a:solidFill>
            <a:srgbClr val="88E783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4535424" y="2340864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BLOQUE 02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4535424" y="2651760"/>
            <a:ext cx="31181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Seguimiento de proyectos</a:t>
            </a:r>
            <a:endParaRPr lang="en-US" sz="1550" dirty="0"/>
          </a:p>
        </p:txBody>
      </p:sp>
      <p:sp>
        <p:nvSpPr>
          <p:cNvPr id="15" name="Text 11"/>
          <p:cNvSpPr txBox="1"/>
          <p:nvPr/>
        </p:nvSpPr>
        <p:spPr>
          <a:xfrm>
            <a:off x="4535424" y="3584448"/>
            <a:ext cx="31181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Detalle de 10 proyectos: tareas, fechas límite, avance y estado.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129016" y="2103120"/>
            <a:ext cx="3557016" cy="3520440"/>
          </a:xfrm>
          <a:prstGeom prst="roundRect">
            <a:avLst>
              <a:gd name="adj" fmla="val 3117"/>
            </a:avLst>
          </a:prstGeom>
          <a:solidFill>
            <a:srgbClr val="FFE761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348472" y="2340864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BLOQUE 03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8348472" y="2651760"/>
            <a:ext cx="31181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Incidencias y traspasos</a:t>
            </a:r>
            <a:endParaRPr lang="en-US" sz="1550" dirty="0"/>
          </a:p>
        </p:txBody>
      </p:sp>
      <p:sp>
        <p:nvSpPr>
          <p:cNvPr id="19" name="Text 15"/>
          <p:cNvSpPr txBox="1"/>
          <p:nvPr/>
        </p:nvSpPr>
        <p:spPr>
          <a:xfrm>
            <a:off x="8348472" y="3584448"/>
            <a:ext cx="31181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Incidencias, tareas abiertas y traspasos pendientes de cerrar.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85C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10896"/>
            <a:ext cx="1234440" cy="3749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2651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BLOQUE 01 · PLANIFICACIÓN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2990088"/>
            <a:ext cx="105156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Planificación</a:t>
            </a:r>
            <a:endParaRPr lang="en-US" sz="44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del equipo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4714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Fases de cada proyecto por semana, julio – octubre 2026, agrupadas por responsable interno.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01 · Planificación del equipo</a:t>
            </a:r>
            <a:endParaRPr lang="en-US" sz="8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03 / 21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01 · PLANIFICACIÓN DEL EQUIPO   POR RESPONSABLE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01 · Planificación del equipo — Por responsable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04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JULIO – OCTUBRE 2026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Planificación por responsable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11084357" y="1691640"/>
            <a:ext cx="6016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ESPERA</a:t>
            </a:r>
            <a:endParaRPr lang="en-US" sz="750" dirty="0"/>
          </a:p>
        </p:txBody>
      </p:sp>
      <p:sp>
        <p:nvSpPr>
          <p:cNvPr id="10" name="Shape 6"/>
          <p:cNvSpPr/>
          <p:nvPr/>
        </p:nvSpPr>
        <p:spPr>
          <a:xfrm>
            <a:off x="10901477" y="171907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CAD1D8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9699955" y="1691640"/>
            <a:ext cx="105521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POST-IMPLANTACIÓN</a:t>
            </a:r>
            <a:endParaRPr lang="en-US" sz="750" dirty="0"/>
          </a:p>
        </p:txBody>
      </p:sp>
      <p:sp>
        <p:nvSpPr>
          <p:cNvPr id="12" name="Shape 8"/>
          <p:cNvSpPr/>
          <p:nvPr/>
        </p:nvSpPr>
        <p:spPr>
          <a:xfrm>
            <a:off x="9517075" y="171907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8BE1E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599018" y="1691640"/>
            <a:ext cx="77175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750" dirty="0"/>
          </a:p>
        </p:txBody>
      </p:sp>
      <p:sp>
        <p:nvSpPr>
          <p:cNvPr id="14" name="Shape 10"/>
          <p:cNvSpPr/>
          <p:nvPr/>
        </p:nvSpPr>
        <p:spPr>
          <a:xfrm>
            <a:off x="8416138" y="171907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B56B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7781544" y="1691640"/>
            <a:ext cx="48829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750" dirty="0"/>
          </a:p>
        </p:txBody>
      </p:sp>
      <p:sp>
        <p:nvSpPr>
          <p:cNvPr id="16" name="Shape 12"/>
          <p:cNvSpPr/>
          <p:nvPr/>
        </p:nvSpPr>
        <p:spPr>
          <a:xfrm>
            <a:off x="7598664" y="171907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E761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793992" y="1691640"/>
            <a:ext cx="6583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6611112" y="171907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9694FF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919826" y="1691640"/>
            <a:ext cx="54498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750" dirty="0"/>
          </a:p>
        </p:txBody>
      </p:sp>
      <p:sp>
        <p:nvSpPr>
          <p:cNvPr id="20" name="Shape 16"/>
          <p:cNvSpPr/>
          <p:nvPr/>
        </p:nvSpPr>
        <p:spPr>
          <a:xfrm>
            <a:off x="5736946" y="171907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85C8FF"/>
          </a:solidFill>
          <a:ln/>
        </p:spPr>
      </p:sp>
      <p:sp>
        <p:nvSpPr>
          <p:cNvPr id="21" name="Shape 17"/>
          <p:cNvSpPr/>
          <p:nvPr/>
        </p:nvSpPr>
        <p:spPr>
          <a:xfrm>
            <a:off x="502920" y="2075688"/>
            <a:ext cx="11183112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9866376" y="2423160"/>
            <a:ext cx="530352" cy="3611880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2971800" y="2203704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JULIO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3017520" y="2423160"/>
            <a:ext cx="2560320" cy="0"/>
          </a:xfrm>
          <a:prstGeom prst="line">
            <a:avLst/>
          </a:prstGeom>
          <a:noFill/>
          <a:ln w="9525">
            <a:solidFill>
              <a:srgbClr val="001391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623560" y="2203704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AGOSTO</a:t>
            </a:r>
            <a:endParaRPr lang="en-US" sz="800" dirty="0"/>
          </a:p>
        </p:txBody>
      </p:sp>
      <p:sp>
        <p:nvSpPr>
          <p:cNvPr id="26" name="Shape 22"/>
          <p:cNvSpPr/>
          <p:nvPr/>
        </p:nvSpPr>
        <p:spPr>
          <a:xfrm>
            <a:off x="5669280" y="2423160"/>
            <a:ext cx="2029968" cy="0"/>
          </a:xfrm>
          <a:prstGeom prst="line">
            <a:avLst/>
          </a:prstGeom>
          <a:noFill/>
          <a:ln w="9525">
            <a:solidFill>
              <a:srgbClr val="001391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23560" y="2459736"/>
            <a:ext cx="0" cy="3575304"/>
          </a:xfrm>
          <a:prstGeom prst="line">
            <a:avLst/>
          </a:prstGeom>
          <a:noFill/>
          <a:ln w="9525">
            <a:solidFill>
              <a:srgbClr val="CAD1D8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744968" y="2203704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SEPTIEMBRE</a:t>
            </a:r>
            <a:endParaRPr lang="en-US" sz="800" dirty="0"/>
          </a:p>
        </p:txBody>
      </p:sp>
      <p:sp>
        <p:nvSpPr>
          <p:cNvPr id="29" name="Shape 25"/>
          <p:cNvSpPr/>
          <p:nvPr/>
        </p:nvSpPr>
        <p:spPr>
          <a:xfrm>
            <a:off x="7790688" y="2423160"/>
            <a:ext cx="2029968" cy="0"/>
          </a:xfrm>
          <a:prstGeom prst="line">
            <a:avLst/>
          </a:prstGeom>
          <a:noFill/>
          <a:ln w="9525">
            <a:solidFill>
              <a:srgbClr val="001391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744968" y="2459736"/>
            <a:ext cx="0" cy="3575304"/>
          </a:xfrm>
          <a:prstGeom prst="line">
            <a:avLst/>
          </a:prstGeom>
          <a:noFill/>
          <a:ln w="9525">
            <a:solidFill>
              <a:srgbClr val="CAD1D8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866376" y="2203704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OCTUBRE</a:t>
            </a:r>
            <a:endParaRPr lang="en-US" sz="800" dirty="0"/>
          </a:p>
        </p:txBody>
      </p:sp>
      <p:sp>
        <p:nvSpPr>
          <p:cNvPr id="32" name="Shape 28"/>
          <p:cNvSpPr/>
          <p:nvPr/>
        </p:nvSpPr>
        <p:spPr>
          <a:xfrm>
            <a:off x="9912096" y="2423160"/>
            <a:ext cx="1499616" cy="0"/>
          </a:xfrm>
          <a:prstGeom prst="line">
            <a:avLst/>
          </a:prstGeom>
          <a:noFill/>
          <a:ln w="9525">
            <a:solidFill>
              <a:srgbClr val="001391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9866376" y="2459736"/>
            <a:ext cx="0" cy="3575304"/>
          </a:xfrm>
          <a:prstGeom prst="line">
            <a:avLst/>
          </a:prstGeom>
          <a:noFill/>
          <a:ln w="9525">
            <a:solidFill>
              <a:srgbClr val="CAD1D8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2971800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29/06</a:t>
            </a:r>
            <a:endParaRPr lang="en-US" sz="700" dirty="0"/>
          </a:p>
        </p:txBody>
      </p:sp>
      <p:sp>
        <p:nvSpPr>
          <p:cNvPr id="35" name="Text 31"/>
          <p:cNvSpPr txBox="1"/>
          <p:nvPr/>
        </p:nvSpPr>
        <p:spPr>
          <a:xfrm>
            <a:off x="3502152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6/07</a:t>
            </a:r>
            <a:endParaRPr lang="en-US" sz="700" dirty="0"/>
          </a:p>
        </p:txBody>
      </p:sp>
      <p:sp>
        <p:nvSpPr>
          <p:cNvPr id="36" name="Text 32"/>
          <p:cNvSpPr txBox="1"/>
          <p:nvPr/>
        </p:nvSpPr>
        <p:spPr>
          <a:xfrm>
            <a:off x="4032504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13/07</a:t>
            </a:r>
            <a:endParaRPr lang="en-US" sz="700" dirty="0"/>
          </a:p>
        </p:txBody>
      </p:sp>
      <p:sp>
        <p:nvSpPr>
          <p:cNvPr id="37" name="Text 33"/>
          <p:cNvSpPr txBox="1"/>
          <p:nvPr/>
        </p:nvSpPr>
        <p:spPr>
          <a:xfrm>
            <a:off x="4562856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20/07</a:t>
            </a:r>
            <a:endParaRPr lang="en-US" sz="700" dirty="0"/>
          </a:p>
        </p:txBody>
      </p:sp>
      <p:sp>
        <p:nvSpPr>
          <p:cNvPr id="38" name="Text 34"/>
          <p:cNvSpPr txBox="1"/>
          <p:nvPr/>
        </p:nvSpPr>
        <p:spPr>
          <a:xfrm>
            <a:off x="5093208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27/07</a:t>
            </a:r>
            <a:endParaRPr lang="en-US" sz="700" dirty="0"/>
          </a:p>
        </p:txBody>
      </p:sp>
      <p:sp>
        <p:nvSpPr>
          <p:cNvPr id="39" name="Text 35"/>
          <p:cNvSpPr txBox="1"/>
          <p:nvPr/>
        </p:nvSpPr>
        <p:spPr>
          <a:xfrm>
            <a:off x="5623560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3/08</a:t>
            </a:r>
            <a:endParaRPr lang="en-US" sz="700" dirty="0"/>
          </a:p>
        </p:txBody>
      </p:sp>
      <p:sp>
        <p:nvSpPr>
          <p:cNvPr id="40" name="Text 36"/>
          <p:cNvSpPr txBox="1"/>
          <p:nvPr/>
        </p:nvSpPr>
        <p:spPr>
          <a:xfrm>
            <a:off x="6153912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10/08</a:t>
            </a:r>
            <a:endParaRPr lang="en-US" sz="700" dirty="0"/>
          </a:p>
        </p:txBody>
      </p:sp>
      <p:sp>
        <p:nvSpPr>
          <p:cNvPr id="41" name="Text 37"/>
          <p:cNvSpPr txBox="1"/>
          <p:nvPr/>
        </p:nvSpPr>
        <p:spPr>
          <a:xfrm>
            <a:off x="6684264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17/08</a:t>
            </a:r>
            <a:endParaRPr lang="en-US" sz="700" dirty="0"/>
          </a:p>
        </p:txBody>
      </p:sp>
      <p:sp>
        <p:nvSpPr>
          <p:cNvPr id="42" name="Text 38"/>
          <p:cNvSpPr txBox="1"/>
          <p:nvPr/>
        </p:nvSpPr>
        <p:spPr>
          <a:xfrm>
            <a:off x="7214616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24/08</a:t>
            </a:r>
            <a:endParaRPr lang="en-US" sz="700" dirty="0"/>
          </a:p>
        </p:txBody>
      </p:sp>
      <p:sp>
        <p:nvSpPr>
          <p:cNvPr id="43" name="Text 39"/>
          <p:cNvSpPr txBox="1"/>
          <p:nvPr/>
        </p:nvSpPr>
        <p:spPr>
          <a:xfrm>
            <a:off x="7744968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31/08</a:t>
            </a:r>
            <a:endParaRPr lang="en-US" sz="700" dirty="0"/>
          </a:p>
        </p:txBody>
      </p:sp>
      <p:sp>
        <p:nvSpPr>
          <p:cNvPr id="44" name="Text 40"/>
          <p:cNvSpPr txBox="1"/>
          <p:nvPr/>
        </p:nvSpPr>
        <p:spPr>
          <a:xfrm>
            <a:off x="8275320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7/09</a:t>
            </a:r>
            <a:endParaRPr lang="en-US" sz="700" dirty="0"/>
          </a:p>
        </p:txBody>
      </p:sp>
      <p:sp>
        <p:nvSpPr>
          <p:cNvPr id="45" name="Text 41"/>
          <p:cNvSpPr txBox="1"/>
          <p:nvPr/>
        </p:nvSpPr>
        <p:spPr>
          <a:xfrm>
            <a:off x="8805672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14/09</a:t>
            </a:r>
            <a:endParaRPr lang="en-US" sz="700" dirty="0"/>
          </a:p>
        </p:txBody>
      </p:sp>
      <p:sp>
        <p:nvSpPr>
          <p:cNvPr id="46" name="Text 42"/>
          <p:cNvSpPr txBox="1"/>
          <p:nvPr/>
        </p:nvSpPr>
        <p:spPr>
          <a:xfrm>
            <a:off x="9336024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21/09</a:t>
            </a:r>
            <a:endParaRPr lang="en-US" sz="700" dirty="0"/>
          </a:p>
        </p:txBody>
      </p:sp>
      <p:sp>
        <p:nvSpPr>
          <p:cNvPr id="47" name="Text 43"/>
          <p:cNvSpPr txBox="1"/>
          <p:nvPr/>
        </p:nvSpPr>
        <p:spPr>
          <a:xfrm>
            <a:off x="9866376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28/09</a:t>
            </a:r>
            <a:endParaRPr lang="en-US" sz="700" dirty="0"/>
          </a:p>
        </p:txBody>
      </p:sp>
      <p:sp>
        <p:nvSpPr>
          <p:cNvPr id="48" name="Text 44"/>
          <p:cNvSpPr txBox="1"/>
          <p:nvPr/>
        </p:nvSpPr>
        <p:spPr>
          <a:xfrm>
            <a:off x="10396728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5/10</a:t>
            </a:r>
            <a:endParaRPr lang="en-US" sz="700" dirty="0"/>
          </a:p>
        </p:txBody>
      </p:sp>
      <p:sp>
        <p:nvSpPr>
          <p:cNvPr id="49" name="Text 45"/>
          <p:cNvSpPr txBox="1"/>
          <p:nvPr/>
        </p:nvSpPr>
        <p:spPr>
          <a:xfrm>
            <a:off x="10927080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12/10</a:t>
            </a:r>
            <a:endParaRPr lang="en-US" sz="700" dirty="0"/>
          </a:p>
        </p:txBody>
      </p:sp>
      <p:sp>
        <p:nvSpPr>
          <p:cNvPr id="50" name="Text 46"/>
          <p:cNvSpPr txBox="1"/>
          <p:nvPr/>
        </p:nvSpPr>
        <p:spPr>
          <a:xfrm>
            <a:off x="722376" y="2724912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LUCÍA GARRIDO</a:t>
            </a:r>
            <a:endParaRPr lang="en-US" sz="700" dirty="0"/>
          </a:p>
        </p:txBody>
      </p:sp>
      <p:sp>
        <p:nvSpPr>
          <p:cNvPr id="51" name="Text 47"/>
          <p:cNvSpPr txBox="1"/>
          <p:nvPr/>
        </p:nvSpPr>
        <p:spPr>
          <a:xfrm>
            <a:off x="722376" y="2864886"/>
            <a:ext cx="2194560" cy="180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Migración MIDAS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2971800" y="2881872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53" name="Shape 49"/>
          <p:cNvSpPr/>
          <p:nvPr/>
        </p:nvSpPr>
        <p:spPr>
          <a:xfrm>
            <a:off x="2980944" y="2881872"/>
            <a:ext cx="2481943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54" name="Shape 50"/>
          <p:cNvSpPr/>
          <p:nvPr/>
        </p:nvSpPr>
        <p:spPr>
          <a:xfrm>
            <a:off x="5481175" y="2881872"/>
            <a:ext cx="209006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55" name="Shape 51"/>
          <p:cNvSpPr/>
          <p:nvPr/>
        </p:nvSpPr>
        <p:spPr>
          <a:xfrm>
            <a:off x="5708469" y="2881872"/>
            <a:ext cx="1875826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56" name="Shape 52"/>
          <p:cNvSpPr/>
          <p:nvPr/>
        </p:nvSpPr>
        <p:spPr>
          <a:xfrm>
            <a:off x="7602583" y="2881872"/>
            <a:ext cx="57477" cy="146304"/>
          </a:xfrm>
          <a:prstGeom prst="roundRect">
            <a:avLst>
              <a:gd name="adj" fmla="val 95454"/>
            </a:avLst>
          </a:prstGeom>
          <a:solidFill>
            <a:srgbClr val="FFE761"/>
          </a:solidFill>
          <a:ln/>
        </p:spPr>
      </p:sp>
      <p:sp>
        <p:nvSpPr>
          <p:cNvPr id="57" name="Shape 53"/>
          <p:cNvSpPr/>
          <p:nvPr/>
        </p:nvSpPr>
        <p:spPr>
          <a:xfrm>
            <a:off x="2980944" y="2881872"/>
            <a:ext cx="7103582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58" name="Shape 54"/>
          <p:cNvSpPr/>
          <p:nvPr/>
        </p:nvSpPr>
        <p:spPr>
          <a:xfrm>
            <a:off x="10102814" y="2881872"/>
            <a:ext cx="1345474" cy="146304"/>
          </a:xfrm>
          <a:prstGeom prst="roundRect">
            <a:avLst>
              <a:gd name="adj" fmla="val 37500"/>
            </a:avLst>
          </a:prstGeom>
          <a:solidFill>
            <a:srgbClr val="CAD1D8"/>
          </a:solidFill>
          <a:ln/>
        </p:spPr>
      </p:sp>
      <p:sp>
        <p:nvSpPr>
          <p:cNvPr id="59" name="Text 55"/>
          <p:cNvSpPr txBox="1"/>
          <p:nvPr/>
        </p:nvSpPr>
        <p:spPr>
          <a:xfrm>
            <a:off x="722376" y="3090883"/>
            <a:ext cx="2194560" cy="180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Cargador Thirdparties</a:t>
            </a:r>
            <a:endParaRPr lang="en-US" sz="900" dirty="0"/>
          </a:p>
        </p:txBody>
      </p:sp>
      <p:sp>
        <p:nvSpPr>
          <p:cNvPr id="60" name="Shape 56"/>
          <p:cNvSpPr/>
          <p:nvPr/>
        </p:nvSpPr>
        <p:spPr>
          <a:xfrm>
            <a:off x="2971800" y="3107870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61" name="Shape 57"/>
          <p:cNvSpPr/>
          <p:nvPr/>
        </p:nvSpPr>
        <p:spPr>
          <a:xfrm>
            <a:off x="2980944" y="3107870"/>
            <a:ext cx="284770" cy="146304"/>
          </a:xfrm>
          <a:prstGeom prst="roundRect">
            <a:avLst>
              <a:gd name="adj" fmla="val 37500"/>
            </a:avLst>
          </a:prstGeom>
          <a:solidFill>
            <a:srgbClr val="85C8FF"/>
          </a:solidFill>
          <a:ln/>
        </p:spPr>
      </p:sp>
      <p:sp>
        <p:nvSpPr>
          <p:cNvPr id="62" name="Shape 58"/>
          <p:cNvSpPr/>
          <p:nvPr/>
        </p:nvSpPr>
        <p:spPr>
          <a:xfrm>
            <a:off x="3284002" y="3107870"/>
            <a:ext cx="2709237" cy="146304"/>
          </a:xfrm>
          <a:prstGeom prst="roundRect">
            <a:avLst>
              <a:gd name="adj" fmla="val 37500"/>
            </a:avLst>
          </a:prstGeom>
          <a:solidFill>
            <a:srgbClr val="9694FF"/>
          </a:solidFill>
          <a:ln/>
        </p:spPr>
      </p:sp>
      <p:sp>
        <p:nvSpPr>
          <p:cNvPr id="63" name="Shape 59"/>
          <p:cNvSpPr/>
          <p:nvPr/>
        </p:nvSpPr>
        <p:spPr>
          <a:xfrm>
            <a:off x="6011527" y="3107870"/>
            <a:ext cx="512064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64" name="Shape 60"/>
          <p:cNvSpPr/>
          <p:nvPr/>
        </p:nvSpPr>
        <p:spPr>
          <a:xfrm>
            <a:off x="6541879" y="3107870"/>
            <a:ext cx="436299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65" name="Shape 61"/>
          <p:cNvSpPr/>
          <p:nvPr/>
        </p:nvSpPr>
        <p:spPr>
          <a:xfrm>
            <a:off x="6996466" y="3107870"/>
            <a:ext cx="4451822" cy="146304"/>
          </a:xfrm>
          <a:prstGeom prst="roundRect">
            <a:avLst>
              <a:gd name="adj" fmla="val 37500"/>
            </a:avLst>
          </a:prstGeom>
          <a:solidFill>
            <a:srgbClr val="CAD1D8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722376" y="3316880"/>
            <a:ext cx="2194560" cy="180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Agreements CLS</a:t>
            </a:r>
            <a:endParaRPr lang="en-US" sz="900" dirty="0"/>
          </a:p>
        </p:txBody>
      </p:sp>
      <p:sp>
        <p:nvSpPr>
          <p:cNvPr id="67" name="Shape 63"/>
          <p:cNvSpPr/>
          <p:nvPr/>
        </p:nvSpPr>
        <p:spPr>
          <a:xfrm>
            <a:off x="2971800" y="3333867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68" name="Shape 64"/>
          <p:cNvSpPr/>
          <p:nvPr/>
        </p:nvSpPr>
        <p:spPr>
          <a:xfrm>
            <a:off x="2980944" y="3333867"/>
            <a:ext cx="133241" cy="146304"/>
          </a:xfrm>
          <a:prstGeom prst="roundRect">
            <a:avLst>
              <a:gd name="adj" fmla="val 41177"/>
            </a:avLst>
          </a:prstGeom>
          <a:solidFill>
            <a:srgbClr val="85C8FF"/>
          </a:solidFill>
          <a:ln/>
        </p:spPr>
      </p:sp>
      <p:sp>
        <p:nvSpPr>
          <p:cNvPr id="69" name="Shape 65"/>
          <p:cNvSpPr/>
          <p:nvPr/>
        </p:nvSpPr>
        <p:spPr>
          <a:xfrm>
            <a:off x="2980944" y="3333867"/>
            <a:ext cx="663593" cy="146304"/>
          </a:xfrm>
          <a:prstGeom prst="roundRect">
            <a:avLst>
              <a:gd name="adj" fmla="val 37500"/>
            </a:avLst>
          </a:prstGeom>
          <a:solidFill>
            <a:srgbClr val="9694FF"/>
          </a:solidFill>
          <a:ln/>
        </p:spPr>
      </p:sp>
      <p:sp>
        <p:nvSpPr>
          <p:cNvPr id="70" name="Shape 66"/>
          <p:cNvSpPr/>
          <p:nvPr/>
        </p:nvSpPr>
        <p:spPr>
          <a:xfrm>
            <a:off x="3662825" y="3333867"/>
            <a:ext cx="2027355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71" name="Shape 67"/>
          <p:cNvSpPr/>
          <p:nvPr/>
        </p:nvSpPr>
        <p:spPr>
          <a:xfrm>
            <a:off x="5708469" y="3333867"/>
            <a:ext cx="815122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72" name="Shape 68"/>
          <p:cNvSpPr/>
          <p:nvPr/>
        </p:nvSpPr>
        <p:spPr>
          <a:xfrm>
            <a:off x="8814816" y="3333867"/>
            <a:ext cx="966651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73" name="Text 69"/>
          <p:cNvSpPr txBox="1"/>
          <p:nvPr/>
        </p:nvSpPr>
        <p:spPr>
          <a:xfrm>
            <a:off x="722376" y="3542878"/>
            <a:ext cx="2194560" cy="180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Security Lending</a:t>
            </a:r>
            <a:endParaRPr lang="en-US" sz="900" dirty="0"/>
          </a:p>
        </p:txBody>
      </p:sp>
      <p:sp>
        <p:nvSpPr>
          <p:cNvPr id="74" name="Shape 70"/>
          <p:cNvSpPr/>
          <p:nvPr/>
        </p:nvSpPr>
        <p:spPr>
          <a:xfrm>
            <a:off x="2971800" y="3559865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75" name="Shape 71"/>
          <p:cNvSpPr/>
          <p:nvPr/>
        </p:nvSpPr>
        <p:spPr>
          <a:xfrm>
            <a:off x="4572000" y="3559865"/>
            <a:ext cx="1421239" cy="146304"/>
          </a:xfrm>
          <a:prstGeom prst="roundRect">
            <a:avLst>
              <a:gd name="adj" fmla="val 37500"/>
            </a:avLst>
          </a:prstGeom>
          <a:solidFill>
            <a:srgbClr val="85C8FF"/>
          </a:solidFill>
          <a:ln/>
        </p:spPr>
      </p:sp>
      <p:sp>
        <p:nvSpPr>
          <p:cNvPr id="76" name="Shape 72"/>
          <p:cNvSpPr/>
          <p:nvPr/>
        </p:nvSpPr>
        <p:spPr>
          <a:xfrm>
            <a:off x="6011527" y="3559865"/>
            <a:ext cx="1800062" cy="146304"/>
          </a:xfrm>
          <a:prstGeom prst="roundRect">
            <a:avLst>
              <a:gd name="adj" fmla="val 37500"/>
            </a:avLst>
          </a:prstGeom>
          <a:solidFill>
            <a:srgbClr val="9694FF"/>
          </a:solidFill>
          <a:ln/>
        </p:spPr>
      </p:sp>
      <p:sp>
        <p:nvSpPr>
          <p:cNvPr id="77" name="Shape 73"/>
          <p:cNvSpPr/>
          <p:nvPr/>
        </p:nvSpPr>
        <p:spPr>
          <a:xfrm>
            <a:off x="7829877" y="3559865"/>
            <a:ext cx="2330414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78" name="Shape 74"/>
          <p:cNvSpPr/>
          <p:nvPr/>
        </p:nvSpPr>
        <p:spPr>
          <a:xfrm>
            <a:off x="10178578" y="3559865"/>
            <a:ext cx="1193945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79" name="Shape 75"/>
          <p:cNvSpPr/>
          <p:nvPr/>
        </p:nvSpPr>
        <p:spPr>
          <a:xfrm>
            <a:off x="658368" y="3741443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722376" y="3796307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ALEJANDRO GARCÍA</a:t>
            </a:r>
            <a:endParaRPr lang="en-US" sz="700" dirty="0"/>
          </a:p>
        </p:txBody>
      </p:sp>
      <p:sp>
        <p:nvSpPr>
          <p:cNvPr id="81" name="Text 77"/>
          <p:cNvSpPr txBox="1"/>
          <p:nvPr/>
        </p:nvSpPr>
        <p:spPr>
          <a:xfrm>
            <a:off x="722376" y="3936281"/>
            <a:ext cx="2194560" cy="180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BSI 2.0</a:t>
            </a:r>
            <a:endParaRPr lang="en-US" sz="900" dirty="0"/>
          </a:p>
        </p:txBody>
      </p:sp>
      <p:sp>
        <p:nvSpPr>
          <p:cNvPr id="82" name="Shape 78"/>
          <p:cNvSpPr/>
          <p:nvPr/>
        </p:nvSpPr>
        <p:spPr>
          <a:xfrm>
            <a:off x="2971800" y="3953268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83" name="Shape 79"/>
          <p:cNvSpPr/>
          <p:nvPr/>
        </p:nvSpPr>
        <p:spPr>
          <a:xfrm>
            <a:off x="2980944" y="3953268"/>
            <a:ext cx="7103582" cy="146304"/>
          </a:xfrm>
          <a:prstGeom prst="roundRect">
            <a:avLst>
              <a:gd name="adj" fmla="val 37500"/>
            </a:avLst>
          </a:prstGeom>
          <a:solidFill>
            <a:srgbClr val="85C8FF"/>
          </a:solidFill>
          <a:ln/>
        </p:spPr>
      </p:sp>
      <p:sp>
        <p:nvSpPr>
          <p:cNvPr id="84" name="Shape 80"/>
          <p:cNvSpPr/>
          <p:nvPr/>
        </p:nvSpPr>
        <p:spPr>
          <a:xfrm>
            <a:off x="10936224" y="3953268"/>
            <a:ext cx="436299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85" name="Text 81"/>
          <p:cNvSpPr txBox="1"/>
          <p:nvPr/>
        </p:nvSpPr>
        <p:spPr>
          <a:xfrm>
            <a:off x="722376" y="4162278"/>
            <a:ext cx="2194560" cy="180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Automatización Emisiones RV</a:t>
            </a:r>
            <a:endParaRPr lang="en-US" sz="900" dirty="0"/>
          </a:p>
        </p:txBody>
      </p:sp>
      <p:sp>
        <p:nvSpPr>
          <p:cNvPr id="86" name="Shape 82"/>
          <p:cNvSpPr/>
          <p:nvPr/>
        </p:nvSpPr>
        <p:spPr>
          <a:xfrm>
            <a:off x="2971800" y="4179265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87" name="Shape 83"/>
          <p:cNvSpPr/>
          <p:nvPr/>
        </p:nvSpPr>
        <p:spPr>
          <a:xfrm>
            <a:off x="2980944" y="4179265"/>
            <a:ext cx="890887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88" name="Shape 84"/>
          <p:cNvSpPr/>
          <p:nvPr/>
        </p:nvSpPr>
        <p:spPr>
          <a:xfrm>
            <a:off x="3890119" y="4179265"/>
            <a:ext cx="360535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89" name="Shape 85"/>
          <p:cNvSpPr/>
          <p:nvPr/>
        </p:nvSpPr>
        <p:spPr>
          <a:xfrm>
            <a:off x="4268942" y="4179265"/>
            <a:ext cx="739358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90" name="Shape 86"/>
          <p:cNvSpPr/>
          <p:nvPr/>
        </p:nvSpPr>
        <p:spPr>
          <a:xfrm>
            <a:off x="5026587" y="4179265"/>
            <a:ext cx="5057938" cy="146304"/>
          </a:xfrm>
          <a:prstGeom prst="roundRect">
            <a:avLst>
              <a:gd name="adj" fmla="val 37500"/>
            </a:avLst>
          </a:prstGeom>
          <a:solidFill>
            <a:srgbClr val="8BE1E9"/>
          </a:solidFill>
          <a:ln/>
        </p:spPr>
      </p:sp>
      <p:sp>
        <p:nvSpPr>
          <p:cNvPr id="91" name="Shape 87"/>
          <p:cNvSpPr/>
          <p:nvPr/>
        </p:nvSpPr>
        <p:spPr>
          <a:xfrm>
            <a:off x="658368" y="4360844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722376" y="4415708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ALEJANDRO ROMERO</a:t>
            </a:r>
            <a:endParaRPr lang="en-US" sz="700" dirty="0"/>
          </a:p>
        </p:txBody>
      </p:sp>
      <p:sp>
        <p:nvSpPr>
          <p:cNvPr id="93" name="Text 89"/>
          <p:cNvSpPr txBox="1"/>
          <p:nvPr/>
        </p:nvSpPr>
        <p:spPr>
          <a:xfrm>
            <a:off x="722376" y="4555681"/>
            <a:ext cx="2194560" cy="180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OTC V</a:t>
            </a:r>
            <a:endParaRPr lang="en-US" sz="900" dirty="0"/>
          </a:p>
        </p:txBody>
      </p:sp>
      <p:sp>
        <p:nvSpPr>
          <p:cNvPr id="94" name="Shape 90"/>
          <p:cNvSpPr/>
          <p:nvPr/>
        </p:nvSpPr>
        <p:spPr>
          <a:xfrm>
            <a:off x="2971800" y="4572668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95" name="Shape 91"/>
          <p:cNvSpPr/>
          <p:nvPr/>
        </p:nvSpPr>
        <p:spPr>
          <a:xfrm>
            <a:off x="2980944" y="4572668"/>
            <a:ext cx="133241" cy="146304"/>
          </a:xfrm>
          <a:prstGeom prst="roundRect">
            <a:avLst>
              <a:gd name="adj" fmla="val 41177"/>
            </a:avLst>
          </a:prstGeom>
          <a:solidFill>
            <a:srgbClr val="85C8FF"/>
          </a:solidFill>
          <a:ln/>
        </p:spPr>
      </p:sp>
      <p:sp>
        <p:nvSpPr>
          <p:cNvPr id="96" name="Shape 92"/>
          <p:cNvSpPr/>
          <p:nvPr/>
        </p:nvSpPr>
        <p:spPr>
          <a:xfrm>
            <a:off x="2980944" y="4572668"/>
            <a:ext cx="890887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97" name="Shape 93"/>
          <p:cNvSpPr/>
          <p:nvPr/>
        </p:nvSpPr>
        <p:spPr>
          <a:xfrm>
            <a:off x="3890119" y="4572668"/>
            <a:ext cx="209006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98" name="Shape 94"/>
          <p:cNvSpPr/>
          <p:nvPr/>
        </p:nvSpPr>
        <p:spPr>
          <a:xfrm>
            <a:off x="8587522" y="4572668"/>
            <a:ext cx="133241" cy="146304"/>
          </a:xfrm>
          <a:prstGeom prst="roundRect">
            <a:avLst>
              <a:gd name="adj" fmla="val 41177"/>
            </a:avLst>
          </a:prstGeom>
          <a:solidFill>
            <a:srgbClr val="FFE761"/>
          </a:solidFill>
          <a:ln/>
        </p:spPr>
      </p:sp>
      <p:sp>
        <p:nvSpPr>
          <p:cNvPr id="99" name="Shape 95"/>
          <p:cNvSpPr/>
          <p:nvPr/>
        </p:nvSpPr>
        <p:spPr>
          <a:xfrm>
            <a:off x="8739051" y="4572668"/>
            <a:ext cx="1345474" cy="146304"/>
          </a:xfrm>
          <a:prstGeom prst="roundRect">
            <a:avLst>
              <a:gd name="adj" fmla="val 37500"/>
            </a:avLst>
          </a:prstGeom>
          <a:solidFill>
            <a:srgbClr val="8BE1E9"/>
          </a:solidFill>
          <a:ln/>
        </p:spPr>
      </p:sp>
      <p:sp>
        <p:nvSpPr>
          <p:cNvPr id="100" name="Shape 96"/>
          <p:cNvSpPr/>
          <p:nvPr/>
        </p:nvSpPr>
        <p:spPr>
          <a:xfrm>
            <a:off x="658368" y="4754247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101" name="Text 97"/>
          <p:cNvSpPr txBox="1"/>
          <p:nvPr/>
        </p:nvSpPr>
        <p:spPr>
          <a:xfrm>
            <a:off x="722376" y="4809111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 RODRÍGUEZ</a:t>
            </a:r>
            <a:endParaRPr lang="en-US" sz="700" dirty="0"/>
          </a:p>
        </p:txBody>
      </p:sp>
      <p:sp>
        <p:nvSpPr>
          <p:cNvPr id="102" name="Text 98"/>
          <p:cNvSpPr txBox="1"/>
          <p:nvPr/>
        </p:nvSpPr>
        <p:spPr>
          <a:xfrm>
            <a:off x="722376" y="4949084"/>
            <a:ext cx="2194560" cy="180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Eventos Corporativos</a:t>
            </a:r>
            <a:endParaRPr lang="en-US" sz="900" dirty="0"/>
          </a:p>
        </p:txBody>
      </p:sp>
      <p:sp>
        <p:nvSpPr>
          <p:cNvPr id="103" name="Shape 99"/>
          <p:cNvSpPr/>
          <p:nvPr/>
        </p:nvSpPr>
        <p:spPr>
          <a:xfrm>
            <a:off x="2971800" y="4966071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104" name="Shape 100"/>
          <p:cNvSpPr/>
          <p:nvPr/>
        </p:nvSpPr>
        <p:spPr>
          <a:xfrm>
            <a:off x="2980944" y="4966071"/>
            <a:ext cx="133241" cy="146304"/>
          </a:xfrm>
          <a:prstGeom prst="roundRect">
            <a:avLst>
              <a:gd name="adj" fmla="val 41177"/>
            </a:avLst>
          </a:prstGeom>
          <a:solidFill>
            <a:srgbClr val="85C8FF"/>
          </a:solidFill>
          <a:ln/>
        </p:spPr>
      </p:sp>
      <p:sp>
        <p:nvSpPr>
          <p:cNvPr id="105" name="Shape 101"/>
          <p:cNvSpPr/>
          <p:nvPr/>
        </p:nvSpPr>
        <p:spPr>
          <a:xfrm>
            <a:off x="2980944" y="4966071"/>
            <a:ext cx="4830645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106" name="Shape 102"/>
          <p:cNvSpPr/>
          <p:nvPr/>
        </p:nvSpPr>
        <p:spPr>
          <a:xfrm>
            <a:off x="9875520" y="4966071"/>
            <a:ext cx="436299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107" name="Shape 103"/>
          <p:cNvSpPr/>
          <p:nvPr/>
        </p:nvSpPr>
        <p:spPr>
          <a:xfrm>
            <a:off x="658368" y="514765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108" name="Text 104"/>
          <p:cNvSpPr txBox="1"/>
          <p:nvPr/>
        </p:nvSpPr>
        <p:spPr>
          <a:xfrm>
            <a:off x="722376" y="5202514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JUAN MANUEL FERNÁNDEZ TUDERO</a:t>
            </a:r>
            <a:endParaRPr lang="en-US" sz="700" dirty="0"/>
          </a:p>
        </p:txBody>
      </p:sp>
      <p:sp>
        <p:nvSpPr>
          <p:cNvPr id="109" name="Text 105"/>
          <p:cNvSpPr txBox="1"/>
          <p:nvPr/>
        </p:nvSpPr>
        <p:spPr>
          <a:xfrm>
            <a:off x="722376" y="5342488"/>
            <a:ext cx="2194560" cy="180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Testing / IA - RDR</a:t>
            </a:r>
            <a:endParaRPr lang="en-US" sz="900" dirty="0"/>
          </a:p>
        </p:txBody>
      </p:sp>
      <p:sp>
        <p:nvSpPr>
          <p:cNvPr id="110" name="Shape 106"/>
          <p:cNvSpPr/>
          <p:nvPr/>
        </p:nvSpPr>
        <p:spPr>
          <a:xfrm>
            <a:off x="2971800" y="5359474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111" name="Shape 107"/>
          <p:cNvSpPr/>
          <p:nvPr/>
        </p:nvSpPr>
        <p:spPr>
          <a:xfrm>
            <a:off x="5632704" y="5359474"/>
            <a:ext cx="4451822" cy="146304"/>
          </a:xfrm>
          <a:prstGeom prst="roundRect">
            <a:avLst>
              <a:gd name="adj" fmla="val 37500"/>
            </a:avLst>
          </a:prstGeom>
          <a:solidFill>
            <a:srgbClr val="85C8FF"/>
          </a:solidFill>
          <a:ln/>
        </p:spPr>
      </p:sp>
      <p:sp>
        <p:nvSpPr>
          <p:cNvPr id="112" name="Shape 108"/>
          <p:cNvSpPr/>
          <p:nvPr/>
        </p:nvSpPr>
        <p:spPr>
          <a:xfrm>
            <a:off x="658368" y="5541053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113" name="Text 109"/>
          <p:cNvSpPr txBox="1"/>
          <p:nvPr/>
        </p:nvSpPr>
        <p:spPr>
          <a:xfrm>
            <a:off x="722376" y="5595917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JOSÉ MARÍA PARRA</a:t>
            </a:r>
            <a:endParaRPr lang="en-US" sz="700" dirty="0"/>
          </a:p>
        </p:txBody>
      </p:sp>
      <p:sp>
        <p:nvSpPr>
          <p:cNvPr id="114" name="Text 110"/>
          <p:cNvSpPr txBox="1"/>
          <p:nvPr/>
        </p:nvSpPr>
        <p:spPr>
          <a:xfrm>
            <a:off x="722376" y="5735891"/>
            <a:ext cx="2194560" cy="180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Vulnerabilidades</a:t>
            </a:r>
            <a:endParaRPr lang="en-US" sz="900" dirty="0"/>
          </a:p>
        </p:txBody>
      </p:sp>
      <p:sp>
        <p:nvSpPr>
          <p:cNvPr id="115" name="Shape 111"/>
          <p:cNvSpPr/>
          <p:nvPr/>
        </p:nvSpPr>
        <p:spPr>
          <a:xfrm>
            <a:off x="2971800" y="5752877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116" name="Shape 112"/>
          <p:cNvSpPr/>
          <p:nvPr/>
        </p:nvSpPr>
        <p:spPr>
          <a:xfrm>
            <a:off x="2980944" y="5752877"/>
            <a:ext cx="2178885" cy="146304"/>
          </a:xfrm>
          <a:prstGeom prst="roundRect">
            <a:avLst>
              <a:gd name="adj" fmla="val 37500"/>
            </a:avLst>
          </a:prstGeom>
          <a:solidFill>
            <a:srgbClr val="85C8FF"/>
          </a:solidFill>
          <a:ln/>
        </p:spPr>
      </p:sp>
      <p:sp>
        <p:nvSpPr>
          <p:cNvPr id="117" name="Shape 113"/>
          <p:cNvSpPr/>
          <p:nvPr/>
        </p:nvSpPr>
        <p:spPr>
          <a:xfrm>
            <a:off x="5178117" y="5752877"/>
            <a:ext cx="1572768" cy="146304"/>
          </a:xfrm>
          <a:prstGeom prst="roundRect">
            <a:avLst>
              <a:gd name="adj" fmla="val 37500"/>
            </a:avLst>
          </a:prstGeom>
          <a:solidFill>
            <a:srgbClr val="9694FF"/>
          </a:solidFill>
          <a:ln/>
        </p:spPr>
      </p:sp>
      <p:sp>
        <p:nvSpPr>
          <p:cNvPr id="118" name="Shape 114"/>
          <p:cNvSpPr/>
          <p:nvPr/>
        </p:nvSpPr>
        <p:spPr>
          <a:xfrm>
            <a:off x="6769173" y="5752877"/>
            <a:ext cx="512064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119" name="Shape 115"/>
          <p:cNvSpPr/>
          <p:nvPr/>
        </p:nvSpPr>
        <p:spPr>
          <a:xfrm>
            <a:off x="7299525" y="5752877"/>
            <a:ext cx="1042416" cy="146304"/>
          </a:xfrm>
          <a:prstGeom prst="roundRect">
            <a:avLst>
              <a:gd name="adj" fmla="val 37500"/>
            </a:avLst>
          </a:prstGeom>
          <a:solidFill>
            <a:srgbClr val="9694FF"/>
          </a:solidFill>
          <a:ln/>
        </p:spPr>
      </p:sp>
      <p:sp>
        <p:nvSpPr>
          <p:cNvPr id="120" name="Shape 116"/>
          <p:cNvSpPr/>
          <p:nvPr/>
        </p:nvSpPr>
        <p:spPr>
          <a:xfrm>
            <a:off x="8360229" y="5752877"/>
            <a:ext cx="512064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121" name="Shape 117"/>
          <p:cNvSpPr/>
          <p:nvPr/>
        </p:nvSpPr>
        <p:spPr>
          <a:xfrm>
            <a:off x="8890581" y="5752877"/>
            <a:ext cx="890887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122" name="Shape 118"/>
          <p:cNvSpPr/>
          <p:nvPr/>
        </p:nvSpPr>
        <p:spPr>
          <a:xfrm>
            <a:off x="9799755" y="5752877"/>
            <a:ext cx="512064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123" name="Shape 119"/>
          <p:cNvSpPr/>
          <p:nvPr/>
        </p:nvSpPr>
        <p:spPr>
          <a:xfrm>
            <a:off x="10330107" y="5752877"/>
            <a:ext cx="1118181" cy="146304"/>
          </a:xfrm>
          <a:prstGeom prst="roundRect">
            <a:avLst>
              <a:gd name="adj" fmla="val 37500"/>
            </a:avLst>
          </a:prstGeom>
          <a:solidFill>
            <a:srgbClr val="9694FF"/>
          </a:solidFill>
          <a:ln/>
        </p:spPr>
      </p:sp>
      <p:sp>
        <p:nvSpPr>
          <p:cNvPr id="124" name="Shape 120"/>
          <p:cNvSpPr/>
          <p:nvPr/>
        </p:nvSpPr>
        <p:spPr>
          <a:xfrm>
            <a:off x="9866376" y="2642616"/>
            <a:ext cx="0" cy="3392424"/>
          </a:xfrm>
          <a:prstGeom prst="line">
            <a:avLst/>
          </a:prstGeom>
          <a:noFill/>
          <a:ln w="15875">
            <a:solidFill>
              <a:srgbClr val="001391"/>
            </a:solidFill>
            <a:prstDash val="dash"/>
          </a:ln>
        </p:spPr>
      </p:sp>
      <p:sp>
        <p:nvSpPr>
          <p:cNvPr id="125" name="Shape 121"/>
          <p:cNvSpPr/>
          <p:nvPr/>
        </p:nvSpPr>
        <p:spPr>
          <a:xfrm>
            <a:off x="9427464" y="6062472"/>
            <a:ext cx="877824" cy="164592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126" name="Text 122"/>
          <p:cNvSpPr txBox="1"/>
          <p:nvPr/>
        </p:nvSpPr>
        <p:spPr>
          <a:xfrm>
            <a:off x="9427464" y="6062472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SEMANA ACTUAL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3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10896"/>
            <a:ext cx="1234440" cy="3749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2651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BLOQUE 02 · DETALLE POR RESPONSABLE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2990088"/>
            <a:ext cx="105156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7F8F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Seguimiento</a:t>
            </a:r>
            <a:endParaRPr lang="en-US" sz="44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7F8F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 proyectos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4714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D9DDEC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 proyectos y 54 tareas con fecha límite, avance y estado. 34 tareas están al 100 % y 3 en riesgo.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</a:t>
            </a:r>
            <a:endParaRPr lang="en-US" sz="8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05 / 21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LUCÍA GARRIDO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Lucía Garrido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06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SDATOOL-51125 · 2025-51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Decomisado MIDAS · Migración Operaciones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 tareas · 4 al 100 % · Asignación: Marta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722376" y="268833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pruebas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Q3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3931920" y="245059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pruebas UAT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pruebas DataX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95 %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7" name="Shape 23"/>
          <p:cNvSpPr/>
          <p:nvPr/>
        </p:nvSpPr>
        <p:spPr>
          <a:xfrm>
            <a:off x="9436608" y="2500884"/>
            <a:ext cx="729691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8" name="Shape 24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58368" y="288036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22376" y="292608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22376" y="292608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33" name="Text 29"/>
          <p:cNvSpPr txBox="1"/>
          <p:nvPr/>
        </p:nvSpPr>
        <p:spPr>
          <a:xfrm>
            <a:off x="722376" y="319125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pre simulacro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2898648" y="292608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31 Jul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3931920" y="295351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 y publicación DDFF Simulacro Técnico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7872984" y="292608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37" name="Text 33"/>
          <p:cNvSpPr txBox="1"/>
          <p:nvPr/>
        </p:nvSpPr>
        <p:spPr>
          <a:xfrm>
            <a:off x="8997696" y="292608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9436608" y="30038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9" name="Shape 35"/>
          <p:cNvSpPr/>
          <p:nvPr/>
        </p:nvSpPr>
        <p:spPr>
          <a:xfrm>
            <a:off x="9436608" y="30038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40" name="Shape 36"/>
          <p:cNvSpPr/>
          <p:nvPr/>
        </p:nvSpPr>
        <p:spPr>
          <a:xfrm>
            <a:off x="10351008" y="298094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10515600" y="292608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2" name="Shape 38"/>
          <p:cNvSpPr/>
          <p:nvPr/>
        </p:nvSpPr>
        <p:spPr>
          <a:xfrm>
            <a:off x="658368" y="338328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22376" y="342900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722376" y="342900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5" name="Text 41"/>
          <p:cNvSpPr txBox="1"/>
          <p:nvPr/>
        </p:nvSpPr>
        <p:spPr>
          <a:xfrm>
            <a:off x="722376" y="369417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Simulacro técnico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2898648" y="342900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 Ago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3931920" y="345643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a simulacro</a:t>
            </a:r>
            <a:endParaRPr lang="en-US" sz="850" dirty="0"/>
          </a:p>
        </p:txBody>
      </p:sp>
      <p:sp>
        <p:nvSpPr>
          <p:cNvPr id="48" name="Text 44"/>
          <p:cNvSpPr txBox="1"/>
          <p:nvPr/>
        </p:nvSpPr>
        <p:spPr>
          <a:xfrm>
            <a:off x="7872984" y="342900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49" name="Text 45"/>
          <p:cNvSpPr txBox="1"/>
          <p:nvPr/>
        </p:nvSpPr>
        <p:spPr>
          <a:xfrm>
            <a:off x="8997696" y="342900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50" name="Shape 46"/>
          <p:cNvSpPr/>
          <p:nvPr/>
        </p:nvSpPr>
        <p:spPr>
          <a:xfrm>
            <a:off x="9436608" y="35067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51" name="Shape 47"/>
          <p:cNvSpPr/>
          <p:nvPr/>
        </p:nvSpPr>
        <p:spPr>
          <a:xfrm>
            <a:off x="9436608" y="35067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2" name="Shape 48"/>
          <p:cNvSpPr/>
          <p:nvPr/>
        </p:nvSpPr>
        <p:spPr>
          <a:xfrm>
            <a:off x="10351008" y="348386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10515600" y="342900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4" name="Shape 50"/>
          <p:cNvSpPr/>
          <p:nvPr/>
        </p:nvSpPr>
        <p:spPr>
          <a:xfrm>
            <a:off x="658368" y="388620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722376" y="393192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56" name="Text 52"/>
          <p:cNvSpPr txBox="1"/>
          <p:nvPr/>
        </p:nvSpPr>
        <p:spPr>
          <a:xfrm>
            <a:off x="722376" y="393192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57" name="Text 53"/>
          <p:cNvSpPr txBox="1"/>
          <p:nvPr/>
        </p:nvSpPr>
        <p:spPr>
          <a:xfrm>
            <a:off x="722376" y="419709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pre simulacro usuario</a:t>
            </a:r>
            <a:endParaRPr lang="en-US" sz="900" dirty="0"/>
          </a:p>
        </p:txBody>
      </p:sp>
      <p:sp>
        <p:nvSpPr>
          <p:cNvPr id="58" name="Text 54"/>
          <p:cNvSpPr txBox="1"/>
          <p:nvPr/>
        </p:nvSpPr>
        <p:spPr>
          <a:xfrm>
            <a:off x="2898648" y="393192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28 Ago</a:t>
            </a:r>
            <a:endParaRPr lang="en-US" sz="900" dirty="0"/>
          </a:p>
        </p:txBody>
      </p:sp>
      <p:sp>
        <p:nvSpPr>
          <p:cNvPr id="59" name="Text 55"/>
          <p:cNvSpPr txBox="1"/>
          <p:nvPr/>
        </p:nvSpPr>
        <p:spPr>
          <a:xfrm>
            <a:off x="3931920" y="395935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 y publicación DDFF Simulacro Usuario</a:t>
            </a:r>
            <a:endParaRPr lang="en-US" sz="850" dirty="0"/>
          </a:p>
        </p:txBody>
      </p:sp>
      <p:sp>
        <p:nvSpPr>
          <p:cNvPr id="60" name="Text 56"/>
          <p:cNvSpPr txBox="1"/>
          <p:nvPr/>
        </p:nvSpPr>
        <p:spPr>
          <a:xfrm>
            <a:off x="7872984" y="393192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61" name="Text 57"/>
          <p:cNvSpPr txBox="1"/>
          <p:nvPr/>
        </p:nvSpPr>
        <p:spPr>
          <a:xfrm>
            <a:off x="8997696" y="393192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62" name="Shape 58"/>
          <p:cNvSpPr/>
          <p:nvPr/>
        </p:nvSpPr>
        <p:spPr>
          <a:xfrm>
            <a:off x="9436608" y="40096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3" name="Shape 59"/>
          <p:cNvSpPr/>
          <p:nvPr/>
        </p:nvSpPr>
        <p:spPr>
          <a:xfrm>
            <a:off x="9436608" y="40096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4" name="Shape 60"/>
          <p:cNvSpPr/>
          <p:nvPr/>
        </p:nvSpPr>
        <p:spPr>
          <a:xfrm>
            <a:off x="10351008" y="398678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10515600" y="393192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66" name="Shape 62"/>
          <p:cNvSpPr/>
          <p:nvPr/>
        </p:nvSpPr>
        <p:spPr>
          <a:xfrm>
            <a:off x="658368" y="43891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22376" y="443484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68" name="Text 64"/>
          <p:cNvSpPr txBox="1"/>
          <p:nvPr/>
        </p:nvSpPr>
        <p:spPr>
          <a:xfrm>
            <a:off x="722376" y="443484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69" name="Text 65"/>
          <p:cNvSpPr txBox="1"/>
          <p:nvPr/>
        </p:nvSpPr>
        <p:spPr>
          <a:xfrm>
            <a:off x="722376" y="470001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Simulacro usuario</a:t>
            </a:r>
            <a:endParaRPr lang="en-US" sz="900" dirty="0"/>
          </a:p>
        </p:txBody>
      </p:sp>
      <p:sp>
        <p:nvSpPr>
          <p:cNvPr id="70" name="Text 66"/>
          <p:cNvSpPr txBox="1"/>
          <p:nvPr/>
        </p:nvSpPr>
        <p:spPr>
          <a:xfrm>
            <a:off x="2898648" y="44348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29 Ago</a:t>
            </a:r>
            <a:endParaRPr lang="en-US" sz="900" dirty="0"/>
          </a:p>
        </p:txBody>
      </p:sp>
      <p:sp>
        <p:nvSpPr>
          <p:cNvPr id="71" name="Text 67"/>
          <p:cNvSpPr txBox="1"/>
          <p:nvPr/>
        </p:nvSpPr>
        <p:spPr>
          <a:xfrm>
            <a:off x="3931920" y="446227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a simulacro</a:t>
            </a:r>
            <a:endParaRPr lang="en-US" sz="850" dirty="0"/>
          </a:p>
        </p:txBody>
      </p:sp>
      <p:sp>
        <p:nvSpPr>
          <p:cNvPr id="72" name="Text 68"/>
          <p:cNvSpPr txBox="1"/>
          <p:nvPr/>
        </p:nvSpPr>
        <p:spPr>
          <a:xfrm>
            <a:off x="7872984" y="443484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73" name="Text 69"/>
          <p:cNvSpPr txBox="1"/>
          <p:nvPr/>
        </p:nvSpPr>
        <p:spPr>
          <a:xfrm>
            <a:off x="8997696" y="443484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74" name="Shape 70"/>
          <p:cNvSpPr/>
          <p:nvPr/>
        </p:nvSpPr>
        <p:spPr>
          <a:xfrm>
            <a:off x="9436608" y="45125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5" name="Shape 71"/>
          <p:cNvSpPr/>
          <p:nvPr/>
        </p:nvSpPr>
        <p:spPr>
          <a:xfrm>
            <a:off x="9436608" y="45125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6" name="Shape 72"/>
          <p:cNvSpPr/>
          <p:nvPr/>
        </p:nvSpPr>
        <p:spPr>
          <a:xfrm>
            <a:off x="10351008" y="448970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77" name="Text 73"/>
          <p:cNvSpPr txBox="1"/>
          <p:nvPr/>
        </p:nvSpPr>
        <p:spPr>
          <a:xfrm>
            <a:off x="10515600" y="44348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78" name="Shape 74"/>
          <p:cNvSpPr/>
          <p:nvPr/>
        </p:nvSpPr>
        <p:spPr>
          <a:xfrm>
            <a:off x="658368" y="489204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722376" y="4937760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80" name="Text 76"/>
          <p:cNvSpPr txBox="1"/>
          <p:nvPr/>
        </p:nvSpPr>
        <p:spPr>
          <a:xfrm>
            <a:off x="722376" y="4937760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81" name="Text 77"/>
          <p:cNvSpPr txBox="1"/>
          <p:nvPr/>
        </p:nvSpPr>
        <p:spPr>
          <a:xfrm>
            <a:off x="722376" y="520293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a producción</a:t>
            </a:r>
            <a:endParaRPr lang="en-US" sz="900" dirty="0"/>
          </a:p>
        </p:txBody>
      </p:sp>
      <p:sp>
        <p:nvSpPr>
          <p:cNvPr id="82" name="Text 78"/>
          <p:cNvSpPr txBox="1"/>
          <p:nvPr/>
        </p:nvSpPr>
        <p:spPr>
          <a:xfrm>
            <a:off x="2898648" y="49377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Q4</a:t>
            </a:r>
            <a:endParaRPr lang="en-US" sz="900" dirty="0"/>
          </a:p>
        </p:txBody>
      </p:sp>
      <p:sp>
        <p:nvSpPr>
          <p:cNvPr id="83" name="Text 79"/>
          <p:cNvSpPr txBox="1"/>
          <p:nvPr/>
        </p:nvSpPr>
        <p:spPr>
          <a:xfrm>
            <a:off x="3931920" y="496519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Nuevos métodos de liquidación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DataX - SICOR</a:t>
            </a:r>
            <a:endParaRPr lang="en-US" sz="850" dirty="0"/>
          </a:p>
        </p:txBody>
      </p:sp>
      <p:sp>
        <p:nvSpPr>
          <p:cNvPr id="84" name="Text 80"/>
          <p:cNvSpPr txBox="1"/>
          <p:nvPr/>
        </p:nvSpPr>
        <p:spPr>
          <a:xfrm>
            <a:off x="7872984" y="49377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85" name="Text 81"/>
          <p:cNvSpPr txBox="1"/>
          <p:nvPr/>
        </p:nvSpPr>
        <p:spPr>
          <a:xfrm>
            <a:off x="8997696" y="49377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86" name="Shape 82"/>
          <p:cNvSpPr/>
          <p:nvPr/>
        </p:nvSpPr>
        <p:spPr>
          <a:xfrm>
            <a:off x="9436608" y="50154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87" name="Shape 83"/>
          <p:cNvSpPr/>
          <p:nvPr/>
        </p:nvSpPr>
        <p:spPr>
          <a:xfrm>
            <a:off x="10351008" y="4992624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88" name="Text 84"/>
          <p:cNvSpPr txBox="1"/>
          <p:nvPr/>
        </p:nvSpPr>
        <p:spPr>
          <a:xfrm>
            <a:off x="10515600" y="49377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LUCÍA GARRIDO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Lucía Garrido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07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SDATOOL-51125 · 2026-21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Decomisado MIDAS · Cargador Thirdparties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5 tareas · 2 al 100 % · 1 en riesgo · Asignación: Marta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2779776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 Jul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Alcance funcional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68833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734056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734056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2898648" y="273405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 Ago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3931920" y="2761488"/>
            <a:ext cx="3767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 propietario de la hoja no puede ser una persona nominativa, sino un grupo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Sinergia entre usuarios trabajando al mismo tiempo, o que no borren la info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 usuario que no tenga permisos de edición sobre el app script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Google Sheet no puede ser repositorio de código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872984" y="273405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8997696" y="273405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90 %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436608" y="2811780"/>
            <a:ext cx="69128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788920"/>
            <a:ext cx="109728" cy="109728"/>
          </a:xfrm>
          <a:prstGeom prst="ellipse">
            <a:avLst/>
          </a:prstGeom>
          <a:solidFill>
            <a:srgbClr val="FFB56B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7340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riesgo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38328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42900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42900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722376" y="369417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2898648" y="342900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14 Ago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3931920" y="345643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7872984" y="342900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8997696" y="342900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90 %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9436608" y="35067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9" name="Shape 45"/>
          <p:cNvSpPr/>
          <p:nvPr/>
        </p:nvSpPr>
        <p:spPr>
          <a:xfrm>
            <a:off x="9436608" y="3506724"/>
            <a:ext cx="69128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0" name="Shape 46"/>
          <p:cNvSpPr/>
          <p:nvPr/>
        </p:nvSpPr>
        <p:spPr>
          <a:xfrm>
            <a:off x="10351008" y="3483864"/>
            <a:ext cx="109728" cy="109728"/>
          </a:xfrm>
          <a:prstGeom prst="ellipse">
            <a:avLst/>
          </a:prstGeom>
          <a:solidFill>
            <a:srgbClr val="85C8FF"/>
          </a:solidFill>
          <a:ln/>
        </p:spPr>
      </p:sp>
      <p:sp>
        <p:nvSpPr>
          <p:cNvPr id="51" name="Text 47"/>
          <p:cNvSpPr txBox="1"/>
          <p:nvPr/>
        </p:nvSpPr>
        <p:spPr>
          <a:xfrm>
            <a:off x="10515600" y="342900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curso</a:t>
            </a:r>
            <a:endParaRPr lang="en-US" sz="850" dirty="0"/>
          </a:p>
        </p:txBody>
      </p:sp>
      <p:sp>
        <p:nvSpPr>
          <p:cNvPr id="52" name="Shape 48"/>
          <p:cNvSpPr/>
          <p:nvPr/>
        </p:nvSpPr>
        <p:spPr>
          <a:xfrm>
            <a:off x="658368" y="388620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722376" y="393192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722376" y="393192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55" name="Text 51"/>
          <p:cNvSpPr txBox="1"/>
          <p:nvPr/>
        </p:nvSpPr>
        <p:spPr>
          <a:xfrm>
            <a:off x="722376" y="419709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2898648" y="393192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 Ago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3931920" y="395935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usuario</a:t>
            </a:r>
            <a:endParaRPr lang="en-US" sz="850" dirty="0"/>
          </a:p>
        </p:txBody>
      </p:sp>
      <p:sp>
        <p:nvSpPr>
          <p:cNvPr id="58" name="Text 54"/>
          <p:cNvSpPr txBox="1"/>
          <p:nvPr/>
        </p:nvSpPr>
        <p:spPr>
          <a:xfrm>
            <a:off x="7872984" y="393192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59" name="Text 55"/>
          <p:cNvSpPr txBox="1"/>
          <p:nvPr/>
        </p:nvSpPr>
        <p:spPr>
          <a:xfrm>
            <a:off x="8997696" y="393192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60" name="Shape 56"/>
          <p:cNvSpPr/>
          <p:nvPr/>
        </p:nvSpPr>
        <p:spPr>
          <a:xfrm>
            <a:off x="9436608" y="40096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1" name="Shape 57"/>
          <p:cNvSpPr/>
          <p:nvPr/>
        </p:nvSpPr>
        <p:spPr>
          <a:xfrm>
            <a:off x="9436608" y="40096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2" name="Shape 58"/>
          <p:cNvSpPr/>
          <p:nvPr/>
        </p:nvSpPr>
        <p:spPr>
          <a:xfrm>
            <a:off x="10351008" y="398678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10515600" y="393192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64" name="Shape 60"/>
          <p:cNvSpPr/>
          <p:nvPr/>
        </p:nvSpPr>
        <p:spPr>
          <a:xfrm>
            <a:off x="658368" y="43891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722376" y="4434840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722376" y="4434840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67" name="Text 63"/>
          <p:cNvSpPr txBox="1"/>
          <p:nvPr/>
        </p:nvSpPr>
        <p:spPr>
          <a:xfrm>
            <a:off x="2898648" y="44348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Q4</a:t>
            </a:r>
            <a:endParaRPr lang="en-US" sz="900" dirty="0"/>
          </a:p>
        </p:txBody>
      </p:sp>
      <p:sp>
        <p:nvSpPr>
          <p:cNvPr id="68" name="Text 64"/>
          <p:cNvSpPr txBox="1"/>
          <p:nvPr/>
        </p:nvSpPr>
        <p:spPr>
          <a:xfrm>
            <a:off x="3931920" y="446227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en producción</a:t>
            </a:r>
            <a:endParaRPr lang="en-US" sz="850" dirty="0"/>
          </a:p>
        </p:txBody>
      </p:sp>
      <p:sp>
        <p:nvSpPr>
          <p:cNvPr id="69" name="Text 65"/>
          <p:cNvSpPr txBox="1"/>
          <p:nvPr/>
        </p:nvSpPr>
        <p:spPr>
          <a:xfrm>
            <a:off x="7872984" y="443484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70" name="Text 66"/>
          <p:cNvSpPr txBox="1"/>
          <p:nvPr/>
        </p:nvSpPr>
        <p:spPr>
          <a:xfrm>
            <a:off x="8997696" y="443484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71" name="Shape 67"/>
          <p:cNvSpPr/>
          <p:nvPr/>
        </p:nvSpPr>
        <p:spPr>
          <a:xfrm>
            <a:off x="9436608" y="45125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2" name="Shape 68"/>
          <p:cNvSpPr/>
          <p:nvPr/>
        </p:nvSpPr>
        <p:spPr>
          <a:xfrm>
            <a:off x="10351008" y="4489704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73" name="Text 69"/>
          <p:cNvSpPr txBox="1"/>
          <p:nvPr/>
        </p:nvSpPr>
        <p:spPr>
          <a:xfrm>
            <a:off x="10515600" y="44348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LUCÍA GARRIDO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Lucía Garrido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08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SDATOOL-51125 · 2026-49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Decomisado MIDAS · Agreements CLS BBVA México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 tareas · 7 al 100 % · Asignación: Marta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3451860"/>
          </a:xfrm>
          <a:prstGeom prst="roundRect">
            <a:avLst>
              <a:gd name="adj" fmla="val 31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Q2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Alcance funcional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68833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734056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734056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2898648" y="273405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Q2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3931920" y="2761488"/>
            <a:ext cx="376732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Adaptación ventana para añadir tipología CLS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Adaptación servicio online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Adaptación extracción genérica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872984" y="273405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8997696" y="273405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78892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7340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24154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287268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287268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722376" y="3552444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2898648" y="328726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Q2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3931920" y="3314700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7872984" y="328726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8997696" y="328726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9436608" y="336499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9" name="Shape 45"/>
          <p:cNvSpPr/>
          <p:nvPr/>
        </p:nvSpPr>
        <p:spPr>
          <a:xfrm>
            <a:off x="9436608" y="336499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0" name="Shape 46"/>
          <p:cNvSpPr/>
          <p:nvPr/>
        </p:nvSpPr>
        <p:spPr>
          <a:xfrm>
            <a:off x="10351008" y="3342132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1" name="Text 47"/>
          <p:cNvSpPr txBox="1"/>
          <p:nvPr/>
        </p:nvSpPr>
        <p:spPr>
          <a:xfrm>
            <a:off x="10515600" y="328726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2" name="Shape 48"/>
          <p:cNvSpPr/>
          <p:nvPr/>
        </p:nvSpPr>
        <p:spPr>
          <a:xfrm>
            <a:off x="658368" y="374446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722376" y="379018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722376" y="379018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55" name="Text 51"/>
          <p:cNvSpPr txBox="1"/>
          <p:nvPr/>
        </p:nvSpPr>
        <p:spPr>
          <a:xfrm>
            <a:off x="2898648" y="379018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 Jul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3931920" y="3817620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Bug LAGRDuplis</a:t>
            </a:r>
            <a:endParaRPr lang="en-US" sz="850" dirty="0"/>
          </a:p>
        </p:txBody>
      </p:sp>
      <p:sp>
        <p:nvSpPr>
          <p:cNvPr id="57" name="Text 53"/>
          <p:cNvSpPr txBox="1"/>
          <p:nvPr/>
        </p:nvSpPr>
        <p:spPr>
          <a:xfrm>
            <a:off x="7872984" y="379018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58" name="Text 54"/>
          <p:cNvSpPr txBox="1"/>
          <p:nvPr/>
        </p:nvSpPr>
        <p:spPr>
          <a:xfrm>
            <a:off x="8997696" y="379018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59" name="Shape 55"/>
          <p:cNvSpPr/>
          <p:nvPr/>
        </p:nvSpPr>
        <p:spPr>
          <a:xfrm>
            <a:off x="9436608" y="386791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0" name="Shape 56"/>
          <p:cNvSpPr/>
          <p:nvPr/>
        </p:nvSpPr>
        <p:spPr>
          <a:xfrm>
            <a:off x="9436608" y="386791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1" name="Shape 57"/>
          <p:cNvSpPr/>
          <p:nvPr/>
        </p:nvSpPr>
        <p:spPr>
          <a:xfrm>
            <a:off x="10351008" y="3845052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62" name="Text 58"/>
          <p:cNvSpPr txBox="1"/>
          <p:nvPr/>
        </p:nvSpPr>
        <p:spPr>
          <a:xfrm>
            <a:off x="10515600" y="379018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63" name="Shape 59"/>
          <p:cNvSpPr/>
          <p:nvPr/>
        </p:nvSpPr>
        <p:spPr>
          <a:xfrm>
            <a:off x="658368" y="4055364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722376" y="4101084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722376" y="4101084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66" name="Text 62"/>
          <p:cNvSpPr txBox="1"/>
          <p:nvPr/>
        </p:nvSpPr>
        <p:spPr>
          <a:xfrm>
            <a:off x="722376" y="4366260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</a:t>
            </a:r>
            <a:endParaRPr lang="en-US" sz="900" dirty="0"/>
          </a:p>
        </p:txBody>
      </p:sp>
      <p:sp>
        <p:nvSpPr>
          <p:cNvPr id="67" name="Text 63"/>
          <p:cNvSpPr txBox="1"/>
          <p:nvPr/>
        </p:nvSpPr>
        <p:spPr>
          <a:xfrm>
            <a:off x="2898648" y="4101084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 Ago</a:t>
            </a:r>
            <a:endParaRPr lang="en-US" sz="900" dirty="0"/>
          </a:p>
        </p:txBody>
      </p:sp>
      <p:sp>
        <p:nvSpPr>
          <p:cNvPr id="68" name="Text 64"/>
          <p:cNvSpPr txBox="1"/>
          <p:nvPr/>
        </p:nvSpPr>
        <p:spPr>
          <a:xfrm>
            <a:off x="3931920" y="4128516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</a:t>
            </a:r>
            <a:endParaRPr lang="en-US" sz="850" dirty="0"/>
          </a:p>
        </p:txBody>
      </p:sp>
      <p:sp>
        <p:nvSpPr>
          <p:cNvPr id="69" name="Text 65"/>
          <p:cNvSpPr txBox="1"/>
          <p:nvPr/>
        </p:nvSpPr>
        <p:spPr>
          <a:xfrm>
            <a:off x="7872984" y="4101084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70" name="Text 66"/>
          <p:cNvSpPr txBox="1"/>
          <p:nvPr/>
        </p:nvSpPr>
        <p:spPr>
          <a:xfrm>
            <a:off x="8997696" y="4101084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71" name="Shape 67"/>
          <p:cNvSpPr/>
          <p:nvPr/>
        </p:nvSpPr>
        <p:spPr>
          <a:xfrm>
            <a:off x="9436608" y="4178808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2" name="Shape 68"/>
          <p:cNvSpPr/>
          <p:nvPr/>
        </p:nvSpPr>
        <p:spPr>
          <a:xfrm>
            <a:off x="9436608" y="4178808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3" name="Shape 69"/>
          <p:cNvSpPr/>
          <p:nvPr/>
        </p:nvSpPr>
        <p:spPr>
          <a:xfrm>
            <a:off x="10351008" y="4155948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74" name="Text 70"/>
          <p:cNvSpPr txBox="1"/>
          <p:nvPr/>
        </p:nvSpPr>
        <p:spPr>
          <a:xfrm>
            <a:off x="10515600" y="4101084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75" name="Shape 71"/>
          <p:cNvSpPr/>
          <p:nvPr/>
        </p:nvSpPr>
        <p:spPr>
          <a:xfrm>
            <a:off x="658368" y="4558284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722376" y="4604004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77" name="Text 73"/>
          <p:cNvSpPr txBox="1"/>
          <p:nvPr/>
        </p:nvSpPr>
        <p:spPr>
          <a:xfrm>
            <a:off x="722376" y="4604004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78" name="Text 74"/>
          <p:cNvSpPr txBox="1"/>
          <p:nvPr/>
        </p:nvSpPr>
        <p:spPr>
          <a:xfrm>
            <a:off x="722376" y="4869180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900" dirty="0"/>
          </a:p>
        </p:txBody>
      </p:sp>
      <p:sp>
        <p:nvSpPr>
          <p:cNvPr id="79" name="Text 75"/>
          <p:cNvSpPr txBox="1"/>
          <p:nvPr/>
        </p:nvSpPr>
        <p:spPr>
          <a:xfrm>
            <a:off x="2898648" y="4604004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14 Ago</a:t>
            </a:r>
            <a:endParaRPr lang="en-US" sz="900" dirty="0"/>
          </a:p>
        </p:txBody>
      </p:sp>
      <p:sp>
        <p:nvSpPr>
          <p:cNvPr id="80" name="Text 76"/>
          <p:cNvSpPr txBox="1"/>
          <p:nvPr/>
        </p:nvSpPr>
        <p:spPr>
          <a:xfrm>
            <a:off x="3931920" y="4631436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usuario</a:t>
            </a:r>
            <a:endParaRPr lang="en-US" sz="850" dirty="0"/>
          </a:p>
        </p:txBody>
      </p:sp>
      <p:sp>
        <p:nvSpPr>
          <p:cNvPr id="81" name="Text 77"/>
          <p:cNvSpPr txBox="1"/>
          <p:nvPr/>
        </p:nvSpPr>
        <p:spPr>
          <a:xfrm>
            <a:off x="7872984" y="4604004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82" name="Text 78"/>
          <p:cNvSpPr txBox="1"/>
          <p:nvPr/>
        </p:nvSpPr>
        <p:spPr>
          <a:xfrm>
            <a:off x="8997696" y="4604004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83" name="Shape 79"/>
          <p:cNvSpPr/>
          <p:nvPr/>
        </p:nvSpPr>
        <p:spPr>
          <a:xfrm>
            <a:off x="9436608" y="4681728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84" name="Shape 80"/>
          <p:cNvSpPr/>
          <p:nvPr/>
        </p:nvSpPr>
        <p:spPr>
          <a:xfrm>
            <a:off x="9436608" y="4681728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85" name="Shape 81"/>
          <p:cNvSpPr/>
          <p:nvPr/>
        </p:nvSpPr>
        <p:spPr>
          <a:xfrm>
            <a:off x="10351008" y="4658868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86" name="Text 82"/>
          <p:cNvSpPr txBox="1"/>
          <p:nvPr/>
        </p:nvSpPr>
        <p:spPr>
          <a:xfrm>
            <a:off x="10515600" y="4604004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87" name="Shape 83"/>
          <p:cNvSpPr/>
          <p:nvPr/>
        </p:nvSpPr>
        <p:spPr>
          <a:xfrm>
            <a:off x="658368" y="5061204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722376" y="5106924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89" name="Text 85"/>
          <p:cNvSpPr txBox="1"/>
          <p:nvPr/>
        </p:nvSpPr>
        <p:spPr>
          <a:xfrm>
            <a:off x="722376" y="5106924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90" name="Text 86"/>
          <p:cNvSpPr txBox="1"/>
          <p:nvPr/>
        </p:nvSpPr>
        <p:spPr>
          <a:xfrm>
            <a:off x="2898648" y="5106924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26 Sep</a:t>
            </a:r>
            <a:endParaRPr lang="en-US" sz="900" dirty="0"/>
          </a:p>
        </p:txBody>
      </p:sp>
      <p:sp>
        <p:nvSpPr>
          <p:cNvPr id="91" name="Text 87"/>
          <p:cNvSpPr txBox="1"/>
          <p:nvPr/>
        </p:nvSpPr>
        <p:spPr>
          <a:xfrm>
            <a:off x="3931920" y="5134356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en producción</a:t>
            </a:r>
            <a:endParaRPr lang="en-US" sz="850" dirty="0"/>
          </a:p>
        </p:txBody>
      </p:sp>
      <p:sp>
        <p:nvSpPr>
          <p:cNvPr id="92" name="Text 88"/>
          <p:cNvSpPr txBox="1"/>
          <p:nvPr/>
        </p:nvSpPr>
        <p:spPr>
          <a:xfrm>
            <a:off x="7872984" y="5106924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93" name="Text 89"/>
          <p:cNvSpPr txBox="1"/>
          <p:nvPr/>
        </p:nvSpPr>
        <p:spPr>
          <a:xfrm>
            <a:off x="8997696" y="5106924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94" name="Shape 90"/>
          <p:cNvSpPr/>
          <p:nvPr/>
        </p:nvSpPr>
        <p:spPr>
          <a:xfrm>
            <a:off x="9436608" y="5184648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95" name="Shape 91"/>
          <p:cNvSpPr/>
          <p:nvPr/>
        </p:nvSpPr>
        <p:spPr>
          <a:xfrm>
            <a:off x="9436608" y="5184648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96" name="Shape 92"/>
          <p:cNvSpPr/>
          <p:nvPr/>
        </p:nvSpPr>
        <p:spPr>
          <a:xfrm>
            <a:off x="10351008" y="5161788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97" name="Text 93"/>
          <p:cNvSpPr txBox="1"/>
          <p:nvPr/>
        </p:nvSpPr>
        <p:spPr>
          <a:xfrm>
            <a:off x="10515600" y="5106924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LUCÍA GARRIDO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Lucía Garrido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09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SDATOOL-38779 · 2026-52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Security Lending Undisclosed · Validaciones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4 tareas · 2 al 100 % · Asignación: Pablo y Marta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2185416"/>
          </a:xfrm>
          <a:prstGeom prst="roundRect">
            <a:avLst>
              <a:gd name="adj" fmla="val 50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 Ago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Alcance funcional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68833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734056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734056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2898648" y="273405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31 Ago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3931920" y="2761488"/>
            <a:ext cx="376732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Modificación búsqueda operativa de contrapartidas desde local y global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Validaciones CalypsoId Multientity Legal Agreements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Regularización de casos productivos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872984" y="273405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8997696" y="273405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78892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7340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24154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287268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287268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2898648" y="328726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 Oct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3931920" y="3314700"/>
            <a:ext cx="376732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850" dirty="0"/>
          </a:p>
        </p:txBody>
      </p:sp>
      <p:sp>
        <p:nvSpPr>
          <p:cNvPr id="45" name="Text 41"/>
          <p:cNvSpPr txBox="1"/>
          <p:nvPr/>
        </p:nvSpPr>
        <p:spPr>
          <a:xfrm>
            <a:off x="7872984" y="328726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8997696" y="328726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99 %</a:t>
            </a:r>
            <a:endParaRPr lang="en-US" sz="900" dirty="0"/>
          </a:p>
        </p:txBody>
      </p:sp>
      <p:sp>
        <p:nvSpPr>
          <p:cNvPr id="47" name="Shape 43"/>
          <p:cNvSpPr/>
          <p:nvPr/>
        </p:nvSpPr>
        <p:spPr>
          <a:xfrm>
            <a:off x="9436608" y="336499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8" name="Shape 44"/>
          <p:cNvSpPr/>
          <p:nvPr/>
        </p:nvSpPr>
        <p:spPr>
          <a:xfrm>
            <a:off x="9436608" y="3364992"/>
            <a:ext cx="760415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49" name="Shape 45"/>
          <p:cNvSpPr/>
          <p:nvPr/>
        </p:nvSpPr>
        <p:spPr>
          <a:xfrm>
            <a:off x="10351008" y="3342132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10515600" y="328726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1" name="Shape 47"/>
          <p:cNvSpPr/>
          <p:nvPr/>
        </p:nvSpPr>
        <p:spPr>
          <a:xfrm>
            <a:off x="658368" y="379476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22376" y="3840480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722376" y="3840480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54" name="Text 50"/>
          <p:cNvSpPr txBox="1"/>
          <p:nvPr/>
        </p:nvSpPr>
        <p:spPr>
          <a:xfrm>
            <a:off x="2898648" y="384048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17 Oct</a:t>
            </a:r>
            <a:endParaRPr lang="en-US" sz="900" dirty="0"/>
          </a:p>
        </p:txBody>
      </p:sp>
      <p:sp>
        <p:nvSpPr>
          <p:cNvPr id="55" name="Text 51"/>
          <p:cNvSpPr txBox="1"/>
          <p:nvPr/>
        </p:nvSpPr>
        <p:spPr>
          <a:xfrm>
            <a:off x="3931920" y="386791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en producción</a:t>
            </a:r>
            <a:endParaRPr lang="en-US" sz="850" dirty="0"/>
          </a:p>
        </p:txBody>
      </p:sp>
      <p:sp>
        <p:nvSpPr>
          <p:cNvPr id="56" name="Text 52"/>
          <p:cNvSpPr txBox="1"/>
          <p:nvPr/>
        </p:nvSpPr>
        <p:spPr>
          <a:xfrm>
            <a:off x="7872984" y="384048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8997696" y="384048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58" name="Shape 54"/>
          <p:cNvSpPr/>
          <p:nvPr/>
        </p:nvSpPr>
        <p:spPr>
          <a:xfrm>
            <a:off x="9436608" y="39182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59" name="Shape 55"/>
          <p:cNvSpPr/>
          <p:nvPr/>
        </p:nvSpPr>
        <p:spPr>
          <a:xfrm>
            <a:off x="10351008" y="3895344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60" name="Text 56"/>
          <p:cNvSpPr txBox="1"/>
          <p:nvPr/>
        </p:nvSpPr>
        <p:spPr>
          <a:xfrm>
            <a:off x="10515600" y="384048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ALEJANDRO GARCÍA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Alejandro García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10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SDATOOL-49629 · 2026-50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BSI 2.0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 tareas · 0 al 100 % · Asignación: Pablo y Marta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1773936"/>
          </a:xfrm>
          <a:prstGeom prst="roundRect">
            <a:avLst>
              <a:gd name="adj" fmla="val 6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Q3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 de impacto. Cambio Enterprise BSI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DB8C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658368" y="268833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22376" y="2734056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22376" y="2734056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30" name="Text 26"/>
          <p:cNvSpPr txBox="1"/>
          <p:nvPr/>
        </p:nvSpPr>
        <p:spPr>
          <a:xfrm>
            <a:off x="722376" y="2999232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a pruebas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2898648" y="273405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Q3</a:t>
            </a:r>
            <a:endParaRPr lang="en-US" sz="900" dirty="0"/>
          </a:p>
        </p:txBody>
      </p:sp>
      <p:sp>
        <p:nvSpPr>
          <p:cNvPr id="32" name="Text 28"/>
          <p:cNvSpPr txBox="1"/>
          <p:nvPr/>
        </p:nvSpPr>
        <p:spPr>
          <a:xfrm>
            <a:off x="3931920" y="2761488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a pruebas con Calypso KRFN, KLYO, Murex e Impact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7872984" y="273405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8997696" y="273405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DB8C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—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10351008" y="278892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10515600" y="27340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37" name="Shape 33"/>
          <p:cNvSpPr/>
          <p:nvPr/>
        </p:nvSpPr>
        <p:spPr>
          <a:xfrm>
            <a:off x="658368" y="319125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22376" y="3236976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722376" y="3236976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40" name="Text 36"/>
          <p:cNvSpPr txBox="1"/>
          <p:nvPr/>
        </p:nvSpPr>
        <p:spPr>
          <a:xfrm>
            <a:off x="722376" y="3502152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Ventana Legal Agreements BSI</a:t>
            </a:r>
            <a:endParaRPr lang="en-US" sz="900" dirty="0"/>
          </a:p>
        </p:txBody>
      </p:sp>
      <p:sp>
        <p:nvSpPr>
          <p:cNvPr id="41" name="Text 37"/>
          <p:cNvSpPr txBox="1"/>
          <p:nvPr/>
        </p:nvSpPr>
        <p:spPr>
          <a:xfrm>
            <a:off x="2898648" y="323697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17 Oct</a:t>
            </a:r>
            <a:endParaRPr lang="en-US" sz="900" dirty="0"/>
          </a:p>
        </p:txBody>
      </p:sp>
      <p:sp>
        <p:nvSpPr>
          <p:cNvPr id="42" name="Text 38"/>
          <p:cNvSpPr txBox="1"/>
          <p:nvPr/>
        </p:nvSpPr>
        <p:spPr>
          <a:xfrm>
            <a:off x="3931920" y="3264408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de la ventana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7872984" y="323697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8997696" y="323697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45" name="Shape 41"/>
          <p:cNvSpPr/>
          <p:nvPr/>
        </p:nvSpPr>
        <p:spPr>
          <a:xfrm>
            <a:off x="9436608" y="331470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6" name="Shape 42"/>
          <p:cNvSpPr/>
          <p:nvPr/>
        </p:nvSpPr>
        <p:spPr>
          <a:xfrm>
            <a:off x="10351008" y="3291840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47" name="Text 43"/>
          <p:cNvSpPr txBox="1"/>
          <p:nvPr/>
        </p:nvSpPr>
        <p:spPr>
          <a:xfrm>
            <a:off x="10515600" y="323697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ALEJANDRO GARCÍA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Alejandro García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11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SDATOOL-42226 · 2026-46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Automatización Emisiones RV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 tareas · 5 al 100 % · Asignación: Pablo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3232404"/>
          </a:xfrm>
          <a:prstGeom prst="roundRect">
            <a:avLst>
              <a:gd name="adj" fmla="val 33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17 Abr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Alcance funcional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68833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734056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734056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2898648" y="273405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12 Jun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3931920" y="2761488"/>
            <a:ext cx="376732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Añadir campos de alta de emisores en la ventana de emisiones + botón que llame al proceso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Crear nuevo workflow que llame al alta de emisores y al alta rol emisor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Nuevo proceso que añada el rol emisor a emisores descargados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Publicación de País de Mercado en servicios de Securities (online y batch)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872984" y="273405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8997696" y="273405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78892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7340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525012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570732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570732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722376" y="3835908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2898648" y="3570732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 Jul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3931920" y="3598164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 del proceso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7872984" y="3570732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8997696" y="3570732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9436608" y="364845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9" name="Shape 45"/>
          <p:cNvSpPr/>
          <p:nvPr/>
        </p:nvSpPr>
        <p:spPr>
          <a:xfrm>
            <a:off x="9436608" y="364845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0" name="Shape 46"/>
          <p:cNvSpPr/>
          <p:nvPr/>
        </p:nvSpPr>
        <p:spPr>
          <a:xfrm>
            <a:off x="10351008" y="3625596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1" name="Text 47"/>
          <p:cNvSpPr txBox="1"/>
          <p:nvPr/>
        </p:nvSpPr>
        <p:spPr>
          <a:xfrm>
            <a:off x="10515600" y="3570732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2" name="Shape 48"/>
          <p:cNvSpPr/>
          <p:nvPr/>
        </p:nvSpPr>
        <p:spPr>
          <a:xfrm>
            <a:off x="658368" y="4027932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722376" y="4073652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722376" y="4073652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55" name="Text 51"/>
          <p:cNvSpPr txBox="1"/>
          <p:nvPr/>
        </p:nvSpPr>
        <p:spPr>
          <a:xfrm>
            <a:off x="722376" y="4338828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2898648" y="4073652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15 Jul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3931920" y="4101084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850" dirty="0"/>
          </a:p>
        </p:txBody>
      </p:sp>
      <p:sp>
        <p:nvSpPr>
          <p:cNvPr id="58" name="Text 54"/>
          <p:cNvSpPr txBox="1"/>
          <p:nvPr/>
        </p:nvSpPr>
        <p:spPr>
          <a:xfrm>
            <a:off x="7872984" y="4073652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59" name="Text 55"/>
          <p:cNvSpPr txBox="1"/>
          <p:nvPr/>
        </p:nvSpPr>
        <p:spPr>
          <a:xfrm>
            <a:off x="8997696" y="4073652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60" name="Shape 56"/>
          <p:cNvSpPr/>
          <p:nvPr/>
        </p:nvSpPr>
        <p:spPr>
          <a:xfrm>
            <a:off x="9436608" y="415137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1" name="Shape 57"/>
          <p:cNvSpPr/>
          <p:nvPr/>
        </p:nvSpPr>
        <p:spPr>
          <a:xfrm>
            <a:off x="9436608" y="415137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2" name="Shape 58"/>
          <p:cNvSpPr/>
          <p:nvPr/>
        </p:nvSpPr>
        <p:spPr>
          <a:xfrm>
            <a:off x="10351008" y="4128516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10515600" y="4073652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64" name="Shape 60"/>
          <p:cNvSpPr/>
          <p:nvPr/>
        </p:nvSpPr>
        <p:spPr>
          <a:xfrm>
            <a:off x="658368" y="4530852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722376" y="4576572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722376" y="4576572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67" name="Text 63"/>
          <p:cNvSpPr txBox="1"/>
          <p:nvPr/>
        </p:nvSpPr>
        <p:spPr>
          <a:xfrm>
            <a:off x="2898648" y="4576572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25 Jul</a:t>
            </a:r>
            <a:endParaRPr lang="en-US" sz="900" dirty="0"/>
          </a:p>
        </p:txBody>
      </p:sp>
      <p:sp>
        <p:nvSpPr>
          <p:cNvPr id="68" name="Text 64"/>
          <p:cNvSpPr txBox="1"/>
          <p:nvPr/>
        </p:nvSpPr>
        <p:spPr>
          <a:xfrm>
            <a:off x="3931920" y="4604004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de componentes</a:t>
            </a:r>
            <a:endParaRPr lang="en-US" sz="850" dirty="0"/>
          </a:p>
        </p:txBody>
      </p:sp>
      <p:sp>
        <p:nvSpPr>
          <p:cNvPr id="69" name="Text 65"/>
          <p:cNvSpPr txBox="1"/>
          <p:nvPr/>
        </p:nvSpPr>
        <p:spPr>
          <a:xfrm>
            <a:off x="7872984" y="4576572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70" name="Text 66"/>
          <p:cNvSpPr txBox="1"/>
          <p:nvPr/>
        </p:nvSpPr>
        <p:spPr>
          <a:xfrm>
            <a:off x="8997696" y="4576572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71" name="Shape 67"/>
          <p:cNvSpPr/>
          <p:nvPr/>
        </p:nvSpPr>
        <p:spPr>
          <a:xfrm>
            <a:off x="9436608" y="465429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2" name="Shape 68"/>
          <p:cNvSpPr/>
          <p:nvPr/>
        </p:nvSpPr>
        <p:spPr>
          <a:xfrm>
            <a:off x="9436608" y="465429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3" name="Shape 69"/>
          <p:cNvSpPr/>
          <p:nvPr/>
        </p:nvSpPr>
        <p:spPr>
          <a:xfrm>
            <a:off x="10351008" y="4631436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74" name="Text 70"/>
          <p:cNvSpPr txBox="1"/>
          <p:nvPr/>
        </p:nvSpPr>
        <p:spPr>
          <a:xfrm>
            <a:off x="10515600" y="4576572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75" name="Shape 71"/>
          <p:cNvSpPr/>
          <p:nvPr/>
        </p:nvSpPr>
        <p:spPr>
          <a:xfrm>
            <a:off x="658368" y="484174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722376" y="4887468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8BE1E9"/>
          </a:solidFill>
          <a:ln/>
        </p:spPr>
      </p:sp>
      <p:sp>
        <p:nvSpPr>
          <p:cNvPr id="77" name="Text 73"/>
          <p:cNvSpPr txBox="1"/>
          <p:nvPr/>
        </p:nvSpPr>
        <p:spPr>
          <a:xfrm>
            <a:off x="722376" y="4887468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</a:t>
            </a:r>
            <a:endParaRPr lang="en-US" sz="680" dirty="0"/>
          </a:p>
        </p:txBody>
      </p:sp>
      <p:sp>
        <p:nvSpPr>
          <p:cNvPr id="78" name="Text 74"/>
          <p:cNvSpPr txBox="1"/>
          <p:nvPr/>
        </p:nvSpPr>
        <p:spPr>
          <a:xfrm>
            <a:off x="2898648" y="488746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Q3</a:t>
            </a:r>
            <a:endParaRPr lang="en-US" sz="900" dirty="0"/>
          </a:p>
        </p:txBody>
      </p:sp>
      <p:sp>
        <p:nvSpPr>
          <p:cNvPr id="79" name="Text 75"/>
          <p:cNvSpPr txBox="1"/>
          <p:nvPr/>
        </p:nvSpPr>
        <p:spPr>
          <a:xfrm>
            <a:off x="3931920" y="4914900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a pruebas de otros aplicativos: 4sight, Asset Control…</a:t>
            </a:r>
            <a:endParaRPr lang="en-US" sz="850" dirty="0"/>
          </a:p>
        </p:txBody>
      </p:sp>
      <p:sp>
        <p:nvSpPr>
          <p:cNvPr id="80" name="Text 76"/>
          <p:cNvSpPr txBox="1"/>
          <p:nvPr/>
        </p:nvSpPr>
        <p:spPr>
          <a:xfrm>
            <a:off x="7872984" y="488746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81" name="Text 77"/>
          <p:cNvSpPr txBox="1"/>
          <p:nvPr/>
        </p:nvSpPr>
        <p:spPr>
          <a:xfrm>
            <a:off x="8997696" y="488746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DB8C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—</a:t>
            </a:r>
            <a:endParaRPr lang="en-US" sz="900" dirty="0"/>
          </a:p>
        </p:txBody>
      </p:sp>
      <p:sp>
        <p:nvSpPr>
          <p:cNvPr id="82" name="Shape 78"/>
          <p:cNvSpPr/>
          <p:nvPr/>
        </p:nvSpPr>
        <p:spPr>
          <a:xfrm>
            <a:off x="10351008" y="4942332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83" name="Text 79"/>
          <p:cNvSpPr txBox="1"/>
          <p:nvPr/>
        </p:nvSpPr>
        <p:spPr>
          <a:xfrm>
            <a:off x="10515600" y="488746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ALEJANDRO ROMERO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Alejandro Romero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12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SDATOOL-34546 · 2025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Calypso OTC Madrid Fase V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 tareas · 6 al 100 % · Asignación: Marta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722376" y="268833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 DDFF post simulacro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Q2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3931920" y="245059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Revisión DDFF post simulacro 18/04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7" name="Shape 23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8" name="Shape 24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58368" y="288036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22376" y="2926080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22376" y="2926080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33" name="Text 29"/>
          <p:cNvSpPr txBox="1"/>
          <p:nvPr/>
        </p:nvSpPr>
        <p:spPr>
          <a:xfrm>
            <a:off x="2898648" y="292608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Q2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3931920" y="295351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Parametrización nuevos métodos de liquidación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7872984" y="292608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8997696" y="292608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7" name="Shape 33"/>
          <p:cNvSpPr/>
          <p:nvPr/>
        </p:nvSpPr>
        <p:spPr>
          <a:xfrm>
            <a:off x="9436608" y="30038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8" name="Shape 34"/>
          <p:cNvSpPr/>
          <p:nvPr/>
        </p:nvSpPr>
        <p:spPr>
          <a:xfrm>
            <a:off x="9436608" y="30038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9" name="Shape 35"/>
          <p:cNvSpPr/>
          <p:nvPr/>
        </p:nvSpPr>
        <p:spPr>
          <a:xfrm>
            <a:off x="10351008" y="298094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10515600" y="292608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1" name="Shape 37"/>
          <p:cNvSpPr/>
          <p:nvPr/>
        </p:nvSpPr>
        <p:spPr>
          <a:xfrm>
            <a:off x="658368" y="319125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722376" y="3236976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3" name="Text 39"/>
          <p:cNvSpPr txBox="1"/>
          <p:nvPr/>
        </p:nvSpPr>
        <p:spPr>
          <a:xfrm>
            <a:off x="722376" y="3236976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4" name="Text 40"/>
          <p:cNvSpPr txBox="1"/>
          <p:nvPr/>
        </p:nvSpPr>
        <p:spPr>
          <a:xfrm>
            <a:off x="722376" y="3502152"/>
            <a:ext cx="2002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Simulacro · Carga SDIs, SCIs y Notis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2898648" y="323697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 Jul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3931920" y="3264408"/>
            <a:ext cx="3767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 y publicación DDFF Simulacro</a:t>
            </a:r>
            <a:endParaRPr lang="en-US" sz="850" dirty="0"/>
          </a:p>
        </p:txBody>
      </p:sp>
      <p:sp>
        <p:nvSpPr>
          <p:cNvPr id="47" name="Text 43"/>
          <p:cNvSpPr txBox="1"/>
          <p:nvPr/>
        </p:nvSpPr>
        <p:spPr>
          <a:xfrm>
            <a:off x="7872984" y="323697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48" name="Text 44"/>
          <p:cNvSpPr txBox="1"/>
          <p:nvPr/>
        </p:nvSpPr>
        <p:spPr>
          <a:xfrm>
            <a:off x="8997696" y="323697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49" name="Shape 45"/>
          <p:cNvSpPr/>
          <p:nvPr/>
        </p:nvSpPr>
        <p:spPr>
          <a:xfrm>
            <a:off x="9436608" y="331470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50" name="Shape 46"/>
          <p:cNvSpPr/>
          <p:nvPr/>
        </p:nvSpPr>
        <p:spPr>
          <a:xfrm>
            <a:off x="9436608" y="331470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1" name="Shape 47"/>
          <p:cNvSpPr/>
          <p:nvPr/>
        </p:nvSpPr>
        <p:spPr>
          <a:xfrm>
            <a:off x="10351008" y="329184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2" name="Text 48"/>
          <p:cNvSpPr txBox="1"/>
          <p:nvPr/>
        </p:nvSpPr>
        <p:spPr>
          <a:xfrm>
            <a:off x="10515600" y="323697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3" name="Shape 49"/>
          <p:cNvSpPr/>
          <p:nvPr/>
        </p:nvSpPr>
        <p:spPr>
          <a:xfrm>
            <a:off x="658368" y="384048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722376" y="3886200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55" name="Text 51"/>
          <p:cNvSpPr txBox="1"/>
          <p:nvPr/>
        </p:nvSpPr>
        <p:spPr>
          <a:xfrm>
            <a:off x="722376" y="3886200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56" name="Text 52"/>
          <p:cNvSpPr txBox="1"/>
          <p:nvPr/>
        </p:nvSpPr>
        <p:spPr>
          <a:xfrm>
            <a:off x="722376" y="415137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GoLive · Carga SDIs, SCIs y Notis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2898648" y="388620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13 Jul</a:t>
            </a:r>
            <a:endParaRPr lang="en-US" sz="900" dirty="0"/>
          </a:p>
        </p:txBody>
      </p:sp>
      <p:sp>
        <p:nvSpPr>
          <p:cNvPr id="58" name="Text 54"/>
          <p:cNvSpPr txBox="1"/>
          <p:nvPr/>
        </p:nvSpPr>
        <p:spPr>
          <a:xfrm>
            <a:off x="3931920" y="391363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 y publicación DDFF GoLive</a:t>
            </a:r>
            <a:endParaRPr lang="en-US" sz="850" dirty="0"/>
          </a:p>
        </p:txBody>
      </p:sp>
      <p:sp>
        <p:nvSpPr>
          <p:cNvPr id="59" name="Text 55"/>
          <p:cNvSpPr txBox="1"/>
          <p:nvPr/>
        </p:nvSpPr>
        <p:spPr>
          <a:xfrm>
            <a:off x="7872984" y="388620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60" name="Text 56"/>
          <p:cNvSpPr txBox="1"/>
          <p:nvPr/>
        </p:nvSpPr>
        <p:spPr>
          <a:xfrm>
            <a:off x="8997696" y="388620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61" name="Shape 57"/>
          <p:cNvSpPr/>
          <p:nvPr/>
        </p:nvSpPr>
        <p:spPr>
          <a:xfrm>
            <a:off x="9436608" y="39639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2" name="Shape 58"/>
          <p:cNvSpPr/>
          <p:nvPr/>
        </p:nvSpPr>
        <p:spPr>
          <a:xfrm>
            <a:off x="9436608" y="39639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3" name="Shape 59"/>
          <p:cNvSpPr/>
          <p:nvPr/>
        </p:nvSpPr>
        <p:spPr>
          <a:xfrm>
            <a:off x="10351008" y="394106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10515600" y="388620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65" name="Shape 61"/>
          <p:cNvSpPr/>
          <p:nvPr/>
        </p:nvSpPr>
        <p:spPr>
          <a:xfrm>
            <a:off x="658368" y="434340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722376" y="4389120"/>
            <a:ext cx="1238098" cy="219456"/>
          </a:xfrm>
          <a:prstGeom prst="roundRect">
            <a:avLst>
              <a:gd name="adj" fmla="val 50000"/>
            </a:avLst>
          </a:prstGeom>
          <a:solidFill>
            <a:srgbClr val="8BE1E9"/>
          </a:solidFill>
          <a:ln/>
        </p:spPr>
      </p:sp>
      <p:sp>
        <p:nvSpPr>
          <p:cNvPr id="67" name="Text 63"/>
          <p:cNvSpPr txBox="1"/>
          <p:nvPr/>
        </p:nvSpPr>
        <p:spPr>
          <a:xfrm>
            <a:off x="722376" y="4389120"/>
            <a:ext cx="1238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POST-IMPLANTACIÓN</a:t>
            </a:r>
            <a:endParaRPr lang="en-US" sz="680" dirty="0"/>
          </a:p>
        </p:txBody>
      </p:sp>
      <p:sp>
        <p:nvSpPr>
          <p:cNvPr id="68" name="Text 64"/>
          <p:cNvSpPr txBox="1"/>
          <p:nvPr/>
        </p:nvSpPr>
        <p:spPr>
          <a:xfrm>
            <a:off x="722376" y="465429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</a:t>
            </a:r>
            <a:endParaRPr lang="en-US" sz="900" dirty="0"/>
          </a:p>
        </p:txBody>
      </p:sp>
      <p:sp>
        <p:nvSpPr>
          <p:cNvPr id="69" name="Text 65"/>
          <p:cNvSpPr txBox="1"/>
          <p:nvPr/>
        </p:nvSpPr>
        <p:spPr>
          <a:xfrm>
            <a:off x="2898648" y="438912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Q3</a:t>
            </a:r>
            <a:endParaRPr lang="en-US" sz="900" dirty="0"/>
          </a:p>
        </p:txBody>
      </p:sp>
      <p:sp>
        <p:nvSpPr>
          <p:cNvPr id="70" name="Text 66"/>
          <p:cNvSpPr txBox="1"/>
          <p:nvPr/>
        </p:nvSpPr>
        <p:spPr>
          <a:xfrm>
            <a:off x="3931920" y="441655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post Go Live</a:t>
            </a:r>
            <a:endParaRPr lang="en-US" sz="850" dirty="0"/>
          </a:p>
        </p:txBody>
      </p:sp>
      <p:sp>
        <p:nvSpPr>
          <p:cNvPr id="71" name="Text 67"/>
          <p:cNvSpPr txBox="1"/>
          <p:nvPr/>
        </p:nvSpPr>
        <p:spPr>
          <a:xfrm>
            <a:off x="7872984" y="438912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72" name="Text 68"/>
          <p:cNvSpPr txBox="1"/>
          <p:nvPr/>
        </p:nvSpPr>
        <p:spPr>
          <a:xfrm>
            <a:off x="8997696" y="438912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73" name="Shape 69"/>
          <p:cNvSpPr/>
          <p:nvPr/>
        </p:nvSpPr>
        <p:spPr>
          <a:xfrm>
            <a:off x="9436608" y="44668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4" name="Shape 70"/>
          <p:cNvSpPr/>
          <p:nvPr/>
        </p:nvSpPr>
        <p:spPr>
          <a:xfrm>
            <a:off x="9436608" y="44668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5" name="Shape 71"/>
          <p:cNvSpPr/>
          <p:nvPr/>
        </p:nvSpPr>
        <p:spPr>
          <a:xfrm>
            <a:off x="10351008" y="444398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76" name="Text 72"/>
          <p:cNvSpPr txBox="1"/>
          <p:nvPr/>
        </p:nvSpPr>
        <p:spPr>
          <a:xfrm>
            <a:off x="10515600" y="438912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77" name="Shape 73"/>
          <p:cNvSpPr/>
          <p:nvPr/>
        </p:nvSpPr>
        <p:spPr>
          <a:xfrm>
            <a:off x="658368" y="48463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722376" y="489204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79" name="Text 75"/>
          <p:cNvSpPr txBox="1"/>
          <p:nvPr/>
        </p:nvSpPr>
        <p:spPr>
          <a:xfrm>
            <a:off x="722376" y="489204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80" name="Text 76"/>
          <p:cNvSpPr txBox="1"/>
          <p:nvPr/>
        </p:nvSpPr>
        <p:spPr>
          <a:xfrm>
            <a:off x="722376" y="515721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Simulacro</a:t>
            </a:r>
            <a:endParaRPr lang="en-US" sz="900" dirty="0"/>
          </a:p>
        </p:txBody>
      </p:sp>
      <p:sp>
        <p:nvSpPr>
          <p:cNvPr id="81" name="Text 77"/>
          <p:cNvSpPr txBox="1"/>
          <p:nvPr/>
        </p:nvSpPr>
        <p:spPr>
          <a:xfrm>
            <a:off x="2898648" y="48920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12 Sep</a:t>
            </a:r>
            <a:endParaRPr lang="en-US" sz="900" dirty="0"/>
          </a:p>
        </p:txBody>
      </p:sp>
      <p:sp>
        <p:nvSpPr>
          <p:cNvPr id="82" name="Text 78"/>
          <p:cNvSpPr txBox="1"/>
          <p:nvPr/>
        </p:nvSpPr>
        <p:spPr>
          <a:xfrm>
            <a:off x="3931920" y="491947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simulacro fin de semana</a:t>
            </a:r>
            <a:endParaRPr lang="en-US" sz="850" dirty="0"/>
          </a:p>
        </p:txBody>
      </p:sp>
      <p:sp>
        <p:nvSpPr>
          <p:cNvPr id="83" name="Text 79"/>
          <p:cNvSpPr txBox="1"/>
          <p:nvPr/>
        </p:nvSpPr>
        <p:spPr>
          <a:xfrm>
            <a:off x="7872984" y="489204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84" name="Text 80"/>
          <p:cNvSpPr txBox="1"/>
          <p:nvPr/>
        </p:nvSpPr>
        <p:spPr>
          <a:xfrm>
            <a:off x="8997696" y="489204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85" name="Shape 81"/>
          <p:cNvSpPr/>
          <p:nvPr/>
        </p:nvSpPr>
        <p:spPr>
          <a:xfrm>
            <a:off x="9436608" y="49697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86" name="Shape 82"/>
          <p:cNvSpPr/>
          <p:nvPr/>
        </p:nvSpPr>
        <p:spPr>
          <a:xfrm>
            <a:off x="9436608" y="49697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87" name="Shape 83"/>
          <p:cNvSpPr/>
          <p:nvPr/>
        </p:nvSpPr>
        <p:spPr>
          <a:xfrm>
            <a:off x="10351008" y="494690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88" name="Text 84"/>
          <p:cNvSpPr txBox="1"/>
          <p:nvPr/>
        </p:nvSpPr>
        <p:spPr>
          <a:xfrm>
            <a:off x="10515600" y="48920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PABLO RODRÍGUEZ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Pablo Rodríguez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13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SDATOOL-51827 · 2026-41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Eventos Corporativos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 tareas · 5 al 100 % · Asignación: Pablo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3808476"/>
          </a:xfrm>
          <a:prstGeom prst="roundRect">
            <a:avLst>
              <a:gd name="adj" fmla="val 28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Q2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Revisión modificaciones Q1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Alcance funcional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7889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834640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834640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2898648" y="28346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Q2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3931920" y="2862072"/>
            <a:ext cx="3767328" cy="1001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Completar ventana Eventos Corporativos. Alta y modificación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Canonización Eventos Corporativos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Ventana auditoría modificación / alta campos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Creación entrada assembly para colas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Query de publicación online, masiva y dirigida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Recepción ACK / NACK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Aperiódico creación de campos. Valores desplegables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872984" y="283464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8997696" y="283464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9436608" y="29123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436608" y="29123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88950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8346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90906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95478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95478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722376" y="421995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2898648" y="395478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31 Ago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3931920" y="398221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7872984" y="395478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8997696" y="395478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9436608" y="40325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9" name="Shape 45"/>
          <p:cNvSpPr/>
          <p:nvPr/>
        </p:nvSpPr>
        <p:spPr>
          <a:xfrm>
            <a:off x="9436608" y="40325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0" name="Shape 46"/>
          <p:cNvSpPr/>
          <p:nvPr/>
        </p:nvSpPr>
        <p:spPr>
          <a:xfrm>
            <a:off x="10351008" y="400964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1" name="Text 47"/>
          <p:cNvSpPr txBox="1"/>
          <p:nvPr/>
        </p:nvSpPr>
        <p:spPr>
          <a:xfrm>
            <a:off x="10515600" y="395478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2" name="Shape 48"/>
          <p:cNvSpPr/>
          <p:nvPr/>
        </p:nvSpPr>
        <p:spPr>
          <a:xfrm>
            <a:off x="658368" y="441198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722376" y="445770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722376" y="445770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55" name="Text 51"/>
          <p:cNvSpPr txBox="1"/>
          <p:nvPr/>
        </p:nvSpPr>
        <p:spPr>
          <a:xfrm>
            <a:off x="722376" y="472287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2898648" y="445770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31 Ago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3931920" y="448513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 con SIVA/MUV</a:t>
            </a:r>
            <a:endParaRPr lang="en-US" sz="850" dirty="0"/>
          </a:p>
        </p:txBody>
      </p:sp>
      <p:sp>
        <p:nvSpPr>
          <p:cNvPr id="58" name="Text 54"/>
          <p:cNvSpPr txBox="1"/>
          <p:nvPr/>
        </p:nvSpPr>
        <p:spPr>
          <a:xfrm>
            <a:off x="7872984" y="445770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59" name="Text 55"/>
          <p:cNvSpPr txBox="1"/>
          <p:nvPr/>
        </p:nvSpPr>
        <p:spPr>
          <a:xfrm>
            <a:off x="8997696" y="445770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60" name="Shape 56"/>
          <p:cNvSpPr/>
          <p:nvPr/>
        </p:nvSpPr>
        <p:spPr>
          <a:xfrm>
            <a:off x="9436608" y="45354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1" name="Shape 57"/>
          <p:cNvSpPr/>
          <p:nvPr/>
        </p:nvSpPr>
        <p:spPr>
          <a:xfrm>
            <a:off x="9436608" y="45354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2" name="Shape 58"/>
          <p:cNvSpPr/>
          <p:nvPr/>
        </p:nvSpPr>
        <p:spPr>
          <a:xfrm>
            <a:off x="10351008" y="451256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10515600" y="445770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64" name="Shape 60"/>
          <p:cNvSpPr/>
          <p:nvPr/>
        </p:nvSpPr>
        <p:spPr>
          <a:xfrm>
            <a:off x="658368" y="491490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722376" y="496062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722376" y="496062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67" name="Text 63"/>
          <p:cNvSpPr txBox="1"/>
          <p:nvPr/>
        </p:nvSpPr>
        <p:spPr>
          <a:xfrm>
            <a:off x="722376" y="522579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900" dirty="0"/>
          </a:p>
        </p:txBody>
      </p:sp>
      <p:sp>
        <p:nvSpPr>
          <p:cNvPr id="68" name="Text 64"/>
          <p:cNvSpPr txBox="1"/>
          <p:nvPr/>
        </p:nvSpPr>
        <p:spPr>
          <a:xfrm>
            <a:off x="2898648" y="496062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31 Ago</a:t>
            </a:r>
            <a:endParaRPr lang="en-US" sz="900" dirty="0"/>
          </a:p>
        </p:txBody>
      </p:sp>
      <p:sp>
        <p:nvSpPr>
          <p:cNvPr id="69" name="Text 65"/>
          <p:cNvSpPr txBox="1"/>
          <p:nvPr/>
        </p:nvSpPr>
        <p:spPr>
          <a:xfrm>
            <a:off x="3931920" y="498805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850" dirty="0"/>
          </a:p>
        </p:txBody>
      </p:sp>
      <p:sp>
        <p:nvSpPr>
          <p:cNvPr id="70" name="Text 66"/>
          <p:cNvSpPr txBox="1"/>
          <p:nvPr/>
        </p:nvSpPr>
        <p:spPr>
          <a:xfrm>
            <a:off x="7872984" y="496062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71" name="Text 67"/>
          <p:cNvSpPr txBox="1"/>
          <p:nvPr/>
        </p:nvSpPr>
        <p:spPr>
          <a:xfrm>
            <a:off x="8997696" y="496062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72" name="Shape 68"/>
          <p:cNvSpPr/>
          <p:nvPr/>
        </p:nvSpPr>
        <p:spPr>
          <a:xfrm>
            <a:off x="9436608" y="50383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3" name="Shape 69"/>
          <p:cNvSpPr/>
          <p:nvPr/>
        </p:nvSpPr>
        <p:spPr>
          <a:xfrm>
            <a:off x="9436608" y="50383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4" name="Shape 70"/>
          <p:cNvSpPr/>
          <p:nvPr/>
        </p:nvSpPr>
        <p:spPr>
          <a:xfrm>
            <a:off x="10351008" y="501548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75" name="Text 71"/>
          <p:cNvSpPr txBox="1"/>
          <p:nvPr/>
        </p:nvSpPr>
        <p:spPr>
          <a:xfrm>
            <a:off x="10515600" y="496062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76" name="Shape 72"/>
          <p:cNvSpPr/>
          <p:nvPr/>
        </p:nvSpPr>
        <p:spPr>
          <a:xfrm>
            <a:off x="658368" y="54178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722376" y="5463540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78" name="Text 74"/>
          <p:cNvSpPr txBox="1"/>
          <p:nvPr/>
        </p:nvSpPr>
        <p:spPr>
          <a:xfrm>
            <a:off x="722376" y="5463540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79" name="Text 75"/>
          <p:cNvSpPr txBox="1"/>
          <p:nvPr/>
        </p:nvSpPr>
        <p:spPr>
          <a:xfrm>
            <a:off x="2898648" y="54635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 Oct</a:t>
            </a:r>
            <a:endParaRPr lang="en-US" sz="900" dirty="0"/>
          </a:p>
        </p:txBody>
      </p:sp>
      <p:sp>
        <p:nvSpPr>
          <p:cNvPr id="80" name="Text 76"/>
          <p:cNvSpPr txBox="1"/>
          <p:nvPr/>
        </p:nvSpPr>
        <p:spPr>
          <a:xfrm>
            <a:off x="3931920" y="549097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de los componentes</a:t>
            </a:r>
            <a:endParaRPr lang="en-US" sz="850" dirty="0"/>
          </a:p>
        </p:txBody>
      </p:sp>
      <p:sp>
        <p:nvSpPr>
          <p:cNvPr id="81" name="Text 77"/>
          <p:cNvSpPr txBox="1"/>
          <p:nvPr/>
        </p:nvSpPr>
        <p:spPr>
          <a:xfrm>
            <a:off x="7872984" y="546354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82" name="Text 78"/>
          <p:cNvSpPr txBox="1"/>
          <p:nvPr/>
        </p:nvSpPr>
        <p:spPr>
          <a:xfrm>
            <a:off x="8997696" y="546354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83" name="Shape 79"/>
          <p:cNvSpPr/>
          <p:nvPr/>
        </p:nvSpPr>
        <p:spPr>
          <a:xfrm>
            <a:off x="9436608" y="55412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84" name="Shape 80"/>
          <p:cNvSpPr/>
          <p:nvPr/>
        </p:nvSpPr>
        <p:spPr>
          <a:xfrm>
            <a:off x="10351008" y="5518404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85" name="Text 81"/>
          <p:cNvSpPr txBox="1"/>
          <p:nvPr/>
        </p:nvSpPr>
        <p:spPr>
          <a:xfrm>
            <a:off x="10515600" y="54635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JUAN MANUEL FERNÁNDEZ TUDERO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Juan Manuel Fernández Tudero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14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BAU · 2026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Testing / IA - RDR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 tarea · 0 al 100 % · Asignación: Pablo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15773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TESTING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722376" y="2688336"/>
            <a:ext cx="2002536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Testing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Q3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3931920" y="2450592"/>
            <a:ext cx="3767328" cy="1001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Documentación de procesos RDR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Clasificación de procesos RDR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Modularización de procesos RDR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Definición de herramienta de ejecuciones: AtSQA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Definición de prerrequisitos en cada proceso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Definición de casos de prueba por cada proceso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Estructura de datos sintéticos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80 %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7" name="Shape 23"/>
          <p:cNvSpPr/>
          <p:nvPr/>
        </p:nvSpPr>
        <p:spPr>
          <a:xfrm>
            <a:off x="9436608" y="2500884"/>
            <a:ext cx="614477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8" name="Shape 24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JOSÉ MARÍA PARRA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José María Parra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15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SDATOOL-51827 · 2026-54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Vulnerabilidades Java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 tareas · 3 al 100 % · 2 en riesgo · Asignación: Chema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4293108"/>
          </a:xfrm>
          <a:prstGeom prst="roundRect">
            <a:avLst>
              <a:gd name="adj" fmla="val 2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27 Jul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 Javas InHouse (batch): creación de bloques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 infraestructura (EARs, JBOSS, Workbench)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7889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834640"/>
            <a:ext cx="1124712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834640"/>
            <a:ext cx="1124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 · B1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2898648" y="28346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17 Ago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3931920" y="2862072"/>
            <a:ext cx="376732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Generación de pruebas unitarias: Javas InHouse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Mavenización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Adaptación Java InHouse (batch): JDK 17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Mitigación de vulnerabilidades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Generación de los casos de test de cobertura: Javas InHouse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872984" y="283464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8997696" y="283464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9436608" y="29123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436608" y="29123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88950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8346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62559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671316"/>
            <a:ext cx="1124712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671316"/>
            <a:ext cx="1124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 · B2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2898648" y="367131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 Sep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7872984" y="367131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8997696" y="367131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80 %</a:t>
            </a:r>
            <a:endParaRPr lang="en-US" sz="900" dirty="0"/>
          </a:p>
        </p:txBody>
      </p:sp>
      <p:sp>
        <p:nvSpPr>
          <p:cNvPr id="46" name="Shape 42"/>
          <p:cNvSpPr/>
          <p:nvPr/>
        </p:nvSpPr>
        <p:spPr>
          <a:xfrm>
            <a:off x="9436608" y="374904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7" name="Shape 43"/>
          <p:cNvSpPr/>
          <p:nvPr/>
        </p:nvSpPr>
        <p:spPr>
          <a:xfrm>
            <a:off x="9436608" y="3749040"/>
            <a:ext cx="614477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48" name="Shape 44"/>
          <p:cNvSpPr/>
          <p:nvPr/>
        </p:nvSpPr>
        <p:spPr>
          <a:xfrm>
            <a:off x="10351008" y="372618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10515600" y="367131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0" name="Shape 46"/>
          <p:cNvSpPr/>
          <p:nvPr/>
        </p:nvSpPr>
        <p:spPr>
          <a:xfrm>
            <a:off x="658368" y="3936492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722376" y="3982212"/>
            <a:ext cx="1124712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52" name="Text 48"/>
          <p:cNvSpPr txBox="1"/>
          <p:nvPr/>
        </p:nvSpPr>
        <p:spPr>
          <a:xfrm>
            <a:off x="722376" y="3982212"/>
            <a:ext cx="1124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 · B3</a:t>
            </a:r>
            <a:endParaRPr lang="en-US" sz="680" dirty="0"/>
          </a:p>
        </p:txBody>
      </p:sp>
      <p:sp>
        <p:nvSpPr>
          <p:cNvPr id="53" name="Text 49"/>
          <p:cNvSpPr txBox="1"/>
          <p:nvPr/>
        </p:nvSpPr>
        <p:spPr>
          <a:xfrm>
            <a:off x="2898648" y="3982212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19 Oct</a:t>
            </a:r>
            <a:endParaRPr lang="en-US" sz="900" dirty="0"/>
          </a:p>
        </p:txBody>
      </p:sp>
      <p:sp>
        <p:nvSpPr>
          <p:cNvPr id="54" name="Text 50"/>
          <p:cNvSpPr txBox="1"/>
          <p:nvPr/>
        </p:nvSpPr>
        <p:spPr>
          <a:xfrm>
            <a:off x="7872984" y="3982212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55" name="Text 51"/>
          <p:cNvSpPr txBox="1"/>
          <p:nvPr/>
        </p:nvSpPr>
        <p:spPr>
          <a:xfrm>
            <a:off x="8997696" y="3982212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20 %</a:t>
            </a:r>
            <a:endParaRPr lang="en-US" sz="900" dirty="0"/>
          </a:p>
        </p:txBody>
      </p:sp>
      <p:sp>
        <p:nvSpPr>
          <p:cNvPr id="56" name="Shape 52"/>
          <p:cNvSpPr/>
          <p:nvPr/>
        </p:nvSpPr>
        <p:spPr>
          <a:xfrm>
            <a:off x="9436608" y="405993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57" name="Shape 53"/>
          <p:cNvSpPr/>
          <p:nvPr/>
        </p:nvSpPr>
        <p:spPr>
          <a:xfrm>
            <a:off x="9436608" y="4059936"/>
            <a:ext cx="153619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8" name="Shape 54"/>
          <p:cNvSpPr/>
          <p:nvPr/>
        </p:nvSpPr>
        <p:spPr>
          <a:xfrm>
            <a:off x="10351008" y="4037076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59" name="Text 55"/>
          <p:cNvSpPr txBox="1"/>
          <p:nvPr/>
        </p:nvSpPr>
        <p:spPr>
          <a:xfrm>
            <a:off x="10515600" y="3982212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  <p:sp>
        <p:nvSpPr>
          <p:cNvPr id="60" name="Shape 56"/>
          <p:cNvSpPr/>
          <p:nvPr/>
        </p:nvSpPr>
        <p:spPr>
          <a:xfrm>
            <a:off x="658368" y="424738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722376" y="4293108"/>
            <a:ext cx="1634947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62" name="Text 58"/>
          <p:cNvSpPr txBox="1"/>
          <p:nvPr/>
        </p:nvSpPr>
        <p:spPr>
          <a:xfrm>
            <a:off x="722376" y="4293108"/>
            <a:ext cx="16349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· UNITARIAS · B1</a:t>
            </a:r>
            <a:endParaRPr lang="en-US" sz="680" dirty="0"/>
          </a:p>
        </p:txBody>
      </p:sp>
      <p:sp>
        <p:nvSpPr>
          <p:cNvPr id="63" name="Text 59"/>
          <p:cNvSpPr txBox="1"/>
          <p:nvPr/>
        </p:nvSpPr>
        <p:spPr>
          <a:xfrm>
            <a:off x="2898648" y="429310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24 Ago</a:t>
            </a:r>
            <a:endParaRPr lang="en-US" sz="900" dirty="0"/>
          </a:p>
        </p:txBody>
      </p:sp>
      <p:sp>
        <p:nvSpPr>
          <p:cNvPr id="64" name="Text 60"/>
          <p:cNvSpPr txBox="1"/>
          <p:nvPr/>
        </p:nvSpPr>
        <p:spPr>
          <a:xfrm>
            <a:off x="3931920" y="4320540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 (Java 17): Javas InHouse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 de cobertura</a:t>
            </a:r>
            <a:endParaRPr lang="en-US" sz="850" dirty="0"/>
          </a:p>
        </p:txBody>
      </p:sp>
      <p:sp>
        <p:nvSpPr>
          <p:cNvPr id="65" name="Text 61"/>
          <p:cNvSpPr txBox="1"/>
          <p:nvPr/>
        </p:nvSpPr>
        <p:spPr>
          <a:xfrm>
            <a:off x="7872984" y="429310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66" name="Text 62"/>
          <p:cNvSpPr txBox="1"/>
          <p:nvPr/>
        </p:nvSpPr>
        <p:spPr>
          <a:xfrm>
            <a:off x="8997696" y="429310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67" name="Shape 63"/>
          <p:cNvSpPr/>
          <p:nvPr/>
        </p:nvSpPr>
        <p:spPr>
          <a:xfrm>
            <a:off x="9436608" y="437083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8" name="Shape 64"/>
          <p:cNvSpPr/>
          <p:nvPr/>
        </p:nvSpPr>
        <p:spPr>
          <a:xfrm>
            <a:off x="9436608" y="437083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9" name="Shape 65"/>
          <p:cNvSpPr/>
          <p:nvPr/>
        </p:nvSpPr>
        <p:spPr>
          <a:xfrm>
            <a:off x="10351008" y="4347972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70" name="Text 66"/>
          <p:cNvSpPr txBox="1"/>
          <p:nvPr/>
        </p:nvSpPr>
        <p:spPr>
          <a:xfrm>
            <a:off x="10515600" y="429310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71" name="Shape 67"/>
          <p:cNvSpPr/>
          <p:nvPr/>
        </p:nvSpPr>
        <p:spPr>
          <a:xfrm>
            <a:off x="658368" y="465886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722376" y="4704588"/>
            <a:ext cx="1634947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73" name="Text 69"/>
          <p:cNvSpPr txBox="1"/>
          <p:nvPr/>
        </p:nvSpPr>
        <p:spPr>
          <a:xfrm>
            <a:off x="722376" y="4704588"/>
            <a:ext cx="16349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· UNITARIAS · B2</a:t>
            </a:r>
            <a:endParaRPr lang="en-US" sz="680" dirty="0"/>
          </a:p>
        </p:txBody>
      </p:sp>
      <p:sp>
        <p:nvSpPr>
          <p:cNvPr id="74" name="Text 70"/>
          <p:cNvSpPr txBox="1"/>
          <p:nvPr/>
        </p:nvSpPr>
        <p:spPr>
          <a:xfrm>
            <a:off x="2898648" y="470458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14 Sep</a:t>
            </a:r>
            <a:endParaRPr lang="en-US" sz="900" dirty="0"/>
          </a:p>
        </p:txBody>
      </p:sp>
      <p:sp>
        <p:nvSpPr>
          <p:cNvPr id="75" name="Text 71"/>
          <p:cNvSpPr txBox="1"/>
          <p:nvPr/>
        </p:nvSpPr>
        <p:spPr>
          <a:xfrm>
            <a:off x="7872984" y="470458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76" name="Text 72"/>
          <p:cNvSpPr txBox="1"/>
          <p:nvPr/>
        </p:nvSpPr>
        <p:spPr>
          <a:xfrm>
            <a:off x="8997696" y="470458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65 %</a:t>
            </a:r>
            <a:endParaRPr lang="en-US" sz="900" dirty="0"/>
          </a:p>
        </p:txBody>
      </p:sp>
      <p:sp>
        <p:nvSpPr>
          <p:cNvPr id="77" name="Shape 73"/>
          <p:cNvSpPr/>
          <p:nvPr/>
        </p:nvSpPr>
        <p:spPr>
          <a:xfrm>
            <a:off x="9436608" y="478231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8" name="Shape 74"/>
          <p:cNvSpPr/>
          <p:nvPr/>
        </p:nvSpPr>
        <p:spPr>
          <a:xfrm>
            <a:off x="9436608" y="4782312"/>
            <a:ext cx="499262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9" name="Shape 75"/>
          <p:cNvSpPr/>
          <p:nvPr/>
        </p:nvSpPr>
        <p:spPr>
          <a:xfrm>
            <a:off x="10351008" y="4759452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80" name="Text 76"/>
          <p:cNvSpPr txBox="1"/>
          <p:nvPr/>
        </p:nvSpPr>
        <p:spPr>
          <a:xfrm>
            <a:off x="10515600" y="470458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81" name="Shape 77"/>
          <p:cNvSpPr/>
          <p:nvPr/>
        </p:nvSpPr>
        <p:spPr>
          <a:xfrm>
            <a:off x="658368" y="4969764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722376" y="5015484"/>
            <a:ext cx="1634947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83" name="Text 79"/>
          <p:cNvSpPr txBox="1"/>
          <p:nvPr/>
        </p:nvSpPr>
        <p:spPr>
          <a:xfrm>
            <a:off x="722376" y="5015484"/>
            <a:ext cx="16349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· UNITARIAS · B3</a:t>
            </a:r>
            <a:endParaRPr lang="en-US" sz="680" dirty="0"/>
          </a:p>
        </p:txBody>
      </p:sp>
      <p:sp>
        <p:nvSpPr>
          <p:cNvPr id="84" name="Text 80"/>
          <p:cNvSpPr txBox="1"/>
          <p:nvPr/>
        </p:nvSpPr>
        <p:spPr>
          <a:xfrm>
            <a:off x="2898648" y="5015484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19 Oct</a:t>
            </a:r>
            <a:endParaRPr lang="en-US" sz="900" dirty="0"/>
          </a:p>
        </p:txBody>
      </p:sp>
      <p:sp>
        <p:nvSpPr>
          <p:cNvPr id="85" name="Text 81"/>
          <p:cNvSpPr txBox="1"/>
          <p:nvPr/>
        </p:nvSpPr>
        <p:spPr>
          <a:xfrm>
            <a:off x="7872984" y="5015484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86" name="Text 82"/>
          <p:cNvSpPr txBox="1"/>
          <p:nvPr/>
        </p:nvSpPr>
        <p:spPr>
          <a:xfrm>
            <a:off x="8997696" y="5015484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10 %</a:t>
            </a:r>
            <a:endParaRPr lang="en-US" sz="900" dirty="0"/>
          </a:p>
        </p:txBody>
      </p:sp>
      <p:sp>
        <p:nvSpPr>
          <p:cNvPr id="87" name="Shape 83"/>
          <p:cNvSpPr/>
          <p:nvPr/>
        </p:nvSpPr>
        <p:spPr>
          <a:xfrm>
            <a:off x="9436608" y="5093208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88" name="Shape 84"/>
          <p:cNvSpPr/>
          <p:nvPr/>
        </p:nvSpPr>
        <p:spPr>
          <a:xfrm>
            <a:off x="9436608" y="5093208"/>
            <a:ext cx="76810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89" name="Shape 85"/>
          <p:cNvSpPr/>
          <p:nvPr/>
        </p:nvSpPr>
        <p:spPr>
          <a:xfrm>
            <a:off x="10351008" y="5070348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90" name="Text 86"/>
          <p:cNvSpPr txBox="1"/>
          <p:nvPr/>
        </p:nvSpPr>
        <p:spPr>
          <a:xfrm>
            <a:off x="10515600" y="5015484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  <p:sp>
        <p:nvSpPr>
          <p:cNvPr id="91" name="Shape 87"/>
          <p:cNvSpPr/>
          <p:nvPr/>
        </p:nvSpPr>
        <p:spPr>
          <a:xfrm>
            <a:off x="658368" y="528066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>
            <a:off x="722376" y="5326380"/>
            <a:ext cx="1238098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93" name="Text 89"/>
          <p:cNvSpPr txBox="1"/>
          <p:nvPr/>
        </p:nvSpPr>
        <p:spPr>
          <a:xfrm>
            <a:off x="722376" y="5326380"/>
            <a:ext cx="1238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· B1</a:t>
            </a:r>
            <a:endParaRPr lang="en-US" sz="680" dirty="0"/>
          </a:p>
        </p:txBody>
      </p:sp>
      <p:sp>
        <p:nvSpPr>
          <p:cNvPr id="94" name="Text 90"/>
          <p:cNvSpPr txBox="1"/>
          <p:nvPr/>
        </p:nvSpPr>
        <p:spPr>
          <a:xfrm>
            <a:off x="2898648" y="532638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26 Sep</a:t>
            </a:r>
            <a:endParaRPr lang="en-US" sz="900" dirty="0"/>
          </a:p>
        </p:txBody>
      </p:sp>
      <p:sp>
        <p:nvSpPr>
          <p:cNvPr id="95" name="Text 91"/>
          <p:cNvSpPr txBox="1"/>
          <p:nvPr/>
        </p:nvSpPr>
        <p:spPr>
          <a:xfrm>
            <a:off x="3931920" y="535381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850" dirty="0"/>
          </a:p>
        </p:txBody>
      </p:sp>
      <p:sp>
        <p:nvSpPr>
          <p:cNvPr id="96" name="Text 92"/>
          <p:cNvSpPr txBox="1"/>
          <p:nvPr/>
        </p:nvSpPr>
        <p:spPr>
          <a:xfrm>
            <a:off x="7872984" y="532638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97" name="Text 93"/>
          <p:cNvSpPr txBox="1"/>
          <p:nvPr/>
        </p:nvSpPr>
        <p:spPr>
          <a:xfrm>
            <a:off x="8997696" y="532638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98" name="Shape 94"/>
          <p:cNvSpPr/>
          <p:nvPr/>
        </p:nvSpPr>
        <p:spPr>
          <a:xfrm>
            <a:off x="9436608" y="54041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99" name="Shape 95"/>
          <p:cNvSpPr/>
          <p:nvPr/>
        </p:nvSpPr>
        <p:spPr>
          <a:xfrm>
            <a:off x="10351008" y="5381244"/>
            <a:ext cx="109728" cy="109728"/>
          </a:xfrm>
          <a:prstGeom prst="ellipse">
            <a:avLst/>
          </a:prstGeom>
          <a:solidFill>
            <a:srgbClr val="FFB56B"/>
          </a:solidFill>
          <a:ln/>
        </p:spPr>
      </p:sp>
      <p:sp>
        <p:nvSpPr>
          <p:cNvPr id="100" name="Text 96"/>
          <p:cNvSpPr txBox="1"/>
          <p:nvPr/>
        </p:nvSpPr>
        <p:spPr>
          <a:xfrm>
            <a:off x="10515600" y="532638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riesgo</a:t>
            </a:r>
            <a:endParaRPr lang="en-US" sz="850" dirty="0"/>
          </a:p>
        </p:txBody>
      </p:sp>
      <p:sp>
        <p:nvSpPr>
          <p:cNvPr id="101" name="Shape 97"/>
          <p:cNvSpPr/>
          <p:nvPr/>
        </p:nvSpPr>
        <p:spPr>
          <a:xfrm>
            <a:off x="658368" y="559155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722376" y="5637276"/>
            <a:ext cx="1238098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103" name="Text 99"/>
          <p:cNvSpPr txBox="1"/>
          <p:nvPr/>
        </p:nvSpPr>
        <p:spPr>
          <a:xfrm>
            <a:off x="722376" y="5637276"/>
            <a:ext cx="1238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· B2</a:t>
            </a:r>
            <a:endParaRPr lang="en-US" sz="680" dirty="0"/>
          </a:p>
        </p:txBody>
      </p:sp>
      <p:sp>
        <p:nvSpPr>
          <p:cNvPr id="104" name="Text 100"/>
          <p:cNvSpPr txBox="1"/>
          <p:nvPr/>
        </p:nvSpPr>
        <p:spPr>
          <a:xfrm>
            <a:off x="2898648" y="563727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 Oct</a:t>
            </a:r>
            <a:endParaRPr lang="en-US" sz="900" dirty="0"/>
          </a:p>
        </p:txBody>
      </p:sp>
      <p:sp>
        <p:nvSpPr>
          <p:cNvPr id="105" name="Text 101"/>
          <p:cNvSpPr txBox="1"/>
          <p:nvPr/>
        </p:nvSpPr>
        <p:spPr>
          <a:xfrm>
            <a:off x="7872984" y="563727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106" name="Text 102"/>
          <p:cNvSpPr txBox="1"/>
          <p:nvPr/>
        </p:nvSpPr>
        <p:spPr>
          <a:xfrm>
            <a:off x="8997696" y="563727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107" name="Shape 103"/>
          <p:cNvSpPr/>
          <p:nvPr/>
        </p:nvSpPr>
        <p:spPr>
          <a:xfrm>
            <a:off x="9436608" y="571500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108" name="Shape 104"/>
          <p:cNvSpPr/>
          <p:nvPr/>
        </p:nvSpPr>
        <p:spPr>
          <a:xfrm>
            <a:off x="10351008" y="5692140"/>
            <a:ext cx="109728" cy="109728"/>
          </a:xfrm>
          <a:prstGeom prst="ellipse">
            <a:avLst/>
          </a:prstGeom>
          <a:solidFill>
            <a:srgbClr val="FFB56B"/>
          </a:solidFill>
          <a:ln/>
        </p:spPr>
      </p:sp>
      <p:sp>
        <p:nvSpPr>
          <p:cNvPr id="109" name="Text 105"/>
          <p:cNvSpPr txBox="1"/>
          <p:nvPr/>
        </p:nvSpPr>
        <p:spPr>
          <a:xfrm>
            <a:off x="10515600" y="563727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riesgo</a:t>
            </a:r>
            <a:endParaRPr lang="en-US" sz="850" dirty="0"/>
          </a:p>
        </p:txBody>
      </p:sp>
      <p:sp>
        <p:nvSpPr>
          <p:cNvPr id="110" name="Shape 106"/>
          <p:cNvSpPr/>
          <p:nvPr/>
        </p:nvSpPr>
        <p:spPr>
          <a:xfrm>
            <a:off x="658368" y="5902452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722376" y="5948172"/>
            <a:ext cx="1238098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112" name="Text 108"/>
          <p:cNvSpPr txBox="1"/>
          <p:nvPr/>
        </p:nvSpPr>
        <p:spPr>
          <a:xfrm>
            <a:off x="722376" y="5948172"/>
            <a:ext cx="1238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· B3</a:t>
            </a:r>
            <a:endParaRPr lang="en-US" sz="680" dirty="0"/>
          </a:p>
        </p:txBody>
      </p:sp>
      <p:sp>
        <p:nvSpPr>
          <p:cNvPr id="113" name="Text 109"/>
          <p:cNvSpPr txBox="1"/>
          <p:nvPr/>
        </p:nvSpPr>
        <p:spPr>
          <a:xfrm>
            <a:off x="2898648" y="5948172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 Nov</a:t>
            </a:r>
            <a:endParaRPr lang="en-US" sz="900" dirty="0"/>
          </a:p>
        </p:txBody>
      </p:sp>
      <p:sp>
        <p:nvSpPr>
          <p:cNvPr id="114" name="Text 110"/>
          <p:cNvSpPr txBox="1"/>
          <p:nvPr/>
        </p:nvSpPr>
        <p:spPr>
          <a:xfrm>
            <a:off x="7872984" y="5948172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115" name="Text 111"/>
          <p:cNvSpPr txBox="1"/>
          <p:nvPr/>
        </p:nvSpPr>
        <p:spPr>
          <a:xfrm>
            <a:off x="8997696" y="5948172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116" name="Shape 112"/>
          <p:cNvSpPr/>
          <p:nvPr/>
        </p:nvSpPr>
        <p:spPr>
          <a:xfrm>
            <a:off x="9436608" y="602589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117" name="Shape 113"/>
          <p:cNvSpPr/>
          <p:nvPr/>
        </p:nvSpPr>
        <p:spPr>
          <a:xfrm>
            <a:off x="10351008" y="6003036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118" name="Text 114"/>
          <p:cNvSpPr txBox="1"/>
          <p:nvPr/>
        </p:nvSpPr>
        <p:spPr>
          <a:xfrm>
            <a:off x="10515600" y="5948172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85C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10896"/>
            <a:ext cx="1234440" cy="3749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2651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BLOQUE 03 · COORDINACIÓN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2990088"/>
            <a:ext cx="105156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Incidencias</a:t>
            </a:r>
            <a:endParaRPr lang="en-US" sz="44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y traspasos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4714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Incidencias abiertas, tareas pendientes y traspasos entre responsables pendientes de cerrar.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03 · Incidencias y traspasos</a:t>
            </a:r>
            <a:endParaRPr lang="en-US" sz="8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16 / 21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03 · INCIDENCIAS Y TRASPASOS   INCIDENCIAS Y TAREAS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03 · Incidencias y traspasos — Incidencias y tareas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17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87552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Incidencias y tareas abiertas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453896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Una incidencia en Strategic Boost y dos tareas abiertas o pendientes.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502920" y="1801368"/>
            <a:ext cx="3557016" cy="3300984"/>
          </a:xfrm>
          <a:prstGeom prst="roundRect">
            <a:avLst>
              <a:gd name="adj" fmla="val 33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22376" y="2002536"/>
            <a:ext cx="857922" cy="237744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22376" y="2002536"/>
            <a:ext cx="8579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INCIDENCIA</a:t>
            </a:r>
            <a:endParaRPr lang="en-US" sz="7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2359152"/>
            <a:ext cx="384048" cy="38404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2376" y="2834640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Strategic Boost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722376" y="3172968"/>
            <a:ext cx="3118104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Duplicados en ISSR, en el alta automática de emisores</a:t>
            </a:r>
            <a:endParaRPr lang="en-US" sz="950" dirty="0"/>
          </a:p>
          <a:p>
            <a:pPr algn="l"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Error en el proceso si el usuario deja vacío el Legal Regime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4315968" y="1801368"/>
            <a:ext cx="3557016" cy="3300984"/>
          </a:xfrm>
          <a:prstGeom prst="roundRect">
            <a:avLst>
              <a:gd name="adj" fmla="val 33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4535424" y="2002536"/>
            <a:ext cx="1266444" cy="237744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4535424" y="2002536"/>
            <a:ext cx="12664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 · EN RIESGO</a:t>
            </a:r>
            <a:endParaRPr lang="en-US" sz="7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5424" y="2359152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535424" y="2834640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2024-57</a:t>
            </a:r>
            <a:endParaRPr lang="en-US" sz="1350" dirty="0"/>
          </a:p>
        </p:txBody>
      </p:sp>
      <p:sp>
        <p:nvSpPr>
          <p:cNvPr id="20" name="Text 14"/>
          <p:cNvSpPr txBox="1"/>
          <p:nvPr/>
        </p:nvSpPr>
        <p:spPr>
          <a:xfrm>
            <a:off x="4535424" y="3172968"/>
            <a:ext cx="3118104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Eliminar columnas no utilizadas FT_T_RLA1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8129016" y="1801368"/>
            <a:ext cx="3557016" cy="3300984"/>
          </a:xfrm>
          <a:prstGeom prst="roundRect">
            <a:avLst>
              <a:gd name="adj" fmla="val 33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8348472" y="2002536"/>
            <a:ext cx="1208084" cy="237744"/>
          </a:xfrm>
          <a:prstGeom prst="roundRect">
            <a:avLst>
              <a:gd name="adj" fmla="val 50000"/>
            </a:avLst>
          </a:prstGeom>
          <a:solidFill>
            <a:srgbClr val="88E783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8348472" y="2002536"/>
            <a:ext cx="1208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 · EN PLAZO</a:t>
            </a:r>
            <a:endParaRPr lang="en-US" sz="7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8472" y="2359152"/>
            <a:ext cx="384048" cy="38404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348472" y="2834640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Migración Midas FX</a:t>
            </a:r>
            <a:endParaRPr lang="en-US" sz="1350" dirty="0"/>
          </a:p>
        </p:txBody>
      </p:sp>
      <p:sp>
        <p:nvSpPr>
          <p:cNvPr id="26" name="Text 19"/>
          <p:cNvSpPr txBox="1"/>
          <p:nvPr/>
        </p:nvSpPr>
        <p:spPr>
          <a:xfrm>
            <a:off x="8348472" y="3172968"/>
            <a:ext cx="3118104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Volcado de BBDD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03 · INCIDENCIAS Y TRASPASOS   TRASPASOS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03 · Incidencias y traspasos — Traspasos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18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87552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Traspasos pendientes de cerrar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453896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Cuatro proyectos traspasados; tres esperan el OK de usuario y uno la implantación.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502920" y="1801368"/>
            <a:ext cx="11183112" cy="2505456"/>
          </a:xfrm>
          <a:prstGeom prst="roundRect">
            <a:avLst>
              <a:gd name="adj" fmla="val 43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02920" y="1801368"/>
            <a:ext cx="11183112" cy="365760"/>
          </a:xfrm>
          <a:prstGeom prst="roundRect">
            <a:avLst>
              <a:gd name="adj" fmla="val 30000"/>
            </a:avLst>
          </a:prstGeom>
          <a:solidFill>
            <a:srgbClr val="E2E6EA"/>
          </a:solidFill>
          <a:ln/>
        </p:spPr>
      </p:sp>
      <p:sp>
        <p:nvSpPr>
          <p:cNvPr id="11" name="Shape 7"/>
          <p:cNvSpPr/>
          <p:nvPr/>
        </p:nvSpPr>
        <p:spPr>
          <a:xfrm>
            <a:off x="502920" y="1984248"/>
            <a:ext cx="11183112" cy="182880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22376" y="180136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CÓDIGO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1956816" y="1801368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PROYECTO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5084064" y="1801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RESPONSABLE INTERNO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7150608" y="1801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RESPONSABLE NFQ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9208008" y="1801368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PENDIENTE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722376" y="2313432"/>
            <a:ext cx="694944" cy="246888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22376" y="2313432"/>
            <a:ext cx="6949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2025-61</a:t>
            </a:r>
            <a:endParaRPr lang="en-US" sz="750" dirty="0"/>
          </a:p>
        </p:txBody>
      </p:sp>
      <p:sp>
        <p:nvSpPr>
          <p:cNvPr id="19" name="Text 15"/>
          <p:cNvSpPr txBox="1"/>
          <p:nvPr/>
        </p:nvSpPr>
        <p:spPr>
          <a:xfrm>
            <a:off x="1956816" y="2359152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Supply Chain Finance - Contrapartidas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5084064" y="235915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Alejandro Romero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7150608" y="235915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Ángela Montero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9208008" y="2359152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Falta OK usuario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58368" y="273405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22376" y="2825496"/>
            <a:ext cx="694944" cy="246888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22376" y="2825496"/>
            <a:ext cx="6949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2026-21</a:t>
            </a:r>
            <a:endParaRPr lang="en-US" sz="750" dirty="0"/>
          </a:p>
        </p:txBody>
      </p:sp>
      <p:sp>
        <p:nvSpPr>
          <p:cNvPr id="26" name="Text 22"/>
          <p:cNvSpPr txBox="1"/>
          <p:nvPr/>
        </p:nvSpPr>
        <p:spPr>
          <a:xfrm>
            <a:off x="1956816" y="2871216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Cargador Thirdparties</a:t>
            </a:r>
            <a:endParaRPr lang="en-US" sz="950" dirty="0"/>
          </a:p>
        </p:txBody>
      </p:sp>
      <p:sp>
        <p:nvSpPr>
          <p:cNvPr id="27" name="Text 23"/>
          <p:cNvSpPr txBox="1"/>
          <p:nvPr/>
        </p:nvSpPr>
        <p:spPr>
          <a:xfrm>
            <a:off x="5084064" y="287121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Lucía Garrido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7150608" y="287121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 Trujillano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9208008" y="2871216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Falta implantación GoLive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58368" y="32461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22376" y="3337560"/>
            <a:ext cx="694944" cy="246888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22376" y="3337560"/>
            <a:ext cx="6949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2026-23</a:t>
            </a:r>
            <a:endParaRPr lang="en-US" sz="750" dirty="0"/>
          </a:p>
        </p:txBody>
      </p:sp>
      <p:sp>
        <p:nvSpPr>
          <p:cNvPr id="33" name="Text 29"/>
          <p:cNvSpPr txBox="1"/>
          <p:nvPr/>
        </p:nvSpPr>
        <p:spPr>
          <a:xfrm>
            <a:off x="1956816" y="3383280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Cargador Fondos</a:t>
            </a:r>
            <a:endParaRPr lang="en-US" sz="950" dirty="0"/>
          </a:p>
        </p:txBody>
      </p:sp>
      <p:sp>
        <p:nvSpPr>
          <p:cNvPr id="34" name="Text 30"/>
          <p:cNvSpPr txBox="1"/>
          <p:nvPr/>
        </p:nvSpPr>
        <p:spPr>
          <a:xfrm>
            <a:off x="5084064" y="33832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Lucía Garrido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7150608" y="33832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Jesús Tejada</a:t>
            </a:r>
            <a:endParaRPr lang="en-US" sz="950" dirty="0"/>
          </a:p>
        </p:txBody>
      </p:sp>
      <p:sp>
        <p:nvSpPr>
          <p:cNvPr id="36" name="Text 32"/>
          <p:cNvSpPr txBox="1"/>
          <p:nvPr/>
        </p:nvSpPr>
        <p:spPr>
          <a:xfrm>
            <a:off x="9208008" y="3383280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Falta OK usuario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658368" y="3758184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22376" y="3849624"/>
            <a:ext cx="694944" cy="246888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722376" y="3849624"/>
            <a:ext cx="6949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2026-49</a:t>
            </a:r>
            <a:endParaRPr lang="en-US" sz="750" dirty="0"/>
          </a:p>
        </p:txBody>
      </p:sp>
      <p:sp>
        <p:nvSpPr>
          <p:cNvPr id="40" name="Text 36"/>
          <p:cNvSpPr txBox="1"/>
          <p:nvPr/>
        </p:nvSpPr>
        <p:spPr>
          <a:xfrm>
            <a:off x="1956816" y="3895344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Legal Agreements CLS</a:t>
            </a:r>
            <a:endParaRPr lang="en-US" sz="950" dirty="0"/>
          </a:p>
        </p:txBody>
      </p:sp>
      <p:sp>
        <p:nvSpPr>
          <p:cNvPr id="41" name="Text 37"/>
          <p:cNvSpPr txBox="1"/>
          <p:nvPr/>
        </p:nvSpPr>
        <p:spPr>
          <a:xfrm>
            <a:off x="5084064" y="389534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Lucía Garrido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7150608" y="389534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 Trujillano</a:t>
            </a:r>
            <a:endParaRPr lang="en-US" sz="950" dirty="0"/>
          </a:p>
        </p:txBody>
      </p:sp>
      <p:sp>
        <p:nvSpPr>
          <p:cNvPr id="43" name="Text 39"/>
          <p:cNvSpPr txBox="1"/>
          <p:nvPr/>
        </p:nvSpPr>
        <p:spPr>
          <a:xfrm>
            <a:off x="9208008" y="3895344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Falta OK usuario / OK destino</a:t>
            </a:r>
            <a:endParaRPr lang="en-US" sz="950" dirty="0"/>
          </a:p>
        </p:txBody>
      </p:sp>
      <p:sp>
        <p:nvSpPr>
          <p:cNvPr id="44" name="Text 40"/>
          <p:cNvSpPr txBox="1"/>
          <p:nvPr/>
        </p:nvSpPr>
        <p:spPr>
          <a:xfrm>
            <a:off x="502920" y="4489704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Color del código: Canary, falta el OK de usuario (pruebas); Mandarin, falta la implantación.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13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SEGUIMIENTO RDR   CIFRAS CLAVE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Resumen · Cifras clave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19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87552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7F8F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Cifras clave</a:t>
            </a:r>
            <a:endParaRPr lang="en-US" sz="2600" dirty="0"/>
          </a:p>
        </p:txBody>
      </p:sp>
      <p:sp>
        <p:nvSpPr>
          <p:cNvPr id="8" name="Shape 4"/>
          <p:cNvSpPr/>
          <p:nvPr/>
        </p:nvSpPr>
        <p:spPr>
          <a:xfrm>
            <a:off x="502920" y="180136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202082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10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253288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proyectos en seguimiento con seis responsables internos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2783434" y="180136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966314" y="202082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54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2966314" y="253288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tareas con fecha límite y avance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5063947" y="180136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246827" y="202082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34</a:t>
            </a:r>
            <a:endParaRPr lang="en-US" sz="2000" dirty="0"/>
          </a:p>
        </p:txBody>
      </p:sp>
      <p:sp>
        <p:nvSpPr>
          <p:cNvPr id="16" name="Text 12"/>
          <p:cNvSpPr txBox="1"/>
          <p:nvPr/>
        </p:nvSpPr>
        <p:spPr>
          <a:xfrm>
            <a:off x="5246827" y="253288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tareas completadas al 100 %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7344461" y="180136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527341" y="202082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5"/>
          <p:cNvSpPr txBox="1"/>
          <p:nvPr/>
        </p:nvSpPr>
        <p:spPr>
          <a:xfrm>
            <a:off x="7527341" y="253288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tareas en riesgo: Cargador Thirdparties y Vulnerabilidades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9624974" y="180136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9807854" y="202082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18"/>
          <p:cNvSpPr txBox="1"/>
          <p:nvPr/>
        </p:nvSpPr>
        <p:spPr>
          <a:xfrm>
            <a:off x="9807854" y="253288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implantaciones en los próximos 30 días: Security Lending, BSI 2.0, Eventos Corporativos…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502920" y="390448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41239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685800" y="463600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incidencia abierta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2783434" y="390448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2966314" y="41239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2966314" y="463600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tareas abiertas o pendientes de coordinación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5063947" y="390448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46827" y="41239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Text 27"/>
          <p:cNvSpPr txBox="1"/>
          <p:nvPr/>
        </p:nvSpPr>
        <p:spPr>
          <a:xfrm>
            <a:off x="5246827" y="463600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traspasos pendientes de OK de usuario o de implantación</a:t>
            </a:r>
            <a:endParaRPr lang="en-US" sz="900" dirty="0"/>
          </a:p>
        </p:txBody>
      </p:sp>
      <p:sp>
        <p:nvSpPr>
          <p:cNvPr id="32" name="Shape 28"/>
          <p:cNvSpPr/>
          <p:nvPr/>
        </p:nvSpPr>
        <p:spPr>
          <a:xfrm>
            <a:off x="7344461" y="390448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7527341" y="41239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79 %</a:t>
            </a:r>
            <a:endParaRPr lang="en-US" sz="2000" dirty="0"/>
          </a:p>
        </p:txBody>
      </p:sp>
      <p:sp>
        <p:nvSpPr>
          <p:cNvPr id="34" name="Text 30"/>
          <p:cNvSpPr txBox="1"/>
          <p:nvPr/>
        </p:nvSpPr>
        <p:spPr>
          <a:xfrm>
            <a:off x="7527341" y="463600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 medio de las tareas en seguimiento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9624974" y="390448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9807854" y="41239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5</a:t>
            </a:r>
            <a:endParaRPr lang="en-US" sz="2000" dirty="0"/>
          </a:p>
        </p:txBody>
      </p:sp>
      <p:sp>
        <p:nvSpPr>
          <p:cNvPr id="37" name="Text 33"/>
          <p:cNvSpPr txBox="1"/>
          <p:nvPr/>
        </p:nvSpPr>
        <p:spPr>
          <a:xfrm>
            <a:off x="9807854" y="463600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tareas con la fecha límite superada sin cerrar: Cargador Thirdparties y Vulnerabilidades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13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8568" y="2487168"/>
            <a:ext cx="2194560" cy="6583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36118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GRACIAS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0" y="3904488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Seguimiento RDR Global 2026 · 28 de septiembre de 2026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4617720" y="5687568"/>
            <a:ext cx="1371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HECHO POR</a:t>
            </a:r>
            <a:endParaRPr lang="en-US" sz="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5687568"/>
            <a:ext cx="64008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SEGUIMIENTO RDR   ANEXO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Seguimiento RDR · Anexo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21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SDATOOL-34546 · 2026-39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Institucional Clientes · E-Clients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5 tareas · 5 al 100 % · Asignación: Marta y Pilar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2496312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 Feb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Planificación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Alcance funcional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Pilar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7889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834640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834640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2898648" y="28346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13 Feb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3931920" y="286207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Inclusión de los alias en el Servicio de Inactivaciones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872984" y="283464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Pilar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8997696" y="283464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9436608" y="29123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436608" y="29123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88950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8346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09981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145536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145536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722376" y="3410712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2898648" y="314553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13 Mar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3931920" y="3172968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7872984" y="314553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Pilar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8997696" y="314553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9436608" y="322326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9" name="Shape 45"/>
          <p:cNvSpPr/>
          <p:nvPr/>
        </p:nvSpPr>
        <p:spPr>
          <a:xfrm>
            <a:off x="9436608" y="322326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0" name="Shape 46"/>
          <p:cNvSpPr/>
          <p:nvPr/>
        </p:nvSpPr>
        <p:spPr>
          <a:xfrm>
            <a:off x="10351008" y="320040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1" name="Text 47"/>
          <p:cNvSpPr txBox="1"/>
          <p:nvPr/>
        </p:nvSpPr>
        <p:spPr>
          <a:xfrm>
            <a:off x="10515600" y="314553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2" name="Shape 48"/>
          <p:cNvSpPr/>
          <p:nvPr/>
        </p:nvSpPr>
        <p:spPr>
          <a:xfrm>
            <a:off x="658368" y="360273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722376" y="3648456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722376" y="3648456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55" name="Text 51"/>
          <p:cNvSpPr txBox="1"/>
          <p:nvPr/>
        </p:nvSpPr>
        <p:spPr>
          <a:xfrm>
            <a:off x="722376" y="3913632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2898648" y="364845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27 Mar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3931920" y="3675888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 con E-Clients</a:t>
            </a:r>
            <a:endParaRPr lang="en-US" sz="850" dirty="0"/>
          </a:p>
        </p:txBody>
      </p:sp>
      <p:sp>
        <p:nvSpPr>
          <p:cNvPr id="58" name="Text 54"/>
          <p:cNvSpPr txBox="1"/>
          <p:nvPr/>
        </p:nvSpPr>
        <p:spPr>
          <a:xfrm>
            <a:off x="7872984" y="364845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59" name="Text 55"/>
          <p:cNvSpPr txBox="1"/>
          <p:nvPr/>
        </p:nvSpPr>
        <p:spPr>
          <a:xfrm>
            <a:off x="8997696" y="364845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60" name="Shape 56"/>
          <p:cNvSpPr/>
          <p:nvPr/>
        </p:nvSpPr>
        <p:spPr>
          <a:xfrm>
            <a:off x="9436608" y="37261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1" name="Shape 57"/>
          <p:cNvSpPr/>
          <p:nvPr/>
        </p:nvSpPr>
        <p:spPr>
          <a:xfrm>
            <a:off x="9436608" y="37261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2" name="Shape 58"/>
          <p:cNvSpPr/>
          <p:nvPr/>
        </p:nvSpPr>
        <p:spPr>
          <a:xfrm>
            <a:off x="10351008" y="370332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10515600" y="36484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64" name="Shape 60"/>
          <p:cNvSpPr/>
          <p:nvPr/>
        </p:nvSpPr>
        <p:spPr>
          <a:xfrm>
            <a:off x="658368" y="410565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722376" y="4151376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722376" y="4151376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67" name="Text 63"/>
          <p:cNvSpPr txBox="1"/>
          <p:nvPr/>
        </p:nvSpPr>
        <p:spPr>
          <a:xfrm>
            <a:off x="2898648" y="415137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11 Jul</a:t>
            </a:r>
            <a:endParaRPr lang="en-US" sz="900" dirty="0"/>
          </a:p>
        </p:txBody>
      </p:sp>
      <p:sp>
        <p:nvSpPr>
          <p:cNvPr id="68" name="Text 64"/>
          <p:cNvSpPr txBox="1"/>
          <p:nvPr/>
        </p:nvSpPr>
        <p:spPr>
          <a:xfrm>
            <a:off x="3931920" y="4178808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en producción</a:t>
            </a:r>
            <a:endParaRPr lang="en-US" sz="850" dirty="0"/>
          </a:p>
        </p:txBody>
      </p:sp>
      <p:sp>
        <p:nvSpPr>
          <p:cNvPr id="69" name="Text 65"/>
          <p:cNvSpPr txBox="1"/>
          <p:nvPr/>
        </p:nvSpPr>
        <p:spPr>
          <a:xfrm>
            <a:off x="7872984" y="415137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70" name="Text 66"/>
          <p:cNvSpPr txBox="1"/>
          <p:nvPr/>
        </p:nvSpPr>
        <p:spPr>
          <a:xfrm>
            <a:off x="8997696" y="415137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71" name="Shape 67"/>
          <p:cNvSpPr/>
          <p:nvPr/>
        </p:nvSpPr>
        <p:spPr>
          <a:xfrm>
            <a:off x="9436608" y="422910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2" name="Shape 68"/>
          <p:cNvSpPr/>
          <p:nvPr/>
        </p:nvSpPr>
        <p:spPr>
          <a:xfrm>
            <a:off x="9436608" y="422910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3" name="Shape 69"/>
          <p:cNvSpPr/>
          <p:nvPr/>
        </p:nvSpPr>
        <p:spPr>
          <a:xfrm>
            <a:off x="10351008" y="420624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74" name="Text 70"/>
          <p:cNvSpPr txBox="1"/>
          <p:nvPr/>
        </p:nvSpPr>
        <p:spPr>
          <a:xfrm>
            <a:off x="10515600" y="415137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a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NFQ Advisory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Seguimiento RDR · 28 de septiembre de 2026</dc:title>
  <dc:subject>PptxGenJS Presentation</dc:subject>
  <dc:creator>NFQ Advisory Services</dc:creator>
  <cp:lastModifiedBy>NFQ Advisory Services</cp:lastModifiedBy>
  <cp:revision>1</cp:revision>
  <dcterms:created xsi:type="dcterms:W3CDTF">2026-10-03T10:23:14Z</dcterms:created>
  <dcterms:modified xsi:type="dcterms:W3CDTF">2026-10-03T10:23:14Z</dcterms:modified>
</cp:coreProperties>
</file>