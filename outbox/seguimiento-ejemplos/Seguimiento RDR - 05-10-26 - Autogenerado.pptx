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 del equipo RDR a 5 de octubre de 2026: 11 proyectos, 64 tareas, 5 incidencias o tareas abiertas y 6 traspasos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bloques: planificación del equipo, seguimiento de proyectos e incidencias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1: planificación del equipo por responsable interno.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Planificación por responsable (julio – octubre 2026), derivada de las fechas límite de cada tarea. Las tareas sin iniciar con fecha por trimestre aparecen en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2: 11 proyectos y 64 tareas; 41 al 100 % y 3 en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Migración Operaciones (SDATOOL-51125 · 2025-51). 6 tareas · 4 al 100 % · Asignación: Marta. Pendiente: Soporte pruebas (Q3, 95 %, en plazo); Implantación a producción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Cargador Thirdparties (SDATOOL-51125 · 2026-21). 5 tareas · 4 al 100 % · Asignación: Marta. Pendiente: implantación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Agreements CLS BBVA México (SDATOOL-51125 · 2026-49). 7 tareas · 7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Lending Undisclosed · Validaciones (SDATOOL-38779 · 2026-52). 4 tareas · 3 al 100 % · Asignación: Pablo y Marta. Pendiente: implantación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BSI 2.0 (SDATOOL-49629 · 2026-50). 3 tareas · 0 al 100 % · Asignación: Pablo y Marta. Pendiente: análisis (Q3, — %, en plazo); Soporte a pruebas (Q3, — %, en plazo); Ventana Legal Agreements BSI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Automatización Emisiones RV (SDATOOL-42226 · 2026-46). 6 tareas · 5 al 100 % · Asignación: Pablo. Pendiente: soporte (Q3, —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Brasil · Adaptación de contrapartidas y liquidaciones (SDATOOL-55461 · 2026-58). 10 tareas · 2 al 100 % · 1 en riesgo · Asignación: Chema y Pablo. Pendiente: Alta y mantenimiento (2 Oct, 85 %, en curso); Instrucciones de liquidación (16 Oct, 40 %, en riesgo); Ficheros de salida (16 Oct, 30 %, en curso); Pruebas unitarias (23 Oct, 10 %, en curso); Pruebas integradas (6 Nov, 0 %, sin iniciar); Pruebas de usuario (20 Nov, 0 %, sin iniciar); Implantación en producción (Q4, 0 %, sin iniciar); Soporte post GoLive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Brasil · Adaptación de contrapartidas y liquidaciones (SDATOOL-55461 · 2026-58). 10 tareas · 2 al 100 % · 1 en riesgo · Asignación: Chema y Pablo. Pendiente: Alta y mantenimiento (2 Oct, 85 %, en curso); Instrucciones de liquidación (16 Oct, 40 %, en riesgo); Ficheros de salida (16 Oct, 30 %, en curso); Pruebas unitarias (23 Oct, 10 %, en curso); Pruebas integradas (6 Nov, 0 %, sin iniciar); Pruebas de usuario (20 Nov, 0 %, sin iniciar); Implantación en producción (Q4, 0 %, sin iniciar); Soporte post GoLive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Calypso OTC Madrid Fase V (SDATOOL-34546 · 2025). 6 tareas · 6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Eventos Corporativos (SDATOOL-51827 · 2026-41). 6 tareas · 6 al 100 % · Asignación: Pablo.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/ IA - RDR (BAU · 2026). 1 tarea · 0 al 100 % · Asignación: Pablo. Pendiente: Testing (Q3, 80 %,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Vulnerabilidades Java (SDATOOL-51827 · 2026-54). 10 tareas · 4 al 100 % · 2 en riesgo · Asignación: Chema. Pendiente: desarrollo · b3 (19 Oct, 20 %, sin iniciar); pruebas · unitarias · b2 (14 Sep, 90 %, en plazo); pruebas · unitarias · b3 (19 Oct, 10 %, sin iniciar); implantación · b1 (10 Oct, 0 %, en riesgo); implantación · b2 (3 Oct, 0 %, en riesgo); implantación · b3 (7 Nov,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3: incidencias, tareas abiertas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incidencia: Strategic Boost — Duplicados en ISSR, en el alta automática de emisores; Error en el proceso si el usuario deja vacío el Legal Regime. tarea · en riesgo: 2024-57 — Eliminar columnas no utilizadas FT_T_RLA1. tarea · en plazo: Migración Midas FX — Volcado de BBDD. incidencia: Cargador Fondos — Timeout en la carga masiva de más de 5.000 fondos. tarea · en curso: Certificados JBOSS — Renovación de certificados de los entornos de UAT; Coordinar con sistemas la ventana.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Traspasos: Supply Chain Finance - Contrapartidas 2025-61 (Alejandro Romero → Ángela Montero, falta ok usuario); Cargador Thirdparties 2026-21 (Lucía Garrido → Marta Trujillano, falta implantación golive); Cargador Fondos 2026-23 (Lucía Garrido → Jesús Tejada, falta ok usuario); Legal Agreements CLS 2026-49 (Lucía Garrido → Marta Trujillano, falta ok usuario / ok destino); Eventos Corporativos 2026-41 (Pablo Rodríguez → Pablo, falta ok usuario post-implantación); Automatización Emisiones RV 2026-46 (Alejandro García → Pablo, documentación de traspaso).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11 proyectos, 64 tareas, 41 al 100 %, 3 en riesgo; 2 incidencias; 6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Institucional Clientes · E-Clients (SDATOOL-34546 · 2026-39). 5 tareas · 5 al 100 % · Asignación: Marta y Pilar.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84048"/>
            <a:ext cx="1554480" cy="4663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783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· 5 DE OCTUBRE DE 2026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103120"/>
            <a:ext cx="10058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6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RDR Global 2026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6576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 del equipo, estado de los proyectos, incidencias y traspasos pendientes.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02920" y="5084064"/>
            <a:ext cx="1351483" cy="31089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152644"/>
            <a:ext cx="173736" cy="1737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" y="5084064"/>
            <a:ext cx="9400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046427" y="5084064"/>
            <a:ext cx="1291133" cy="310896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299" y="5152644"/>
            <a:ext cx="173736" cy="1737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93899" y="5084064"/>
            <a:ext cx="87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PROYECTOS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3529584" y="5084064"/>
            <a:ext cx="1230782" cy="31089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5152644"/>
            <a:ext cx="173736" cy="17373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77056" y="5084064"/>
            <a:ext cx="8193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TRASPASOS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502920" y="6364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Nfq Advisory Services, 2026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9976104" y="6364224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6364224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ÍNDICE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02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18872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Índice</a:t>
            </a:r>
            <a:endParaRPr lang="en-US" sz="3000" dirty="0"/>
          </a:p>
        </p:txBody>
      </p:sp>
      <p:sp>
        <p:nvSpPr>
          <p:cNvPr id="8" name="Shape 4"/>
          <p:cNvSpPr/>
          <p:nvPr/>
        </p:nvSpPr>
        <p:spPr>
          <a:xfrm>
            <a:off x="502920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5C8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del equipo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22376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 y responsable interno.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15968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8E78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35424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535424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 de proyectos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535424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Detalle de 11 proyectos: tareas, fechas límite, avance y estado.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29016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48472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8348472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traspasos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8348472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Incidencias, tareas abiertas y traspasos pendientes de cerrar.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 · PLANIFICACIÓN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 equipo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semana, julio – octubre 2026, agrupadas por responsable interno.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03 / 23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  POR RESPONSABLE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— Por responsable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04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 – OCTUBRE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por responsable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11084357" y="1691640"/>
            <a:ext cx="6016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ESPERA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10901477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CAD1D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99955" y="1691640"/>
            <a:ext cx="10552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9517075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BE1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599018" y="1691640"/>
            <a:ext cx="7717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416138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B56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81544" y="1691640"/>
            <a:ext cx="4882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7598664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793992" y="1691640"/>
            <a:ext cx="6583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611112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9694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919826" y="1691640"/>
            <a:ext cx="54498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736946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5C8FF"/>
          </a:solidFill>
          <a:ln/>
        </p:spPr>
      </p:sp>
      <p:sp>
        <p:nvSpPr>
          <p:cNvPr id="21" name="Shape 17"/>
          <p:cNvSpPr/>
          <p:nvPr/>
        </p:nvSpPr>
        <p:spPr>
          <a:xfrm>
            <a:off x="502920" y="2075688"/>
            <a:ext cx="11183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866376" y="2423160"/>
            <a:ext cx="530352" cy="3611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1800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017520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93208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AGOSTO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5138928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214616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SEPTIEMBRE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7260336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14616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336024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OCTUBRE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9381744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336024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97180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6/07</a:t>
            </a:r>
            <a:endParaRPr lang="en-US" sz="700" dirty="0"/>
          </a:p>
        </p:txBody>
      </p:sp>
      <p:sp>
        <p:nvSpPr>
          <p:cNvPr id="35" name="Text 31"/>
          <p:cNvSpPr txBox="1"/>
          <p:nvPr/>
        </p:nvSpPr>
        <p:spPr>
          <a:xfrm>
            <a:off x="350215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13/07</a:t>
            </a:r>
            <a:endParaRPr lang="en-US" sz="700" dirty="0"/>
          </a:p>
        </p:txBody>
      </p:sp>
      <p:sp>
        <p:nvSpPr>
          <p:cNvPr id="36" name="Text 32"/>
          <p:cNvSpPr txBox="1"/>
          <p:nvPr/>
        </p:nvSpPr>
        <p:spPr>
          <a:xfrm>
            <a:off x="403250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20/07</a:t>
            </a:r>
            <a:endParaRPr lang="en-US" sz="700" dirty="0"/>
          </a:p>
        </p:txBody>
      </p:sp>
      <p:sp>
        <p:nvSpPr>
          <p:cNvPr id="37" name="Text 33"/>
          <p:cNvSpPr txBox="1"/>
          <p:nvPr/>
        </p:nvSpPr>
        <p:spPr>
          <a:xfrm>
            <a:off x="456285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27/07</a:t>
            </a:r>
            <a:endParaRPr lang="en-US" sz="700" dirty="0"/>
          </a:p>
        </p:txBody>
      </p:sp>
      <p:sp>
        <p:nvSpPr>
          <p:cNvPr id="38" name="Text 34"/>
          <p:cNvSpPr txBox="1"/>
          <p:nvPr/>
        </p:nvSpPr>
        <p:spPr>
          <a:xfrm>
            <a:off x="509320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3/08</a:t>
            </a:r>
            <a:endParaRPr lang="en-US" sz="700" dirty="0"/>
          </a:p>
        </p:txBody>
      </p:sp>
      <p:sp>
        <p:nvSpPr>
          <p:cNvPr id="39" name="Text 35"/>
          <p:cNvSpPr txBox="1"/>
          <p:nvPr/>
        </p:nvSpPr>
        <p:spPr>
          <a:xfrm>
            <a:off x="562356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10/08</a:t>
            </a:r>
            <a:endParaRPr lang="en-US" sz="700" dirty="0"/>
          </a:p>
        </p:txBody>
      </p:sp>
      <p:sp>
        <p:nvSpPr>
          <p:cNvPr id="40" name="Text 36"/>
          <p:cNvSpPr txBox="1"/>
          <p:nvPr/>
        </p:nvSpPr>
        <p:spPr>
          <a:xfrm>
            <a:off x="615391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17/08</a:t>
            </a:r>
            <a:endParaRPr lang="en-US" sz="700" dirty="0"/>
          </a:p>
        </p:txBody>
      </p:sp>
      <p:sp>
        <p:nvSpPr>
          <p:cNvPr id="41" name="Text 37"/>
          <p:cNvSpPr txBox="1"/>
          <p:nvPr/>
        </p:nvSpPr>
        <p:spPr>
          <a:xfrm>
            <a:off x="668426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24/08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21461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31/08</a:t>
            </a:r>
            <a:endParaRPr lang="en-US" sz="700" dirty="0"/>
          </a:p>
        </p:txBody>
      </p:sp>
      <p:sp>
        <p:nvSpPr>
          <p:cNvPr id="43" name="Text 39"/>
          <p:cNvSpPr txBox="1"/>
          <p:nvPr/>
        </p:nvSpPr>
        <p:spPr>
          <a:xfrm>
            <a:off x="774496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7/09</a:t>
            </a:r>
            <a:endParaRPr lang="en-US" sz="7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14/09</a:t>
            </a:r>
            <a:endParaRPr lang="en-US" sz="700" dirty="0"/>
          </a:p>
        </p:txBody>
      </p:sp>
      <p:sp>
        <p:nvSpPr>
          <p:cNvPr id="45" name="Text 41"/>
          <p:cNvSpPr txBox="1"/>
          <p:nvPr/>
        </p:nvSpPr>
        <p:spPr>
          <a:xfrm>
            <a:off x="880567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21/09</a:t>
            </a:r>
            <a:endParaRPr lang="en-US" sz="700" dirty="0"/>
          </a:p>
        </p:txBody>
      </p:sp>
      <p:sp>
        <p:nvSpPr>
          <p:cNvPr id="46" name="Text 42"/>
          <p:cNvSpPr txBox="1"/>
          <p:nvPr/>
        </p:nvSpPr>
        <p:spPr>
          <a:xfrm>
            <a:off x="933602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28/09</a:t>
            </a:r>
            <a:endParaRPr lang="en-US" sz="700" dirty="0"/>
          </a:p>
        </p:txBody>
      </p:sp>
      <p:sp>
        <p:nvSpPr>
          <p:cNvPr id="47" name="Text 43"/>
          <p:cNvSpPr txBox="1"/>
          <p:nvPr/>
        </p:nvSpPr>
        <p:spPr>
          <a:xfrm>
            <a:off x="986637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5/10</a:t>
            </a:r>
            <a:endParaRPr lang="en-US" sz="700" dirty="0"/>
          </a:p>
        </p:txBody>
      </p:sp>
      <p:sp>
        <p:nvSpPr>
          <p:cNvPr id="48" name="Text 44"/>
          <p:cNvSpPr txBox="1"/>
          <p:nvPr/>
        </p:nvSpPr>
        <p:spPr>
          <a:xfrm>
            <a:off x="1039672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12/10</a:t>
            </a:r>
            <a:endParaRPr lang="en-US" sz="700" dirty="0"/>
          </a:p>
        </p:txBody>
      </p:sp>
      <p:sp>
        <p:nvSpPr>
          <p:cNvPr id="49" name="Text 45"/>
          <p:cNvSpPr txBox="1"/>
          <p:nvPr/>
        </p:nvSpPr>
        <p:spPr>
          <a:xfrm>
            <a:off x="1092708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19/10</a:t>
            </a:r>
            <a:endParaRPr lang="en-US" sz="700" dirty="0"/>
          </a:p>
        </p:txBody>
      </p:sp>
      <p:sp>
        <p:nvSpPr>
          <p:cNvPr id="50" name="Text 46"/>
          <p:cNvSpPr txBox="1"/>
          <p:nvPr/>
        </p:nvSpPr>
        <p:spPr>
          <a:xfrm>
            <a:off x="722376" y="27249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700" dirty="0"/>
          </a:p>
        </p:txBody>
      </p:sp>
      <p:sp>
        <p:nvSpPr>
          <p:cNvPr id="51" name="Text 47"/>
          <p:cNvSpPr txBox="1"/>
          <p:nvPr/>
        </p:nvSpPr>
        <p:spPr>
          <a:xfrm>
            <a:off x="722376" y="2854046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Migración MIDAS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2971800" y="286371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980944" y="2863717"/>
            <a:ext cx="1951591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4" name="Shape 50"/>
          <p:cNvSpPr/>
          <p:nvPr/>
        </p:nvSpPr>
        <p:spPr>
          <a:xfrm>
            <a:off x="4950823" y="2863717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5" name="Shape 51"/>
          <p:cNvSpPr/>
          <p:nvPr/>
        </p:nvSpPr>
        <p:spPr>
          <a:xfrm>
            <a:off x="5178117" y="2863717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6" name="Shape 52"/>
          <p:cNvSpPr/>
          <p:nvPr/>
        </p:nvSpPr>
        <p:spPr>
          <a:xfrm>
            <a:off x="7072231" y="2863717"/>
            <a:ext cx="57477" cy="146304"/>
          </a:xfrm>
          <a:prstGeom prst="roundRect">
            <a:avLst>
              <a:gd name="adj" fmla="val 95454"/>
            </a:avLst>
          </a:prstGeom>
          <a:solidFill>
            <a:srgbClr val="FFE761"/>
          </a:solidFill>
          <a:ln/>
        </p:spPr>
      </p:sp>
      <p:sp>
        <p:nvSpPr>
          <p:cNvPr id="57" name="Shape 53"/>
          <p:cNvSpPr/>
          <p:nvPr/>
        </p:nvSpPr>
        <p:spPr>
          <a:xfrm>
            <a:off x="2980944" y="2863717"/>
            <a:ext cx="6573230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8" name="Shape 54"/>
          <p:cNvSpPr/>
          <p:nvPr/>
        </p:nvSpPr>
        <p:spPr>
          <a:xfrm>
            <a:off x="9572462" y="2863717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722376" y="306541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2971800" y="307508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1" name="Shape 57"/>
          <p:cNvSpPr/>
          <p:nvPr/>
        </p:nvSpPr>
        <p:spPr>
          <a:xfrm>
            <a:off x="2980944" y="3075081"/>
            <a:ext cx="248194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62" name="Shape 58"/>
          <p:cNvSpPr/>
          <p:nvPr/>
        </p:nvSpPr>
        <p:spPr>
          <a:xfrm>
            <a:off x="5481175" y="3075081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3" name="Shape 59"/>
          <p:cNvSpPr/>
          <p:nvPr/>
        </p:nvSpPr>
        <p:spPr>
          <a:xfrm>
            <a:off x="6011527" y="307508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4" name="Shape 60"/>
          <p:cNvSpPr/>
          <p:nvPr/>
        </p:nvSpPr>
        <p:spPr>
          <a:xfrm>
            <a:off x="6466114" y="3075081"/>
            <a:ext cx="4982174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3276775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Agreements CLS</a:t>
            </a:r>
            <a:endParaRPr lang="en-US" sz="900" dirty="0"/>
          </a:p>
        </p:txBody>
      </p:sp>
      <p:sp>
        <p:nvSpPr>
          <p:cNvPr id="66" name="Shape 62"/>
          <p:cNvSpPr/>
          <p:nvPr/>
        </p:nvSpPr>
        <p:spPr>
          <a:xfrm>
            <a:off x="2971800" y="3286446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7" name="Shape 63"/>
          <p:cNvSpPr/>
          <p:nvPr/>
        </p:nvSpPr>
        <p:spPr>
          <a:xfrm>
            <a:off x="2980944" y="3286446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9694FF"/>
          </a:solidFill>
          <a:ln/>
        </p:spPr>
      </p:sp>
      <p:sp>
        <p:nvSpPr>
          <p:cNvPr id="68" name="Shape 64"/>
          <p:cNvSpPr/>
          <p:nvPr/>
        </p:nvSpPr>
        <p:spPr>
          <a:xfrm>
            <a:off x="3132473" y="3286446"/>
            <a:ext cx="202735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9" name="Shape 65"/>
          <p:cNvSpPr/>
          <p:nvPr/>
        </p:nvSpPr>
        <p:spPr>
          <a:xfrm>
            <a:off x="5178117" y="3286446"/>
            <a:ext cx="81512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0" name="Shape 66"/>
          <p:cNvSpPr/>
          <p:nvPr/>
        </p:nvSpPr>
        <p:spPr>
          <a:xfrm>
            <a:off x="8284464" y="3286446"/>
            <a:ext cx="966651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722376" y="3488140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Security Lending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2971800" y="349781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73" name="Shape 69"/>
          <p:cNvSpPr/>
          <p:nvPr/>
        </p:nvSpPr>
        <p:spPr>
          <a:xfrm>
            <a:off x="4041648" y="3497810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74" name="Shape 70"/>
          <p:cNvSpPr/>
          <p:nvPr/>
        </p:nvSpPr>
        <p:spPr>
          <a:xfrm>
            <a:off x="5481175" y="3497810"/>
            <a:ext cx="1800062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5" name="Shape 71"/>
          <p:cNvSpPr/>
          <p:nvPr/>
        </p:nvSpPr>
        <p:spPr>
          <a:xfrm>
            <a:off x="7299525" y="3497810"/>
            <a:ext cx="233041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6" name="Shape 72"/>
          <p:cNvSpPr/>
          <p:nvPr/>
        </p:nvSpPr>
        <p:spPr>
          <a:xfrm>
            <a:off x="9648226" y="3497810"/>
            <a:ext cx="1193945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7" name="Shape 73"/>
          <p:cNvSpPr/>
          <p:nvPr/>
        </p:nvSpPr>
        <p:spPr>
          <a:xfrm>
            <a:off x="658368" y="367207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722376" y="372693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700" dirty="0"/>
          </a:p>
        </p:txBody>
      </p:sp>
      <p:sp>
        <p:nvSpPr>
          <p:cNvPr id="79" name="Text 75"/>
          <p:cNvSpPr txBox="1"/>
          <p:nvPr/>
        </p:nvSpPr>
        <p:spPr>
          <a:xfrm>
            <a:off x="722376" y="385607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BSI 2.0</a:t>
            </a:r>
            <a:endParaRPr lang="en-US" sz="900" dirty="0"/>
          </a:p>
        </p:txBody>
      </p:sp>
      <p:sp>
        <p:nvSpPr>
          <p:cNvPr id="80" name="Shape 76"/>
          <p:cNvSpPr/>
          <p:nvPr/>
        </p:nvSpPr>
        <p:spPr>
          <a:xfrm>
            <a:off x="2971800" y="386574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1" name="Shape 77"/>
          <p:cNvSpPr/>
          <p:nvPr/>
        </p:nvSpPr>
        <p:spPr>
          <a:xfrm>
            <a:off x="2980944" y="3865741"/>
            <a:ext cx="6573230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82" name="Shape 78"/>
          <p:cNvSpPr/>
          <p:nvPr/>
        </p:nvSpPr>
        <p:spPr>
          <a:xfrm>
            <a:off x="10405872" y="386574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4067435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00" dirty="0"/>
          </a:p>
        </p:txBody>
      </p:sp>
      <p:sp>
        <p:nvSpPr>
          <p:cNvPr id="84" name="Shape 80"/>
          <p:cNvSpPr/>
          <p:nvPr/>
        </p:nvSpPr>
        <p:spPr>
          <a:xfrm>
            <a:off x="2971800" y="4077106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5" name="Shape 81"/>
          <p:cNvSpPr/>
          <p:nvPr/>
        </p:nvSpPr>
        <p:spPr>
          <a:xfrm>
            <a:off x="2980944" y="4077106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6" name="Shape 82"/>
          <p:cNvSpPr/>
          <p:nvPr/>
        </p:nvSpPr>
        <p:spPr>
          <a:xfrm>
            <a:off x="3359767" y="4077106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7" name="Shape 83"/>
          <p:cNvSpPr/>
          <p:nvPr/>
        </p:nvSpPr>
        <p:spPr>
          <a:xfrm>
            <a:off x="3738590" y="4077106"/>
            <a:ext cx="739358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8" name="Shape 84"/>
          <p:cNvSpPr/>
          <p:nvPr/>
        </p:nvSpPr>
        <p:spPr>
          <a:xfrm>
            <a:off x="4496235" y="4077106"/>
            <a:ext cx="5057938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4278800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 Brasil</a:t>
            </a:r>
            <a:endParaRPr lang="en-US" sz="900" dirty="0"/>
          </a:p>
        </p:txBody>
      </p:sp>
      <p:sp>
        <p:nvSpPr>
          <p:cNvPr id="90" name="Shape 86"/>
          <p:cNvSpPr/>
          <p:nvPr/>
        </p:nvSpPr>
        <p:spPr>
          <a:xfrm>
            <a:off x="2971800" y="428847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91" name="Shape 87"/>
          <p:cNvSpPr/>
          <p:nvPr/>
        </p:nvSpPr>
        <p:spPr>
          <a:xfrm>
            <a:off x="6163056" y="4288470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92" name="Shape 88"/>
          <p:cNvSpPr/>
          <p:nvPr/>
        </p:nvSpPr>
        <p:spPr>
          <a:xfrm>
            <a:off x="7072231" y="4288470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93" name="Shape 89"/>
          <p:cNvSpPr/>
          <p:nvPr/>
        </p:nvSpPr>
        <p:spPr>
          <a:xfrm>
            <a:off x="8132935" y="4288470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94" name="Shape 90"/>
          <p:cNvSpPr/>
          <p:nvPr/>
        </p:nvSpPr>
        <p:spPr>
          <a:xfrm>
            <a:off x="9723991" y="4288470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95" name="Shape 91"/>
          <p:cNvSpPr/>
          <p:nvPr/>
        </p:nvSpPr>
        <p:spPr>
          <a:xfrm>
            <a:off x="10784695" y="4288470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96" name="Shape 92"/>
          <p:cNvSpPr/>
          <p:nvPr/>
        </p:nvSpPr>
        <p:spPr>
          <a:xfrm>
            <a:off x="11315047" y="4288470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97" name="Shape 93"/>
          <p:cNvSpPr/>
          <p:nvPr/>
        </p:nvSpPr>
        <p:spPr>
          <a:xfrm>
            <a:off x="658368" y="44627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8" name="Text 94"/>
          <p:cNvSpPr txBox="1"/>
          <p:nvPr/>
        </p:nvSpPr>
        <p:spPr>
          <a:xfrm>
            <a:off x="722376" y="451759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700" dirty="0"/>
          </a:p>
        </p:txBody>
      </p:sp>
      <p:sp>
        <p:nvSpPr>
          <p:cNvPr id="99" name="Text 95"/>
          <p:cNvSpPr txBox="1"/>
          <p:nvPr/>
        </p:nvSpPr>
        <p:spPr>
          <a:xfrm>
            <a:off x="722376" y="4646731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OTC V</a:t>
            </a:r>
            <a:endParaRPr lang="en-US" sz="900" dirty="0"/>
          </a:p>
        </p:txBody>
      </p:sp>
      <p:sp>
        <p:nvSpPr>
          <p:cNvPr id="100" name="Shape 96"/>
          <p:cNvSpPr/>
          <p:nvPr/>
        </p:nvSpPr>
        <p:spPr>
          <a:xfrm>
            <a:off x="2971800" y="465640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1" name="Shape 97"/>
          <p:cNvSpPr/>
          <p:nvPr/>
        </p:nvSpPr>
        <p:spPr>
          <a:xfrm>
            <a:off x="2980944" y="4656401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02" name="Shape 98"/>
          <p:cNvSpPr/>
          <p:nvPr/>
        </p:nvSpPr>
        <p:spPr>
          <a:xfrm>
            <a:off x="3359767" y="4656401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03" name="Shape 99"/>
          <p:cNvSpPr/>
          <p:nvPr/>
        </p:nvSpPr>
        <p:spPr>
          <a:xfrm>
            <a:off x="8057170" y="4656401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104" name="Shape 100"/>
          <p:cNvSpPr/>
          <p:nvPr/>
        </p:nvSpPr>
        <p:spPr>
          <a:xfrm>
            <a:off x="8208699" y="4656401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105" name="Shape 101"/>
          <p:cNvSpPr/>
          <p:nvPr/>
        </p:nvSpPr>
        <p:spPr>
          <a:xfrm>
            <a:off x="658368" y="483066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722376" y="488552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700" dirty="0"/>
          </a:p>
        </p:txBody>
      </p:sp>
      <p:sp>
        <p:nvSpPr>
          <p:cNvPr id="107" name="Text 103"/>
          <p:cNvSpPr txBox="1"/>
          <p:nvPr/>
        </p:nvSpPr>
        <p:spPr>
          <a:xfrm>
            <a:off x="722376" y="5014662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00" dirty="0"/>
          </a:p>
        </p:txBody>
      </p:sp>
      <p:sp>
        <p:nvSpPr>
          <p:cNvPr id="108" name="Shape 104"/>
          <p:cNvSpPr/>
          <p:nvPr/>
        </p:nvSpPr>
        <p:spPr>
          <a:xfrm>
            <a:off x="2971800" y="5024332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9" name="Shape 105"/>
          <p:cNvSpPr/>
          <p:nvPr/>
        </p:nvSpPr>
        <p:spPr>
          <a:xfrm>
            <a:off x="2980944" y="5024332"/>
            <a:ext cx="4300293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10" name="Shape 106"/>
          <p:cNvSpPr/>
          <p:nvPr/>
        </p:nvSpPr>
        <p:spPr>
          <a:xfrm>
            <a:off x="9345168" y="5024332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11" name="Shape 107"/>
          <p:cNvSpPr/>
          <p:nvPr/>
        </p:nvSpPr>
        <p:spPr>
          <a:xfrm>
            <a:off x="658368" y="519859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722376" y="525345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JUAN MANUEL FERNÁNDEZ TUDERO</a:t>
            </a:r>
            <a:endParaRPr lang="en-US" sz="700" dirty="0"/>
          </a:p>
        </p:txBody>
      </p:sp>
      <p:sp>
        <p:nvSpPr>
          <p:cNvPr id="113" name="Text 109"/>
          <p:cNvSpPr txBox="1"/>
          <p:nvPr/>
        </p:nvSpPr>
        <p:spPr>
          <a:xfrm>
            <a:off x="722376" y="5382593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 / IA - RDR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2971800" y="5392263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5" name="Shape 111"/>
          <p:cNvSpPr/>
          <p:nvPr/>
        </p:nvSpPr>
        <p:spPr>
          <a:xfrm>
            <a:off x="5102352" y="5392263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6" name="Shape 112"/>
          <p:cNvSpPr/>
          <p:nvPr/>
        </p:nvSpPr>
        <p:spPr>
          <a:xfrm>
            <a:off x="658368" y="5566525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7" name="Text 113"/>
          <p:cNvSpPr txBox="1"/>
          <p:nvPr/>
        </p:nvSpPr>
        <p:spPr>
          <a:xfrm>
            <a:off x="722376" y="5621389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JOSÉ MARÍA PARRA</a:t>
            </a:r>
            <a:endParaRPr lang="en-US" sz="700" dirty="0"/>
          </a:p>
        </p:txBody>
      </p:sp>
      <p:sp>
        <p:nvSpPr>
          <p:cNvPr id="118" name="Text 114"/>
          <p:cNvSpPr txBox="1"/>
          <p:nvPr/>
        </p:nvSpPr>
        <p:spPr>
          <a:xfrm>
            <a:off x="722376" y="5750523"/>
            <a:ext cx="2194560" cy="1656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Vulnerabilidades</a:t>
            </a:r>
            <a:endParaRPr lang="en-US" sz="900" dirty="0"/>
          </a:p>
        </p:txBody>
      </p:sp>
      <p:sp>
        <p:nvSpPr>
          <p:cNvPr id="119" name="Shape 115"/>
          <p:cNvSpPr/>
          <p:nvPr/>
        </p:nvSpPr>
        <p:spPr>
          <a:xfrm>
            <a:off x="2971800" y="5760194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20" name="Shape 116"/>
          <p:cNvSpPr/>
          <p:nvPr/>
        </p:nvSpPr>
        <p:spPr>
          <a:xfrm>
            <a:off x="2980944" y="5760194"/>
            <a:ext cx="1648533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21" name="Shape 117"/>
          <p:cNvSpPr/>
          <p:nvPr/>
        </p:nvSpPr>
        <p:spPr>
          <a:xfrm>
            <a:off x="4647765" y="5760194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2" name="Shape 118"/>
          <p:cNvSpPr/>
          <p:nvPr/>
        </p:nvSpPr>
        <p:spPr>
          <a:xfrm>
            <a:off x="6238821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3" name="Shape 119"/>
          <p:cNvSpPr/>
          <p:nvPr/>
        </p:nvSpPr>
        <p:spPr>
          <a:xfrm>
            <a:off x="6769173" y="5760194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4" name="Shape 120"/>
          <p:cNvSpPr/>
          <p:nvPr/>
        </p:nvSpPr>
        <p:spPr>
          <a:xfrm>
            <a:off x="7829877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5" name="Shape 121"/>
          <p:cNvSpPr/>
          <p:nvPr/>
        </p:nvSpPr>
        <p:spPr>
          <a:xfrm>
            <a:off x="8360229" y="5760194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6" name="Shape 122"/>
          <p:cNvSpPr/>
          <p:nvPr/>
        </p:nvSpPr>
        <p:spPr>
          <a:xfrm>
            <a:off x="9799755" y="5760194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7" name="Shape 123"/>
          <p:cNvSpPr/>
          <p:nvPr/>
        </p:nvSpPr>
        <p:spPr>
          <a:xfrm>
            <a:off x="10330107" y="5760194"/>
            <a:ext cx="66359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8" name="Shape 124"/>
          <p:cNvSpPr/>
          <p:nvPr/>
        </p:nvSpPr>
        <p:spPr>
          <a:xfrm>
            <a:off x="11011989" y="5760194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9" name="Shape 125"/>
          <p:cNvSpPr/>
          <p:nvPr/>
        </p:nvSpPr>
        <p:spPr>
          <a:xfrm>
            <a:off x="9866376" y="2642616"/>
            <a:ext cx="0" cy="3392424"/>
          </a:xfrm>
          <a:prstGeom prst="line">
            <a:avLst/>
          </a:prstGeom>
          <a:noFill/>
          <a:ln w="15875">
            <a:solidFill>
              <a:srgbClr val="001391"/>
            </a:solidFill>
            <a:prstDash val="dash"/>
          </a:ln>
        </p:spPr>
      </p:sp>
      <p:sp>
        <p:nvSpPr>
          <p:cNvPr id="130" name="Shape 126"/>
          <p:cNvSpPr/>
          <p:nvPr/>
        </p:nvSpPr>
        <p:spPr>
          <a:xfrm>
            <a:off x="9427464" y="6062472"/>
            <a:ext cx="877824" cy="164592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131" name="Text 127"/>
          <p:cNvSpPr txBox="1"/>
          <p:nvPr/>
        </p:nvSpPr>
        <p:spPr>
          <a:xfrm>
            <a:off x="9427464" y="606247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 ACTUAL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 · DETALLE POR RESPONSABLE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 proyectos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proyectos y 64 tareas con fecha límite, avance y estado. 41 tareas están al 100 % y 3 en riesgo.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05 / 23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06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2025-51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Migración Operaciones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UAT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DataX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95 %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29691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Jul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Técnico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técnico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 usuario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Usuario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4348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4348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7000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usuario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 Ago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4622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48920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493776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493776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2029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a producción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49377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49651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DataX - SICOR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49377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49377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0154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926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9377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07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2026-21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Cargador Thirdparties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propietario de la hoja no puede ser una persona nominativa, sino un grupo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Sinergia entre usuarios trabajando al mismo tiempo, o que no borren la info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usuario que no tenga permisos de edición sobre el app script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Google Sheet no puede ser repositorio de código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4348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4348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4622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08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2026-49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Agreements CLS BBVA México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tareas · 7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51860"/>
          </a:xfrm>
          <a:prstGeom prst="roundRect">
            <a:avLst>
              <a:gd name="adj" fmla="val 3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ventana para añadir tipología CLS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servicio online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extracción genérica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5524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3147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7444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79018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79018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2898648" y="37901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Jul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3931920" y="381762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Bug LAGRDuplis</a:t>
            </a:r>
            <a:endParaRPr lang="en-US" sz="850" dirty="0"/>
          </a:p>
        </p:txBody>
      </p:sp>
      <p:sp>
        <p:nvSpPr>
          <p:cNvPr id="57" name="Text 53"/>
          <p:cNvSpPr txBox="1"/>
          <p:nvPr/>
        </p:nvSpPr>
        <p:spPr>
          <a:xfrm>
            <a:off x="7872984" y="37901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8997696" y="37901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0" name="Shape 56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1" name="Shape 57"/>
          <p:cNvSpPr/>
          <p:nvPr/>
        </p:nvSpPr>
        <p:spPr>
          <a:xfrm>
            <a:off x="10351008" y="38450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10515600" y="37901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3" name="Shape 59"/>
          <p:cNvSpPr/>
          <p:nvPr/>
        </p:nvSpPr>
        <p:spPr>
          <a:xfrm>
            <a:off x="658368" y="40553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22376" y="410108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410108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6" name="Text 62"/>
          <p:cNvSpPr txBox="1"/>
          <p:nvPr/>
        </p:nvSpPr>
        <p:spPr>
          <a:xfrm>
            <a:off x="722376" y="436626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010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2851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010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010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15594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010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5582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60400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60400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22376" y="486918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460400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463143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460400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460400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465886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46040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7" name="Shape 83"/>
          <p:cNvSpPr/>
          <p:nvPr/>
        </p:nvSpPr>
        <p:spPr>
          <a:xfrm>
            <a:off x="658368" y="506120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22376" y="5106924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5106924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2898648" y="510692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1" name="Text 87"/>
          <p:cNvSpPr txBox="1"/>
          <p:nvPr/>
        </p:nvSpPr>
        <p:spPr>
          <a:xfrm>
            <a:off x="3931920" y="5134356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92" name="Text 88"/>
          <p:cNvSpPr txBox="1"/>
          <p:nvPr/>
        </p:nvSpPr>
        <p:spPr>
          <a:xfrm>
            <a:off x="7872984" y="510692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93" name="Text 89"/>
          <p:cNvSpPr txBox="1"/>
          <p:nvPr/>
        </p:nvSpPr>
        <p:spPr>
          <a:xfrm>
            <a:off x="8997696" y="510692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5" name="Shape 91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96" name="Shape 92"/>
          <p:cNvSpPr/>
          <p:nvPr/>
        </p:nvSpPr>
        <p:spPr>
          <a:xfrm>
            <a:off x="10351008" y="516178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97" name="Text 93"/>
          <p:cNvSpPr txBox="1"/>
          <p:nvPr/>
        </p:nvSpPr>
        <p:spPr>
          <a:xfrm>
            <a:off x="10515600" y="510692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09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SDATOOL-38779 · 2026-52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Security Lending Undisclosed · Validaciones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tareas · 3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18541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Modificación búsqueda operativa de contrapartidas desde local y global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Validaciones CalypsoId Multientity Legal Agreements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Regularización de casos productivos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Oct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3931920" y="3314700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658368" y="37947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38404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38404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4" name="Text 50"/>
          <p:cNvSpPr txBox="1"/>
          <p:nvPr/>
        </p:nvSpPr>
        <p:spPr>
          <a:xfrm>
            <a:off x="2898648" y="38404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3931920" y="38679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56" name="Text 52"/>
          <p:cNvSpPr txBox="1"/>
          <p:nvPr/>
        </p:nvSpPr>
        <p:spPr>
          <a:xfrm>
            <a:off x="7872984" y="38404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8997696" y="38404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9436608" y="39182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9" name="Shape 55"/>
          <p:cNvSpPr/>
          <p:nvPr/>
        </p:nvSpPr>
        <p:spPr>
          <a:xfrm>
            <a:off x="10351008" y="38953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10515600" y="38404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10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SDATOOL-49629 · 2026-50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BSI 2.0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tareas · 0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773936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de impacto. Cambio Enterprise BSI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22376" y="27340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2376" y="27340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29992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931920" y="27614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con Calypso KRFN, KLYO, Murex e Impact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2369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2369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722376" y="350215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Legal Agreements BSI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3931920" y="326440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la ventana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6" name="Shape 42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11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SDATOOL-42226 · 2026-46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Automatización Emisiones RV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232404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Abr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Jun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Añadir campos de alta de emisores en la ventana de emisiones + botón que llame al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Crear nuevo workflow que llame al alta de emisores y al alta rol emisor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proceso que añada el rol emisor a emisores descargados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de País de Mercado en servicios de Securities (online y batch)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5250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57073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57073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83590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57073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59816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del proceso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57073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57073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62559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57073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0279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07365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07365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33882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07365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15 Jul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10108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07365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07365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12851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07365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5308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576572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576572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5765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25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604004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componentes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5765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5765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6314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5765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8417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8874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8874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2898648" y="48874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3931920" y="491490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de otros aplicativos: 4sight, Asset Control…</a:t>
            </a:r>
            <a:endParaRPr lang="en-US" sz="850" dirty="0"/>
          </a:p>
        </p:txBody>
      </p:sp>
      <p:sp>
        <p:nvSpPr>
          <p:cNvPr id="80" name="Text 76"/>
          <p:cNvSpPr txBox="1"/>
          <p:nvPr/>
        </p:nvSpPr>
        <p:spPr>
          <a:xfrm>
            <a:off x="7872984" y="48874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8997696" y="48874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10351008" y="49423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10515600" y="48874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12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SDATOOL-55461 · 2026-58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 Brasil · Adaptación de contrapartidas y liquidaciones (1/2)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2 al 100 % · 1 en riesgo · Asignación: Chema y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270248"/>
          </a:xfrm>
          <a:prstGeom prst="roundRect">
            <a:avLst>
              <a:gd name="adj" fmla="val 25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Reuniones con negocio de Brasil para cerrar el alcance de contrapartidas, cuentas y métodos de liquidación locales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Inventario de interfaces afectadas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9306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76372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76372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24154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Diseño técnico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763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Sep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300380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Modelo de datos para entidades brasileñas (CNPJ) y validaciones asociadas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763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763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540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540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30312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763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43357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79292"/>
            <a:ext cx="1805026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79292"/>
            <a:ext cx="18050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CONTRAPARTIDAS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744468"/>
            <a:ext cx="20025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Alta y mantenimiento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7929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Oct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506724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campos CNPJ y validación del dígito de control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de la ventana de contrapartidas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en el servicio online de contrapartidas para los consumidores de Securities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7929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7929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85 %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5701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57016"/>
            <a:ext cx="652882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534156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7929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41285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4174236"/>
            <a:ext cx="1748333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4174236"/>
            <a:ext cx="17483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LIQUIDACIONES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439412"/>
            <a:ext cx="200253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Instrucciones de liquidación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41742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16 Oct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420166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 locales (SELIC, CETIP)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Dependencia con el equipo de Murex para el mapeo de cuentas: pendiente de respuesta desde el 22/09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41742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41742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2519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251960"/>
            <a:ext cx="307238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422910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41742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68172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727448"/>
            <a:ext cx="1578254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727448"/>
            <a:ext cx="15782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INTERFACES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99262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Ficheros de salida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72744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16 Oct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75488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de la extracción genérica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fichero diario para el regulador local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72744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72744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80517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805172"/>
            <a:ext cx="23042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782312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72744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51846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52303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52303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4955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52303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23 Oct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52578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 contrapartidas y liquidaciones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52303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52303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3080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9436608" y="5308092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8" name="Shape 84"/>
          <p:cNvSpPr/>
          <p:nvPr/>
        </p:nvSpPr>
        <p:spPr>
          <a:xfrm>
            <a:off x="10351008" y="5285232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10515600" y="52303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90" name="Shape 86"/>
          <p:cNvSpPr/>
          <p:nvPr/>
        </p:nvSpPr>
        <p:spPr>
          <a:xfrm>
            <a:off x="658368" y="56875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722376" y="573328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92" name="Text 88"/>
          <p:cNvSpPr txBox="1"/>
          <p:nvPr/>
        </p:nvSpPr>
        <p:spPr>
          <a:xfrm>
            <a:off x="722376" y="573328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93" name="Text 89"/>
          <p:cNvSpPr txBox="1"/>
          <p:nvPr/>
        </p:nvSpPr>
        <p:spPr>
          <a:xfrm>
            <a:off x="722376" y="599846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7332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Nov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76072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Calypso y Murex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7332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7332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8110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788152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7332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13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SDATOOL-55461 · 2026-58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 Brasil · Adaptación de contrapartidas y liquidaciones (2/2)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2 al 100 % · 1 en riesgo · Asignación: Chema y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Nov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UAT con el equipo de operaciones de São Paulo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9260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9260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 de marcha atrás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GoLive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las dos primeras semanas tras la implantación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ROMERO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Romero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14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2025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Calypso OTC Madrid Fase 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DDFF post simulacro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DDFF post simulacro 18/04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Parametrización nuevos métodos de liquidación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9" name="Shape 35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22376" y="323697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22376" y="323697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722376" y="350215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· Carga SDIs, SCIs y Notis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3931920" y="3264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0" name="Shape 46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1" name="Shape 47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3" name="Shape 49"/>
          <p:cNvSpPr/>
          <p:nvPr/>
        </p:nvSpPr>
        <p:spPr>
          <a:xfrm>
            <a:off x="658368" y="38404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22376" y="388620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722376" y="388620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722376" y="41513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GoLive · Carga SDIs, SCIs y Notis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2898648" y="38862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Jul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3931920" y="39136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GoLive</a:t>
            </a:r>
            <a:endParaRPr lang="en-US" sz="850" dirty="0"/>
          </a:p>
        </p:txBody>
      </p:sp>
      <p:sp>
        <p:nvSpPr>
          <p:cNvPr id="59" name="Text 55"/>
          <p:cNvSpPr txBox="1"/>
          <p:nvPr/>
        </p:nvSpPr>
        <p:spPr>
          <a:xfrm>
            <a:off x="7872984" y="38862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8997696" y="38862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2" name="Shape 58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3" name="Shape 59"/>
          <p:cNvSpPr/>
          <p:nvPr/>
        </p:nvSpPr>
        <p:spPr>
          <a:xfrm>
            <a:off x="10351008" y="39410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0515600" y="38862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658368" y="43434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22376" y="438912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722376" y="438912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68" name="Text 64"/>
          <p:cNvSpPr txBox="1"/>
          <p:nvPr/>
        </p:nvSpPr>
        <p:spPr>
          <a:xfrm>
            <a:off x="722376" y="46542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2898648" y="43891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3931920" y="44165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 Live</a:t>
            </a:r>
            <a:endParaRPr lang="en-US" sz="850" dirty="0"/>
          </a:p>
        </p:txBody>
      </p:sp>
      <p:sp>
        <p:nvSpPr>
          <p:cNvPr id="71" name="Text 67"/>
          <p:cNvSpPr txBox="1"/>
          <p:nvPr/>
        </p:nvSpPr>
        <p:spPr>
          <a:xfrm>
            <a:off x="7872984" y="43891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8997696" y="43891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4" name="Shape 70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5" name="Shape 71"/>
          <p:cNvSpPr/>
          <p:nvPr/>
        </p:nvSpPr>
        <p:spPr>
          <a:xfrm>
            <a:off x="10351008" y="44439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10515600" y="43891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7" name="Shape 73"/>
          <p:cNvSpPr/>
          <p:nvPr/>
        </p:nvSpPr>
        <p:spPr>
          <a:xfrm>
            <a:off x="658368" y="48463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22376" y="48920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22376" y="48920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0" name="Text 76"/>
          <p:cNvSpPr txBox="1"/>
          <p:nvPr/>
        </p:nvSpPr>
        <p:spPr>
          <a:xfrm>
            <a:off x="722376" y="51572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2898648" y="48920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Sep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3931920" y="49194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simulacro fin de semana</a:t>
            </a:r>
            <a:endParaRPr lang="en-US" sz="850" dirty="0"/>
          </a:p>
        </p:txBody>
      </p:sp>
      <p:sp>
        <p:nvSpPr>
          <p:cNvPr id="83" name="Text 79"/>
          <p:cNvSpPr txBox="1"/>
          <p:nvPr/>
        </p:nvSpPr>
        <p:spPr>
          <a:xfrm>
            <a:off x="7872984" y="48920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4" name="Text 80"/>
          <p:cNvSpPr txBox="1"/>
          <p:nvPr/>
        </p:nvSpPr>
        <p:spPr>
          <a:xfrm>
            <a:off x="8997696" y="48920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5" name="Shape 81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6" name="Shape 82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469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8920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PABLO RODRÍGUEZ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Pablo Rodríguez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15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2026-41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Eventos Corporativos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90906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modificaciones Q1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Completar ventana Eventos Corporativos. Alta y modificación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Canonización Eventos Corporativos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auditoría modificación / alta campos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Creación entrada assembly para colas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Query de publicación online, masiva y dirigida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Recepción ACK / NACK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Aperiódico creación de campos. Valores desplegables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9090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9547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9547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42199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9547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9822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9547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9547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40096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9547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4119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4577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4577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7228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4577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4851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SIVA/MUV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4577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4577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5125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4577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9149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9606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9606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722376" y="52257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2898648" y="49606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3931920" y="49880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70" name="Text 66"/>
          <p:cNvSpPr txBox="1"/>
          <p:nvPr/>
        </p:nvSpPr>
        <p:spPr>
          <a:xfrm>
            <a:off x="7872984" y="49606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8997696" y="49606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3" name="Shape 69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4" name="Shape 70"/>
          <p:cNvSpPr/>
          <p:nvPr/>
        </p:nvSpPr>
        <p:spPr>
          <a:xfrm>
            <a:off x="10351008" y="50154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515600" y="49606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6" name="Shape 72"/>
          <p:cNvSpPr/>
          <p:nvPr/>
        </p:nvSpPr>
        <p:spPr>
          <a:xfrm>
            <a:off x="658368" y="54178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722376" y="54635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722376" y="54635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5463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549097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los componentes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Implantado el 03/10 sin incidencias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54635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54635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55184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54635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JUAN MANUEL FERNÁNDEZ TUDERO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Juan Manuel Fernández Tudero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16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BAU ·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Testing / IA - RDR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tarea · 0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Clasificación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Modularización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herramienta de ejecuciones: AtSQA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prerrequisitos en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casos de prueba por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Estructura de datos sintéticos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JOSÉ MARÍA PARRA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José María Parra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17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2026-54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Vulnerabilidades Java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4 al 100 % · 2 en riesgo · Asignación: Chema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393692"/>
          </a:xfrm>
          <a:prstGeom prst="roundRect">
            <a:avLst>
              <a:gd name="adj" fmla="val 24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Javas InHouse (batch): creación de bloques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infraestructura (EARs, JBOSS, Workbench)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B1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pruebas unitarias: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Mavenización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Java InHouse (batch): JDK 17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Mitigación de vulnerabilidades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los casos de test de cobertura: Javas InHouse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62559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671316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671316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B2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67131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Sep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872984" y="367131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997696" y="367131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7" name="Shape 43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8" name="Shape 44"/>
          <p:cNvSpPr/>
          <p:nvPr/>
        </p:nvSpPr>
        <p:spPr>
          <a:xfrm>
            <a:off x="10351008" y="372618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10515600" y="367131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658368" y="393649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22376" y="3982212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722376" y="3982212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B3</a:t>
            </a:r>
            <a:endParaRPr lang="en-US" sz="680" dirty="0"/>
          </a:p>
        </p:txBody>
      </p:sp>
      <p:sp>
        <p:nvSpPr>
          <p:cNvPr id="53" name="Text 49"/>
          <p:cNvSpPr txBox="1"/>
          <p:nvPr/>
        </p:nvSpPr>
        <p:spPr>
          <a:xfrm>
            <a:off x="2898648" y="398221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7872984" y="398221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8997696" y="398221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20 %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9436608" y="405993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7" name="Shape 53"/>
          <p:cNvSpPr/>
          <p:nvPr/>
        </p:nvSpPr>
        <p:spPr>
          <a:xfrm>
            <a:off x="9436608" y="4059936"/>
            <a:ext cx="15361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351008" y="403707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0515600" y="398221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58368" y="424738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22376" y="429310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722376" y="429310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B1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2898648" y="429310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 Ago</a:t>
            </a:r>
            <a:endParaRPr lang="en-US" sz="900" dirty="0"/>
          </a:p>
        </p:txBody>
      </p:sp>
      <p:sp>
        <p:nvSpPr>
          <p:cNvPr id="64" name="Text 60"/>
          <p:cNvSpPr txBox="1"/>
          <p:nvPr/>
        </p:nvSpPr>
        <p:spPr>
          <a:xfrm>
            <a:off x="3931920" y="43205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(Java 17):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 de cobertura</a:t>
            </a:r>
            <a:endParaRPr lang="en-US" sz="850" dirty="0"/>
          </a:p>
        </p:txBody>
      </p:sp>
      <p:sp>
        <p:nvSpPr>
          <p:cNvPr id="65" name="Text 61"/>
          <p:cNvSpPr txBox="1"/>
          <p:nvPr/>
        </p:nvSpPr>
        <p:spPr>
          <a:xfrm>
            <a:off x="7872984" y="429310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8997696" y="429310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8" name="Shape 64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9" name="Shape 65"/>
          <p:cNvSpPr/>
          <p:nvPr/>
        </p:nvSpPr>
        <p:spPr>
          <a:xfrm>
            <a:off x="10351008" y="434797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10515600" y="429310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1" name="Shape 67"/>
          <p:cNvSpPr/>
          <p:nvPr/>
        </p:nvSpPr>
        <p:spPr>
          <a:xfrm>
            <a:off x="658368" y="46588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722376" y="470458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470458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B2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2898648" y="47045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Sep</a:t>
            </a:r>
            <a:endParaRPr lang="en-US" sz="900" dirty="0"/>
          </a:p>
        </p:txBody>
      </p:sp>
      <p:sp>
        <p:nvSpPr>
          <p:cNvPr id="75" name="Text 71"/>
          <p:cNvSpPr txBox="1"/>
          <p:nvPr/>
        </p:nvSpPr>
        <p:spPr>
          <a:xfrm>
            <a:off x="7872984" y="47045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76" name="Text 72"/>
          <p:cNvSpPr txBox="1"/>
          <p:nvPr/>
        </p:nvSpPr>
        <p:spPr>
          <a:xfrm>
            <a:off x="8997696" y="47045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9436608" y="47823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8" name="Shape 74"/>
          <p:cNvSpPr/>
          <p:nvPr/>
        </p:nvSpPr>
        <p:spPr>
          <a:xfrm>
            <a:off x="9436608" y="4782312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9" name="Shape 75"/>
          <p:cNvSpPr/>
          <p:nvPr/>
        </p:nvSpPr>
        <p:spPr>
          <a:xfrm>
            <a:off x="10351008" y="47594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10515600" y="47045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1" name="Shape 77"/>
          <p:cNvSpPr/>
          <p:nvPr/>
        </p:nvSpPr>
        <p:spPr>
          <a:xfrm>
            <a:off x="658368" y="49697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22376" y="5015484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5015484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B3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2898648" y="50154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7872984" y="50154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8997696" y="50154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7" name="Shape 83"/>
          <p:cNvSpPr/>
          <p:nvPr/>
        </p:nvSpPr>
        <p:spPr>
          <a:xfrm>
            <a:off x="9436608" y="50932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8" name="Shape 84"/>
          <p:cNvSpPr/>
          <p:nvPr/>
        </p:nvSpPr>
        <p:spPr>
          <a:xfrm>
            <a:off x="9436608" y="5093208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9" name="Shape 85"/>
          <p:cNvSpPr/>
          <p:nvPr/>
        </p:nvSpPr>
        <p:spPr>
          <a:xfrm>
            <a:off x="10351008" y="5070348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10515600" y="50154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91" name="Shape 87"/>
          <p:cNvSpPr/>
          <p:nvPr/>
        </p:nvSpPr>
        <p:spPr>
          <a:xfrm>
            <a:off x="658368" y="52806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722376" y="532638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22376" y="532638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B1</a:t>
            </a:r>
            <a:endParaRPr lang="en-US" sz="68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3263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Oct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35381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 de ventana de BBVA: se replanifica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3263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3263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4041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38124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3263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01" name="Shape 97"/>
          <p:cNvSpPr/>
          <p:nvPr/>
        </p:nvSpPr>
        <p:spPr>
          <a:xfrm>
            <a:off x="658368" y="56921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22376" y="573786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722376" y="573786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B2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2898648" y="57378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105" name="Text 101"/>
          <p:cNvSpPr txBox="1"/>
          <p:nvPr/>
        </p:nvSpPr>
        <p:spPr>
          <a:xfrm>
            <a:off x="7872984" y="57378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06" name="Text 102"/>
          <p:cNvSpPr txBox="1"/>
          <p:nvPr/>
        </p:nvSpPr>
        <p:spPr>
          <a:xfrm>
            <a:off x="8997696" y="57378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9436608" y="58155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08" name="Shape 104"/>
          <p:cNvSpPr/>
          <p:nvPr/>
        </p:nvSpPr>
        <p:spPr>
          <a:xfrm>
            <a:off x="10351008" y="579272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9" name="Text 105"/>
          <p:cNvSpPr txBox="1"/>
          <p:nvPr/>
        </p:nvSpPr>
        <p:spPr>
          <a:xfrm>
            <a:off x="10515600" y="57378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10" name="Shape 106"/>
          <p:cNvSpPr/>
          <p:nvPr/>
        </p:nvSpPr>
        <p:spPr>
          <a:xfrm>
            <a:off x="658368" y="60030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722376" y="6048756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2" name="Text 108"/>
          <p:cNvSpPr txBox="1"/>
          <p:nvPr/>
        </p:nvSpPr>
        <p:spPr>
          <a:xfrm>
            <a:off x="722376" y="6048756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B3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2898648" y="60487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Nov</a:t>
            </a:r>
            <a:endParaRPr lang="en-US" sz="900" dirty="0"/>
          </a:p>
        </p:txBody>
      </p:sp>
      <p:sp>
        <p:nvSpPr>
          <p:cNvPr id="114" name="Text 110"/>
          <p:cNvSpPr txBox="1"/>
          <p:nvPr/>
        </p:nvSpPr>
        <p:spPr>
          <a:xfrm>
            <a:off x="7872984" y="60487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15" name="Text 111"/>
          <p:cNvSpPr txBox="1"/>
          <p:nvPr/>
        </p:nvSpPr>
        <p:spPr>
          <a:xfrm>
            <a:off x="8997696" y="60487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16" name="Shape 112"/>
          <p:cNvSpPr/>
          <p:nvPr/>
        </p:nvSpPr>
        <p:spPr>
          <a:xfrm>
            <a:off x="9436608" y="61264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10351008" y="610362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18" name="Text 114"/>
          <p:cNvSpPr txBox="1"/>
          <p:nvPr/>
        </p:nvSpPr>
        <p:spPr>
          <a:xfrm>
            <a:off x="10515600" y="60487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 · COORDINACIÓN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 traspasos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abiertas, tareas pendientes y traspasos entre responsables pendientes de cerrar.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18 / 23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INCIDENCIAS Y TAREAS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Incidencias y tareas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19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tareas abiertas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Dos incidencias en Strategic Boost y Cargador Fondos y tres tareas abiertas o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22376" y="2002536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2376" y="2002536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296" y="196596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Strategic Boost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22376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Duplicados en ISSR, en el alta automática de emisores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Error en el proceso si el usuario deja vacío el Legal Regime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315968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35424" y="2002536"/>
            <a:ext cx="1266444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535424" y="2002536"/>
            <a:ext cx="12664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RIESGO</a:t>
            </a:r>
            <a:endParaRPr lang="en-US" sz="7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44" y="1965960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35424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2024-57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4535424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Eliminar columnas no utilizadas FT_T_RLA1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29016" y="1801368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348472" y="2002536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8348472" y="2002536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PLAZO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1965960"/>
            <a:ext cx="329184" cy="329184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348472" y="236829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Migración Midas FX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8348472" y="2715768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Volcado de BBDD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502920" y="4014216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722376" y="4215384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722376" y="4215384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11296" y="4178808"/>
            <a:ext cx="329184" cy="32918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" y="45811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Cargador Fondos</a:t>
            </a:r>
            <a:endParaRPr lang="en-US" sz="1350" dirty="0"/>
          </a:p>
        </p:txBody>
      </p:sp>
      <p:sp>
        <p:nvSpPr>
          <p:cNvPr id="32" name="Text 24"/>
          <p:cNvSpPr txBox="1"/>
          <p:nvPr/>
        </p:nvSpPr>
        <p:spPr>
          <a:xfrm>
            <a:off x="722376" y="4928616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Timeout en la carga masiva de más de 5.000 fondos</a:t>
            </a:r>
            <a:endParaRPr lang="en-US" sz="950" dirty="0"/>
          </a:p>
        </p:txBody>
      </p:sp>
      <p:sp>
        <p:nvSpPr>
          <p:cNvPr id="33" name="Shape 25"/>
          <p:cNvSpPr/>
          <p:nvPr/>
        </p:nvSpPr>
        <p:spPr>
          <a:xfrm>
            <a:off x="4315968" y="4014216"/>
            <a:ext cx="3557016" cy="1993392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535424" y="4215384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535424" y="4215384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CURSO</a:t>
            </a:r>
            <a:endParaRPr lang="en-US" sz="70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4344" y="4178808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535424" y="45811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Certificados JBOSS</a:t>
            </a:r>
            <a:endParaRPr lang="en-US" sz="1350" dirty="0"/>
          </a:p>
        </p:txBody>
      </p:sp>
      <p:sp>
        <p:nvSpPr>
          <p:cNvPr id="38" name="Text 29"/>
          <p:cNvSpPr txBox="1"/>
          <p:nvPr/>
        </p:nvSpPr>
        <p:spPr>
          <a:xfrm>
            <a:off x="4535424" y="4928616"/>
            <a:ext cx="31181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Renovación de certificados de los entornos de UAT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Coordinar con sistemas la ventana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TRASPASOS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Traspasos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20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Traspasos pendientes de cerrar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Seis proyectos traspasados; cuatro esperan el OK de usuario, uno la implantación y uno con otros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11183112" cy="3529584"/>
          </a:xfrm>
          <a:prstGeom prst="roundRect">
            <a:avLst>
              <a:gd name="adj" fmla="val 31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02920" y="1801368"/>
            <a:ext cx="11183112" cy="365760"/>
          </a:xfrm>
          <a:prstGeom prst="roundRect">
            <a:avLst>
              <a:gd name="adj" fmla="val 30000"/>
            </a:avLst>
          </a:prstGeom>
          <a:solidFill>
            <a:srgbClr val="E2E6EA"/>
          </a:solidFill>
          <a:ln/>
        </p:spPr>
      </p:sp>
      <p:sp>
        <p:nvSpPr>
          <p:cNvPr id="11" name="Shape 7"/>
          <p:cNvSpPr/>
          <p:nvPr/>
        </p:nvSpPr>
        <p:spPr>
          <a:xfrm>
            <a:off x="502920" y="1984248"/>
            <a:ext cx="11183112" cy="182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22376" y="180136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956816" y="180136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84064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INTERNO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50608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NFQ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9208008" y="180136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22376" y="231343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22376" y="231343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2025-61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956816" y="235915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Supply Chain Finance - Contrapartidas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084064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7150608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Ángela Montero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208008" y="235915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58368" y="27340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2376" y="2825496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22376" y="282549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2026-21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1956816" y="28712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084064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150608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8008" y="28712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implantación GoLive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58368" y="3246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3337560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3337560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2026-23</a:t>
            </a:r>
            <a:endParaRPr lang="en-US" sz="750" dirty="0"/>
          </a:p>
        </p:txBody>
      </p:sp>
      <p:sp>
        <p:nvSpPr>
          <p:cNvPr id="33" name="Text 29"/>
          <p:cNvSpPr txBox="1"/>
          <p:nvPr/>
        </p:nvSpPr>
        <p:spPr>
          <a:xfrm>
            <a:off x="1956816" y="338328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Fondos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5084064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150608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Jesús Tejada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208008" y="3383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58368" y="37581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849624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849624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2026-49</a:t>
            </a:r>
            <a:endParaRPr lang="en-US" sz="750" dirty="0"/>
          </a:p>
        </p:txBody>
      </p:sp>
      <p:sp>
        <p:nvSpPr>
          <p:cNvPr id="40" name="Text 36"/>
          <p:cNvSpPr txBox="1"/>
          <p:nvPr/>
        </p:nvSpPr>
        <p:spPr>
          <a:xfrm>
            <a:off x="1956816" y="3895344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Legal Agreements CLS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5084064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150608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9208008" y="389534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/ OK destino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58368" y="42702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22376" y="4361688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722376" y="4361688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2026-41</a:t>
            </a:r>
            <a:endParaRPr lang="en-US" sz="750" dirty="0"/>
          </a:p>
        </p:txBody>
      </p:sp>
      <p:sp>
        <p:nvSpPr>
          <p:cNvPr id="47" name="Text 43"/>
          <p:cNvSpPr txBox="1"/>
          <p:nvPr/>
        </p:nvSpPr>
        <p:spPr>
          <a:xfrm>
            <a:off x="1956816" y="440740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50" dirty="0"/>
          </a:p>
        </p:txBody>
      </p:sp>
      <p:sp>
        <p:nvSpPr>
          <p:cNvPr id="48" name="Text 44"/>
          <p:cNvSpPr txBox="1"/>
          <p:nvPr/>
        </p:nvSpPr>
        <p:spPr>
          <a:xfrm>
            <a:off x="5084064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7150608" y="44074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9208008" y="440740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post-implantación</a:t>
            </a:r>
            <a:endParaRPr lang="en-US" sz="950" dirty="0"/>
          </a:p>
        </p:txBody>
      </p:sp>
      <p:sp>
        <p:nvSpPr>
          <p:cNvPr id="51" name="Shape 47"/>
          <p:cNvSpPr/>
          <p:nvPr/>
        </p:nvSpPr>
        <p:spPr>
          <a:xfrm>
            <a:off x="658368" y="47823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487375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487375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2026-46</a:t>
            </a:r>
            <a:endParaRPr lang="en-US" sz="750" dirty="0"/>
          </a:p>
        </p:txBody>
      </p:sp>
      <p:sp>
        <p:nvSpPr>
          <p:cNvPr id="54" name="Text 50"/>
          <p:cNvSpPr txBox="1"/>
          <p:nvPr/>
        </p:nvSpPr>
        <p:spPr>
          <a:xfrm>
            <a:off x="1956816" y="491947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50" dirty="0"/>
          </a:p>
        </p:txBody>
      </p:sp>
      <p:sp>
        <p:nvSpPr>
          <p:cNvPr id="55" name="Text 51"/>
          <p:cNvSpPr txBox="1"/>
          <p:nvPr/>
        </p:nvSpPr>
        <p:spPr>
          <a:xfrm>
            <a:off x="5084064" y="49194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950" dirty="0"/>
          </a:p>
        </p:txBody>
      </p:sp>
      <p:sp>
        <p:nvSpPr>
          <p:cNvPr id="56" name="Text 52"/>
          <p:cNvSpPr txBox="1"/>
          <p:nvPr/>
        </p:nvSpPr>
        <p:spPr>
          <a:xfrm>
            <a:off x="7150608" y="491947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9208008" y="491947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traspaso</a:t>
            </a:r>
            <a:endParaRPr lang="en-US" sz="950" dirty="0"/>
          </a:p>
        </p:txBody>
      </p:sp>
      <p:sp>
        <p:nvSpPr>
          <p:cNvPr id="58" name="Text 54"/>
          <p:cNvSpPr txBox="1"/>
          <p:nvPr/>
        </p:nvSpPr>
        <p:spPr>
          <a:xfrm>
            <a:off x="502920" y="5513832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Color del código: Canary, falta el OK de usuario (pruebas); Mandarin, falta la implantación; Serene, otros pendientes.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CIFRAS CLAVE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Resumen · Cifras clave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21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Cifras clave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02920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11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proyectos en seguimiento con seis responsables internos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78343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6631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64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6631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fecha límite y avance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063947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46827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41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246827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completadas al 100 %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344461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27341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527341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en riesgo: Plan Brasil y Vulnerabilidades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962497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80785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980785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implantaciones en los próximos 30 días: Security Lending, BSI 2.0 y Vulnerabilidades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8343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96631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96631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abiertas o pendientes de coordinación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5063947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6827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6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246827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traspasos pendientes de OK de usuario o de implantación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344461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527341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75 %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7527341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 medio de las tareas en seguimiento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962497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80785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980785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la fecha límite superada sin cerrar: Migración MIDAS, Plan Brasil, Testing / IA - RDR…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2487168"/>
            <a:ext cx="2194560" cy="6583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611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GRACIAS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0" y="390448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 · 5 de octubre de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4617720" y="56875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5687568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ANEXO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· Anexo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23 / 23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2026-39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Institucional Clientes · E-Clients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5 al 100 % · Asignación: Marta y Pilar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49631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Feb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Feb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Inclusión de los alias en el Servicio de Inactivaciones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0998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14553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14553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41071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1455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Mar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17296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1455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1455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20040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1455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6027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6484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6484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39136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6484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Mar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6758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E-Clients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6484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6484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7033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6484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1056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1513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1513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513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78808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513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513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2062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513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NFQ Advisory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RDR · 5 de octubre de 2026</dc:title>
  <dc:subject>PptxGenJS Presentation</dc:subject>
  <dc:creator>NFQ Advisory Services</dc:creator>
  <cp:lastModifiedBy>NFQ Advisory Services</cp:lastModifiedBy>
  <cp:revision>1</cp:revision>
  <dcterms:created xsi:type="dcterms:W3CDTF">2026-10-03T10:23:15Z</dcterms:created>
  <dcterms:modified xsi:type="dcterms:W3CDTF">2026-10-03T10:23:15Z</dcterms:modified>
</cp:coreProperties>
</file>