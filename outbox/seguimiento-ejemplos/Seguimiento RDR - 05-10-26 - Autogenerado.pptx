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Seguimiento del equipo RDR a 5 de octubre de 2026: 11 proyectos, 64 tareas, 5 incidencias o tareas abiertas y 6 traspasos 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bloques: planificación del equipo, seguimiento de proyectos e incidencias y traspasos.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1: planificación del equipo por responsable interno.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Planificación por responsable (julio – octubre 2026), derivada de las fechas límite de cada tarea. Las tareas sin iniciar con fecha por trimestre aparecen en espera.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2: 11 proyectos y 64 tareas; 41 al 100 % y 3 en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Decomisado MIDAS · Migración Operaciones (SDATOOL-51125 · 2025-51). 6 tareas · 4 al 100 % · Asignación: Marta. Pendiente: Soporte pruebas (Q3, 95 %, en plazo); Implantación a producción (Q4,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Decomisado MIDAS · Cargador Thirdparties (SDATOOL-51125 · 2026-21). 5 tareas · 4 al 100 % · Asignación: Marta. Pendiente: implantación (Q4,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Decomisado MIDAS · Agreements CLS BBVA México (SDATOOL-51125 · 2026-49). 7 tareas · 7 al 100 % · Asignación: Marta.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Lending Undisclosed · Validaciones (SDATOOL-38779 · 2026-52). 4 tareas · 3 al 100 % · Asignación: Pablo y Marta. Pendiente: implantación (17 Oct,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BSI 2.0 (SDATOOL-49629 · 2026-50). 3 tareas · 0 al 100 % · Asignación: Pablo y Marta. Pendiente: análisis (Q3, — %, en plazo); Soporte a pruebas (Q3, — %, en plazo); Ventana Legal Agreements BSI (17 Oct,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Automatización Emisiones RV (SDATOOL-42226 · 2026-46). 6 tareas · 5 al 100 % · Asignación: Pablo. Pendiente: soporte (Q3, — %, en plazo).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Brasil · Adaptación de contrapartidas y liquidaciones (SDATOOL-55461 · 2026-58). 10 tareas · 2 al 100 % · 1 en riesgo · Asignación: Chema y Pablo. Pendiente: Alta y mantenimiento (2 Oct, 85 %, en curso); Instrucciones de liquidación (16 Oct, 40 %, en riesgo); Ficheros de salida (16 Oct, 30 %, en curso); Pruebas unitarias (23 Oct, 10 %, en curso); Pruebas integradas (6 Nov, 0 %, sin iniciar); Pruebas de usuario (20 Nov, 0 %, sin iniciar); Implantación en producción (Q4, 0 %, sin iniciar); Soporte post GoLive (Q4,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Brasil · Adaptación de contrapartidas y liquidaciones (SDATOOL-55461 · 2026-58). 10 tareas · 2 al 100 % · 1 en riesgo · Asignación: Chema y Pablo. Pendiente: Alta y mantenimiento (2 Oct, 85 %, en curso); Instrucciones de liquidación (16 Oct, 40 %, en riesgo); Ficheros de salida (16 Oct, 30 %, en curso); Pruebas unitarias (23 Oct, 10 %, en curso); Pruebas integradas (6 Nov, 0 %, sin iniciar); Pruebas de usuario (20 Nov, 0 %, sin iniciar); Implantación en producción (Q4, 0 %, sin iniciar); Soporte post GoLive (Q4,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Calypso OTC Madrid Fase V (SDATOOL-34546 · 2025). 6 tareas · 6 al 100 % · Asignación: Marta.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Eventos Corporativos (SDATOOL-51827 · 2026-41). 6 tareas · 6 al 100 % · Asignación: Pablo.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/ IA - RDR (BAU · 2026). 1 tarea · 0 al 100 % · Asignación: Pablo. Pendiente: Testing (Q3, 80 %, en plazo).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Vulnerabilidades Java (SDATOOL-51827 · 2026-54). 10 tareas · 4 al 100 % · 2 en riesgo · Asignación: Chema. Pendiente: desarrollo · b3 (19 Oct, 20 %, sin iniciar); pruebas · unitarias · b2 (14 Sep, 90 %, en plazo); pruebas · unitarias · b3 (19 Oct, 10 %, sin iniciar); implantación · b1 (10 Oct, 0 %, en riesgo); implantación · b2 (3 Oct, 0 %, en riesgo); implantación · b3 (7 Nov,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3: incidencias, tareas abiertas y traspasos.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incidencia: Strategic Boost — Duplicados en ISSR, en el alta automática de emisores; Error en el proceso si el usuario deja vacío el Legal Regime. tarea · en riesgo: 2024-57 — Eliminar columnas no utilizadas FT_T_RLA1. tarea · en plazo: Migración Midas FX — Volcado de BBDD. incidencia: Cargador Fondos — Timeout en la carga masiva de más de 5.000 fondos. tarea · en curso: Certificados JBOSS — Renovación de certificados de los entornos de UAT; Coordinar con sistemas la ventana.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Traspasos: Supply Chain Finance - Contrapartidas 2025-61 (Alejandro Romero → Ángela Montero, falta ok usuario); Cargador Thirdparties 2026-21 (Lucía Garrido → Marta Trujillano, falta implantación golive); Cargador Fondos 2026-23 (Lucía Garrido → Jesús Tejada, falta ok usuario); Legal Agreements CLS 2026-49 (Lucía Garrido → Marta Trujillano, falta ok usuario / ok destino); Eventos Corporativos 2026-41 (Pablo Rodríguez → Pablo, falta ok usuario post-implantación); Automatización Emisiones RV 2026-46 (Alejandro García → Pablo, documentación de traspaso).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Resumen: 11 proyectos, 64 tareas, 41 al 100 %, 3 en riesgo; 2 incidencias; 6 traspasos.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Institucional Clientes · E-Clients (SDATOOL-34546 · 2026-39). 5 tareas · 5 al 100 % · Asignación: Marta y Pilar.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3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384048"/>
            <a:ext cx="1554480" cy="4663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1783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· 5 DE OCTUBRE DE 2026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2103120"/>
            <a:ext cx="100584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7F8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Seguimiento</a:t>
            </a:r>
            <a:endParaRPr lang="en-US" sz="4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7F8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RDR Global 2026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657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9DDE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Planificación del equipo, estado de los proyectos, incidencias y traspasos pendientes.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02920" y="5084064"/>
            <a:ext cx="1351483" cy="31089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152644"/>
            <a:ext cx="173736" cy="1737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0392" y="5084064"/>
            <a:ext cx="940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PLANIFICACIÓN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046427" y="5084064"/>
            <a:ext cx="1291133" cy="310896"/>
          </a:xfrm>
          <a:prstGeom prst="roundRect">
            <a:avLst>
              <a:gd name="adj" fmla="val 50000"/>
            </a:avLst>
          </a:prstGeom>
          <a:solidFill>
            <a:srgbClr val="88E78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299" y="5152644"/>
            <a:ext cx="173736" cy="1737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393899" y="5084064"/>
            <a:ext cx="8796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 PROYECTOS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3529584" y="5084064"/>
            <a:ext cx="1230782" cy="31089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5152644"/>
            <a:ext cx="173736" cy="17373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877056" y="5084064"/>
            <a:ext cx="8193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TRASPASOS</a:t>
            </a:r>
            <a:endParaRPr lang="en-US" sz="850" dirty="0"/>
          </a:p>
        </p:txBody>
      </p:sp>
      <p:sp>
        <p:nvSpPr>
          <p:cNvPr id="15" name="Text 9"/>
          <p:cNvSpPr txBox="1"/>
          <p:nvPr/>
        </p:nvSpPr>
        <p:spPr>
          <a:xfrm>
            <a:off x="502920" y="63642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Nfq Advisory Services, 2026</a:t>
            </a:r>
            <a:endParaRPr lang="en-US" sz="850" dirty="0"/>
          </a:p>
        </p:txBody>
      </p:sp>
      <p:sp>
        <p:nvSpPr>
          <p:cNvPr id="16" name="Text 10"/>
          <p:cNvSpPr txBox="1"/>
          <p:nvPr/>
        </p:nvSpPr>
        <p:spPr>
          <a:xfrm>
            <a:off x="9976104" y="636422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HECHO POR</a:t>
            </a:r>
            <a:endParaRPr lang="en-US" sz="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88" y="6364224"/>
            <a:ext cx="64008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RDR   ÍNDICE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RDR Global 2026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02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11887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8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Índice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502920" y="2103120"/>
            <a:ext cx="3557016" cy="3520440"/>
          </a:xfrm>
          <a:prstGeom prst="roundRect">
            <a:avLst>
              <a:gd name="adj" fmla="val 3117"/>
            </a:avLst>
          </a:prstGeom>
          <a:solidFill>
            <a:srgbClr val="85C8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22376" y="234086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BLOQUE 01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722376" y="265176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Planificación del equipo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22376" y="3584448"/>
            <a:ext cx="31181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Fases de cada proyecto por semana y responsable interno.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15968" y="2103120"/>
            <a:ext cx="3557016" cy="3520440"/>
          </a:xfrm>
          <a:prstGeom prst="roundRect">
            <a:avLst>
              <a:gd name="adj" fmla="val 3117"/>
            </a:avLst>
          </a:prstGeom>
          <a:solidFill>
            <a:srgbClr val="88E78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535424" y="234086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BLOQUE 02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4535424" y="265176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Seguimiento de proyectos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35424" y="3584448"/>
            <a:ext cx="31181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Detalle de 11 proyectos: tareas, fechas límite, avance y estado.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29016" y="2103120"/>
            <a:ext cx="3557016" cy="3520440"/>
          </a:xfrm>
          <a:prstGeom prst="roundRect">
            <a:avLst>
              <a:gd name="adj" fmla="val 3117"/>
            </a:avLst>
          </a:prstGeom>
          <a:solidFill>
            <a:srgbClr val="FFE76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348472" y="234086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BLOQUE 03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8348472" y="265176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Incidencias y traspasos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8348472" y="3584448"/>
            <a:ext cx="31181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Incidencias, tareas abiertas y traspasos pendientes de cerrar.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5C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234440" cy="3749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651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BLOQUE 01 · PLANIFICACIÓN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2990088"/>
            <a:ext cx="10515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Planificación</a:t>
            </a:r>
            <a:endParaRPr lang="en-US" sz="4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del equipo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4714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Fases de cada proyecto por semana, julio – octubre 2026, agrupadas por responsable interno.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· Planificación del equipo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· PLANIFICACIÓN DEL EQUIPO   POR RESPONSABLE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· Planificación del equipo — Por responsable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04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JULIO – OCTUBRE 2026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Planificación por responsable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11084357" y="1691640"/>
            <a:ext cx="6016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ESPERA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10901477" y="17190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CAD1D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699955" y="1691640"/>
            <a:ext cx="105521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POST-IMPLANTACIÓN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9517075" y="17190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8BE1E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599018" y="1691640"/>
            <a:ext cx="7717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8416138" y="17190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B56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781544" y="1691640"/>
            <a:ext cx="48829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7598664" y="17190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E76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793992" y="1691640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6611112" y="17190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9694F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919826" y="1691640"/>
            <a:ext cx="54498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5736946" y="17190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85C8FF"/>
          </a:solidFill>
          <a:ln/>
        </p:spPr>
      </p:sp>
      <p:sp>
        <p:nvSpPr>
          <p:cNvPr id="21" name="Shape 17"/>
          <p:cNvSpPr/>
          <p:nvPr/>
        </p:nvSpPr>
        <p:spPr>
          <a:xfrm>
            <a:off x="502920" y="2075688"/>
            <a:ext cx="11183112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866376" y="2423160"/>
            <a:ext cx="530352" cy="3611880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2971800" y="220370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JULIO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017520" y="2423160"/>
            <a:ext cx="2029968" cy="0"/>
          </a:xfrm>
          <a:prstGeom prst="line">
            <a:avLst/>
          </a:prstGeom>
          <a:noFill/>
          <a:ln w="9525">
            <a:solidFill>
              <a:srgbClr val="00139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093208" y="220370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AGOSTO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5138928" y="2423160"/>
            <a:ext cx="2029968" cy="0"/>
          </a:xfrm>
          <a:prstGeom prst="line">
            <a:avLst/>
          </a:prstGeom>
          <a:noFill/>
          <a:ln w="9525">
            <a:solidFill>
              <a:srgbClr val="001391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93208" y="2459736"/>
            <a:ext cx="0" cy="3575304"/>
          </a:xfrm>
          <a:prstGeom prst="line">
            <a:avLst/>
          </a:prstGeom>
          <a:noFill/>
          <a:ln w="9525">
            <a:solidFill>
              <a:srgbClr val="CAD1D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214616" y="220370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SEPTIEMBRE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260336" y="2423160"/>
            <a:ext cx="2029968" cy="0"/>
          </a:xfrm>
          <a:prstGeom prst="line">
            <a:avLst/>
          </a:prstGeom>
          <a:noFill/>
          <a:ln w="9525">
            <a:solidFill>
              <a:srgbClr val="001391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14616" y="2459736"/>
            <a:ext cx="0" cy="3575304"/>
          </a:xfrm>
          <a:prstGeom prst="line">
            <a:avLst/>
          </a:prstGeom>
          <a:noFill/>
          <a:ln w="9525">
            <a:solidFill>
              <a:srgbClr val="CAD1D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336024" y="220370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OCTUBRE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9381744" y="2423160"/>
            <a:ext cx="2029968" cy="0"/>
          </a:xfrm>
          <a:prstGeom prst="line">
            <a:avLst/>
          </a:prstGeom>
          <a:noFill/>
          <a:ln w="9525">
            <a:solidFill>
              <a:srgbClr val="00139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336024" y="2459736"/>
            <a:ext cx="0" cy="3575304"/>
          </a:xfrm>
          <a:prstGeom prst="line">
            <a:avLst/>
          </a:prstGeom>
          <a:noFill/>
          <a:ln w="9525">
            <a:solidFill>
              <a:srgbClr val="CAD1D8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2971800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6/07</a:t>
            </a:r>
            <a:endParaRPr lang="en-US" sz="700" dirty="0"/>
          </a:p>
        </p:txBody>
      </p:sp>
      <p:sp>
        <p:nvSpPr>
          <p:cNvPr id="35" name="Text 31"/>
          <p:cNvSpPr txBox="1"/>
          <p:nvPr/>
        </p:nvSpPr>
        <p:spPr>
          <a:xfrm>
            <a:off x="3502152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13/07</a:t>
            </a:r>
            <a:endParaRPr lang="en-US" sz="700" dirty="0"/>
          </a:p>
        </p:txBody>
      </p:sp>
      <p:sp>
        <p:nvSpPr>
          <p:cNvPr id="36" name="Text 32"/>
          <p:cNvSpPr txBox="1"/>
          <p:nvPr/>
        </p:nvSpPr>
        <p:spPr>
          <a:xfrm>
            <a:off x="4032504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20/07</a:t>
            </a:r>
            <a:endParaRPr lang="en-US" sz="700" dirty="0"/>
          </a:p>
        </p:txBody>
      </p:sp>
      <p:sp>
        <p:nvSpPr>
          <p:cNvPr id="37" name="Text 33"/>
          <p:cNvSpPr txBox="1"/>
          <p:nvPr/>
        </p:nvSpPr>
        <p:spPr>
          <a:xfrm>
            <a:off x="4562856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27/07</a:t>
            </a:r>
            <a:endParaRPr lang="en-US" sz="700" dirty="0"/>
          </a:p>
        </p:txBody>
      </p:sp>
      <p:sp>
        <p:nvSpPr>
          <p:cNvPr id="38" name="Text 34"/>
          <p:cNvSpPr txBox="1"/>
          <p:nvPr/>
        </p:nvSpPr>
        <p:spPr>
          <a:xfrm>
            <a:off x="5093208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3/08</a:t>
            </a:r>
            <a:endParaRPr lang="en-US" sz="700" dirty="0"/>
          </a:p>
        </p:txBody>
      </p:sp>
      <p:sp>
        <p:nvSpPr>
          <p:cNvPr id="39" name="Text 35"/>
          <p:cNvSpPr txBox="1"/>
          <p:nvPr/>
        </p:nvSpPr>
        <p:spPr>
          <a:xfrm>
            <a:off x="5623560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10/08</a:t>
            </a:r>
            <a:endParaRPr lang="en-US" sz="700" dirty="0"/>
          </a:p>
        </p:txBody>
      </p:sp>
      <p:sp>
        <p:nvSpPr>
          <p:cNvPr id="40" name="Text 36"/>
          <p:cNvSpPr txBox="1"/>
          <p:nvPr/>
        </p:nvSpPr>
        <p:spPr>
          <a:xfrm>
            <a:off x="6153912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17/08</a:t>
            </a:r>
            <a:endParaRPr lang="en-US" sz="700" dirty="0"/>
          </a:p>
        </p:txBody>
      </p:sp>
      <p:sp>
        <p:nvSpPr>
          <p:cNvPr id="41" name="Text 37"/>
          <p:cNvSpPr txBox="1"/>
          <p:nvPr/>
        </p:nvSpPr>
        <p:spPr>
          <a:xfrm>
            <a:off x="6684264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24/08</a:t>
            </a:r>
            <a:endParaRPr lang="en-US" sz="700" dirty="0"/>
          </a:p>
        </p:txBody>
      </p:sp>
      <p:sp>
        <p:nvSpPr>
          <p:cNvPr id="42" name="Text 38"/>
          <p:cNvSpPr txBox="1"/>
          <p:nvPr/>
        </p:nvSpPr>
        <p:spPr>
          <a:xfrm>
            <a:off x="7214616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31/08</a:t>
            </a:r>
            <a:endParaRPr lang="en-US" sz="700" dirty="0"/>
          </a:p>
        </p:txBody>
      </p:sp>
      <p:sp>
        <p:nvSpPr>
          <p:cNvPr id="43" name="Text 39"/>
          <p:cNvSpPr txBox="1"/>
          <p:nvPr/>
        </p:nvSpPr>
        <p:spPr>
          <a:xfrm>
            <a:off x="7744968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7/09</a:t>
            </a:r>
            <a:endParaRPr lang="en-US" sz="700" dirty="0"/>
          </a:p>
        </p:txBody>
      </p:sp>
      <p:sp>
        <p:nvSpPr>
          <p:cNvPr id="44" name="Text 40"/>
          <p:cNvSpPr txBox="1"/>
          <p:nvPr/>
        </p:nvSpPr>
        <p:spPr>
          <a:xfrm>
            <a:off x="8275320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14/09</a:t>
            </a:r>
            <a:endParaRPr lang="en-US" sz="700" dirty="0"/>
          </a:p>
        </p:txBody>
      </p:sp>
      <p:sp>
        <p:nvSpPr>
          <p:cNvPr id="45" name="Text 41"/>
          <p:cNvSpPr txBox="1"/>
          <p:nvPr/>
        </p:nvSpPr>
        <p:spPr>
          <a:xfrm>
            <a:off x="8805672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21/09</a:t>
            </a:r>
            <a:endParaRPr lang="en-US" sz="700" dirty="0"/>
          </a:p>
        </p:txBody>
      </p:sp>
      <p:sp>
        <p:nvSpPr>
          <p:cNvPr id="46" name="Text 42"/>
          <p:cNvSpPr txBox="1"/>
          <p:nvPr/>
        </p:nvSpPr>
        <p:spPr>
          <a:xfrm>
            <a:off x="9336024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28/09</a:t>
            </a:r>
            <a:endParaRPr lang="en-US" sz="700" dirty="0"/>
          </a:p>
        </p:txBody>
      </p:sp>
      <p:sp>
        <p:nvSpPr>
          <p:cNvPr id="47" name="Text 43"/>
          <p:cNvSpPr txBox="1"/>
          <p:nvPr/>
        </p:nvSpPr>
        <p:spPr>
          <a:xfrm>
            <a:off x="9866376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5/10</a:t>
            </a:r>
            <a:endParaRPr lang="en-US" sz="700" dirty="0"/>
          </a:p>
        </p:txBody>
      </p:sp>
      <p:sp>
        <p:nvSpPr>
          <p:cNvPr id="48" name="Text 44"/>
          <p:cNvSpPr txBox="1"/>
          <p:nvPr/>
        </p:nvSpPr>
        <p:spPr>
          <a:xfrm>
            <a:off x="10396728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12/10</a:t>
            </a:r>
            <a:endParaRPr lang="en-US" sz="700" dirty="0"/>
          </a:p>
        </p:txBody>
      </p:sp>
      <p:sp>
        <p:nvSpPr>
          <p:cNvPr id="49" name="Text 45"/>
          <p:cNvSpPr txBox="1"/>
          <p:nvPr/>
        </p:nvSpPr>
        <p:spPr>
          <a:xfrm>
            <a:off x="10927080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19/10</a:t>
            </a:r>
            <a:endParaRPr lang="en-US" sz="700" dirty="0"/>
          </a:p>
        </p:txBody>
      </p:sp>
      <p:sp>
        <p:nvSpPr>
          <p:cNvPr id="50" name="Text 46"/>
          <p:cNvSpPr txBox="1"/>
          <p:nvPr/>
        </p:nvSpPr>
        <p:spPr>
          <a:xfrm>
            <a:off x="722376" y="272491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LUCÍA GARRIDO</a:t>
            </a:r>
            <a:endParaRPr lang="en-US" sz="700" dirty="0"/>
          </a:p>
        </p:txBody>
      </p:sp>
      <p:sp>
        <p:nvSpPr>
          <p:cNvPr id="51" name="Text 47"/>
          <p:cNvSpPr txBox="1"/>
          <p:nvPr/>
        </p:nvSpPr>
        <p:spPr>
          <a:xfrm>
            <a:off x="722376" y="2854046"/>
            <a:ext cx="2194560" cy="16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Migración MIDAS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2971800" y="2863717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53" name="Shape 49"/>
          <p:cNvSpPr/>
          <p:nvPr/>
        </p:nvSpPr>
        <p:spPr>
          <a:xfrm>
            <a:off x="2980944" y="2863717"/>
            <a:ext cx="1951591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54" name="Shape 50"/>
          <p:cNvSpPr/>
          <p:nvPr/>
        </p:nvSpPr>
        <p:spPr>
          <a:xfrm>
            <a:off x="4950823" y="2863717"/>
            <a:ext cx="209006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55" name="Shape 51"/>
          <p:cNvSpPr/>
          <p:nvPr/>
        </p:nvSpPr>
        <p:spPr>
          <a:xfrm>
            <a:off x="5178117" y="2863717"/>
            <a:ext cx="1875826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56" name="Shape 52"/>
          <p:cNvSpPr/>
          <p:nvPr/>
        </p:nvSpPr>
        <p:spPr>
          <a:xfrm>
            <a:off x="7072231" y="2863717"/>
            <a:ext cx="57477" cy="146304"/>
          </a:xfrm>
          <a:prstGeom prst="roundRect">
            <a:avLst>
              <a:gd name="adj" fmla="val 95454"/>
            </a:avLst>
          </a:prstGeom>
          <a:solidFill>
            <a:srgbClr val="FFE761"/>
          </a:solidFill>
          <a:ln/>
        </p:spPr>
      </p:sp>
      <p:sp>
        <p:nvSpPr>
          <p:cNvPr id="57" name="Shape 53"/>
          <p:cNvSpPr/>
          <p:nvPr/>
        </p:nvSpPr>
        <p:spPr>
          <a:xfrm>
            <a:off x="2980944" y="2863717"/>
            <a:ext cx="6573230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58" name="Shape 54"/>
          <p:cNvSpPr/>
          <p:nvPr/>
        </p:nvSpPr>
        <p:spPr>
          <a:xfrm>
            <a:off x="9572462" y="2863717"/>
            <a:ext cx="1875826" cy="146304"/>
          </a:xfrm>
          <a:prstGeom prst="roundRect">
            <a:avLst>
              <a:gd name="adj" fmla="val 37500"/>
            </a:avLst>
          </a:prstGeom>
          <a:solidFill>
            <a:srgbClr val="CAD1D8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722376" y="3065411"/>
            <a:ext cx="2194560" cy="16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Cargador Thirdparties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2971800" y="3075081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61" name="Shape 57"/>
          <p:cNvSpPr/>
          <p:nvPr/>
        </p:nvSpPr>
        <p:spPr>
          <a:xfrm>
            <a:off x="2980944" y="3075081"/>
            <a:ext cx="2481943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62" name="Shape 58"/>
          <p:cNvSpPr/>
          <p:nvPr/>
        </p:nvSpPr>
        <p:spPr>
          <a:xfrm>
            <a:off x="5481175" y="3075081"/>
            <a:ext cx="512064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63" name="Shape 59"/>
          <p:cNvSpPr/>
          <p:nvPr/>
        </p:nvSpPr>
        <p:spPr>
          <a:xfrm>
            <a:off x="6011527" y="3075081"/>
            <a:ext cx="436299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64" name="Shape 60"/>
          <p:cNvSpPr/>
          <p:nvPr/>
        </p:nvSpPr>
        <p:spPr>
          <a:xfrm>
            <a:off x="6466114" y="3075081"/>
            <a:ext cx="4982174" cy="146304"/>
          </a:xfrm>
          <a:prstGeom prst="roundRect">
            <a:avLst>
              <a:gd name="adj" fmla="val 37500"/>
            </a:avLst>
          </a:prstGeom>
          <a:solidFill>
            <a:srgbClr val="CAD1D8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722376" y="3276775"/>
            <a:ext cx="2194560" cy="16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Agreements CLS</a:t>
            </a:r>
            <a:endParaRPr lang="en-US" sz="900" dirty="0"/>
          </a:p>
        </p:txBody>
      </p:sp>
      <p:sp>
        <p:nvSpPr>
          <p:cNvPr id="66" name="Shape 62"/>
          <p:cNvSpPr/>
          <p:nvPr/>
        </p:nvSpPr>
        <p:spPr>
          <a:xfrm>
            <a:off x="2971800" y="3286446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67" name="Shape 63"/>
          <p:cNvSpPr/>
          <p:nvPr/>
        </p:nvSpPr>
        <p:spPr>
          <a:xfrm>
            <a:off x="2980944" y="3286446"/>
            <a:ext cx="133241" cy="146304"/>
          </a:xfrm>
          <a:prstGeom prst="roundRect">
            <a:avLst>
              <a:gd name="adj" fmla="val 41177"/>
            </a:avLst>
          </a:prstGeom>
          <a:solidFill>
            <a:srgbClr val="9694FF"/>
          </a:solidFill>
          <a:ln/>
        </p:spPr>
      </p:sp>
      <p:sp>
        <p:nvSpPr>
          <p:cNvPr id="68" name="Shape 64"/>
          <p:cNvSpPr/>
          <p:nvPr/>
        </p:nvSpPr>
        <p:spPr>
          <a:xfrm>
            <a:off x="3132473" y="3286446"/>
            <a:ext cx="2027355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69" name="Shape 65"/>
          <p:cNvSpPr/>
          <p:nvPr/>
        </p:nvSpPr>
        <p:spPr>
          <a:xfrm>
            <a:off x="5178117" y="3286446"/>
            <a:ext cx="815122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70" name="Shape 66"/>
          <p:cNvSpPr/>
          <p:nvPr/>
        </p:nvSpPr>
        <p:spPr>
          <a:xfrm>
            <a:off x="8284464" y="3286446"/>
            <a:ext cx="966651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71" name="Text 67"/>
          <p:cNvSpPr txBox="1"/>
          <p:nvPr/>
        </p:nvSpPr>
        <p:spPr>
          <a:xfrm>
            <a:off x="722376" y="3488140"/>
            <a:ext cx="2194560" cy="16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Lending</a:t>
            </a:r>
            <a:endParaRPr lang="en-US" sz="900" dirty="0"/>
          </a:p>
        </p:txBody>
      </p:sp>
      <p:sp>
        <p:nvSpPr>
          <p:cNvPr id="72" name="Shape 68"/>
          <p:cNvSpPr/>
          <p:nvPr/>
        </p:nvSpPr>
        <p:spPr>
          <a:xfrm>
            <a:off x="2971800" y="3497810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73" name="Shape 69"/>
          <p:cNvSpPr/>
          <p:nvPr/>
        </p:nvSpPr>
        <p:spPr>
          <a:xfrm>
            <a:off x="4041648" y="3497810"/>
            <a:ext cx="1421239" cy="146304"/>
          </a:xfrm>
          <a:prstGeom prst="roundRect">
            <a:avLst>
              <a:gd name="adj" fmla="val 37500"/>
            </a:avLst>
          </a:prstGeom>
          <a:solidFill>
            <a:srgbClr val="85C8FF"/>
          </a:solidFill>
          <a:ln/>
        </p:spPr>
      </p:sp>
      <p:sp>
        <p:nvSpPr>
          <p:cNvPr id="74" name="Shape 70"/>
          <p:cNvSpPr/>
          <p:nvPr/>
        </p:nvSpPr>
        <p:spPr>
          <a:xfrm>
            <a:off x="5481175" y="3497810"/>
            <a:ext cx="1800062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75" name="Shape 71"/>
          <p:cNvSpPr/>
          <p:nvPr/>
        </p:nvSpPr>
        <p:spPr>
          <a:xfrm>
            <a:off x="7299525" y="3497810"/>
            <a:ext cx="2330414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76" name="Shape 72"/>
          <p:cNvSpPr/>
          <p:nvPr/>
        </p:nvSpPr>
        <p:spPr>
          <a:xfrm>
            <a:off x="9648226" y="3497810"/>
            <a:ext cx="1193945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77" name="Shape 73"/>
          <p:cNvSpPr/>
          <p:nvPr/>
        </p:nvSpPr>
        <p:spPr>
          <a:xfrm>
            <a:off x="658368" y="3672073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722376" y="3726937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ALEJANDRO GARCÍA</a:t>
            </a:r>
            <a:endParaRPr lang="en-US" sz="700" dirty="0"/>
          </a:p>
        </p:txBody>
      </p:sp>
      <p:sp>
        <p:nvSpPr>
          <p:cNvPr id="79" name="Text 75"/>
          <p:cNvSpPr txBox="1"/>
          <p:nvPr/>
        </p:nvSpPr>
        <p:spPr>
          <a:xfrm>
            <a:off x="722376" y="3856071"/>
            <a:ext cx="2194560" cy="16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BSI 2.0</a:t>
            </a:r>
            <a:endParaRPr lang="en-US" sz="900" dirty="0"/>
          </a:p>
        </p:txBody>
      </p:sp>
      <p:sp>
        <p:nvSpPr>
          <p:cNvPr id="80" name="Shape 76"/>
          <p:cNvSpPr/>
          <p:nvPr/>
        </p:nvSpPr>
        <p:spPr>
          <a:xfrm>
            <a:off x="2971800" y="3865741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81" name="Shape 77"/>
          <p:cNvSpPr/>
          <p:nvPr/>
        </p:nvSpPr>
        <p:spPr>
          <a:xfrm>
            <a:off x="2980944" y="3865741"/>
            <a:ext cx="6573230" cy="146304"/>
          </a:xfrm>
          <a:prstGeom prst="roundRect">
            <a:avLst>
              <a:gd name="adj" fmla="val 37500"/>
            </a:avLst>
          </a:prstGeom>
          <a:solidFill>
            <a:srgbClr val="85C8FF"/>
          </a:solidFill>
          <a:ln/>
        </p:spPr>
      </p:sp>
      <p:sp>
        <p:nvSpPr>
          <p:cNvPr id="82" name="Shape 78"/>
          <p:cNvSpPr/>
          <p:nvPr/>
        </p:nvSpPr>
        <p:spPr>
          <a:xfrm>
            <a:off x="10405872" y="3865741"/>
            <a:ext cx="436299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722376" y="4067435"/>
            <a:ext cx="2194560" cy="16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Automatización Emisiones RV</a:t>
            </a:r>
            <a:endParaRPr lang="en-US" sz="900" dirty="0"/>
          </a:p>
        </p:txBody>
      </p:sp>
      <p:sp>
        <p:nvSpPr>
          <p:cNvPr id="84" name="Shape 80"/>
          <p:cNvSpPr/>
          <p:nvPr/>
        </p:nvSpPr>
        <p:spPr>
          <a:xfrm>
            <a:off x="2971800" y="4077106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85" name="Shape 81"/>
          <p:cNvSpPr/>
          <p:nvPr/>
        </p:nvSpPr>
        <p:spPr>
          <a:xfrm>
            <a:off x="2980944" y="4077106"/>
            <a:ext cx="360535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86" name="Shape 82"/>
          <p:cNvSpPr/>
          <p:nvPr/>
        </p:nvSpPr>
        <p:spPr>
          <a:xfrm>
            <a:off x="3359767" y="4077106"/>
            <a:ext cx="360535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87" name="Shape 83"/>
          <p:cNvSpPr/>
          <p:nvPr/>
        </p:nvSpPr>
        <p:spPr>
          <a:xfrm>
            <a:off x="3738590" y="4077106"/>
            <a:ext cx="739358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88" name="Shape 84"/>
          <p:cNvSpPr/>
          <p:nvPr/>
        </p:nvSpPr>
        <p:spPr>
          <a:xfrm>
            <a:off x="4496235" y="4077106"/>
            <a:ext cx="5057938" cy="146304"/>
          </a:xfrm>
          <a:prstGeom prst="roundRect">
            <a:avLst>
              <a:gd name="adj" fmla="val 37500"/>
            </a:avLst>
          </a:prstGeom>
          <a:solidFill>
            <a:srgbClr val="8BE1E9"/>
          </a:solidFill>
          <a:ln/>
        </p:spPr>
      </p:sp>
      <p:sp>
        <p:nvSpPr>
          <p:cNvPr id="89" name="Text 85"/>
          <p:cNvSpPr txBox="1"/>
          <p:nvPr/>
        </p:nvSpPr>
        <p:spPr>
          <a:xfrm>
            <a:off x="722376" y="4278800"/>
            <a:ext cx="2194560" cy="16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 Brasil</a:t>
            </a:r>
            <a:endParaRPr lang="en-US" sz="900" dirty="0"/>
          </a:p>
        </p:txBody>
      </p:sp>
      <p:sp>
        <p:nvSpPr>
          <p:cNvPr id="90" name="Shape 86"/>
          <p:cNvSpPr/>
          <p:nvPr/>
        </p:nvSpPr>
        <p:spPr>
          <a:xfrm>
            <a:off x="2971800" y="4288470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91" name="Shape 87"/>
          <p:cNvSpPr/>
          <p:nvPr/>
        </p:nvSpPr>
        <p:spPr>
          <a:xfrm>
            <a:off x="6163056" y="4288470"/>
            <a:ext cx="890887" cy="146304"/>
          </a:xfrm>
          <a:prstGeom prst="roundRect">
            <a:avLst>
              <a:gd name="adj" fmla="val 37500"/>
            </a:avLst>
          </a:prstGeom>
          <a:solidFill>
            <a:srgbClr val="85C8FF"/>
          </a:solidFill>
          <a:ln/>
        </p:spPr>
      </p:sp>
      <p:sp>
        <p:nvSpPr>
          <p:cNvPr id="92" name="Shape 88"/>
          <p:cNvSpPr/>
          <p:nvPr/>
        </p:nvSpPr>
        <p:spPr>
          <a:xfrm>
            <a:off x="7072231" y="4288470"/>
            <a:ext cx="1042416" cy="146304"/>
          </a:xfrm>
          <a:prstGeom prst="roundRect">
            <a:avLst>
              <a:gd name="adj" fmla="val 37500"/>
            </a:avLst>
          </a:prstGeom>
          <a:solidFill>
            <a:srgbClr val="85C8FF"/>
          </a:solidFill>
          <a:ln/>
        </p:spPr>
      </p:sp>
      <p:sp>
        <p:nvSpPr>
          <p:cNvPr id="93" name="Shape 89"/>
          <p:cNvSpPr/>
          <p:nvPr/>
        </p:nvSpPr>
        <p:spPr>
          <a:xfrm>
            <a:off x="8132935" y="4288470"/>
            <a:ext cx="1572768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94" name="Shape 90"/>
          <p:cNvSpPr/>
          <p:nvPr/>
        </p:nvSpPr>
        <p:spPr>
          <a:xfrm>
            <a:off x="9723991" y="4288470"/>
            <a:ext cx="1042416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95" name="Shape 91"/>
          <p:cNvSpPr/>
          <p:nvPr/>
        </p:nvSpPr>
        <p:spPr>
          <a:xfrm>
            <a:off x="10784695" y="4288470"/>
            <a:ext cx="512064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96" name="Shape 92"/>
          <p:cNvSpPr/>
          <p:nvPr/>
        </p:nvSpPr>
        <p:spPr>
          <a:xfrm>
            <a:off x="11315047" y="4288470"/>
            <a:ext cx="133241" cy="146304"/>
          </a:xfrm>
          <a:prstGeom prst="roundRect">
            <a:avLst>
              <a:gd name="adj" fmla="val 41177"/>
            </a:avLst>
          </a:prstGeom>
          <a:solidFill>
            <a:srgbClr val="FFE761"/>
          </a:solidFill>
          <a:ln/>
        </p:spPr>
      </p:sp>
      <p:sp>
        <p:nvSpPr>
          <p:cNvPr id="97" name="Shape 93"/>
          <p:cNvSpPr/>
          <p:nvPr/>
        </p:nvSpPr>
        <p:spPr>
          <a:xfrm>
            <a:off x="658368" y="446273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98" name="Text 94"/>
          <p:cNvSpPr txBox="1"/>
          <p:nvPr/>
        </p:nvSpPr>
        <p:spPr>
          <a:xfrm>
            <a:off x="722376" y="4517596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ALEJANDRO ROMERO</a:t>
            </a:r>
            <a:endParaRPr lang="en-US" sz="700" dirty="0"/>
          </a:p>
        </p:txBody>
      </p:sp>
      <p:sp>
        <p:nvSpPr>
          <p:cNvPr id="99" name="Text 95"/>
          <p:cNvSpPr txBox="1"/>
          <p:nvPr/>
        </p:nvSpPr>
        <p:spPr>
          <a:xfrm>
            <a:off x="722376" y="4646731"/>
            <a:ext cx="2194560" cy="16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OTC V</a:t>
            </a:r>
            <a:endParaRPr lang="en-US" sz="900" dirty="0"/>
          </a:p>
        </p:txBody>
      </p:sp>
      <p:sp>
        <p:nvSpPr>
          <p:cNvPr id="100" name="Shape 96"/>
          <p:cNvSpPr/>
          <p:nvPr/>
        </p:nvSpPr>
        <p:spPr>
          <a:xfrm>
            <a:off x="2971800" y="4656401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101" name="Shape 97"/>
          <p:cNvSpPr/>
          <p:nvPr/>
        </p:nvSpPr>
        <p:spPr>
          <a:xfrm>
            <a:off x="2980944" y="4656401"/>
            <a:ext cx="360535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102" name="Shape 98"/>
          <p:cNvSpPr/>
          <p:nvPr/>
        </p:nvSpPr>
        <p:spPr>
          <a:xfrm>
            <a:off x="3359767" y="4656401"/>
            <a:ext cx="209006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103" name="Shape 99"/>
          <p:cNvSpPr/>
          <p:nvPr/>
        </p:nvSpPr>
        <p:spPr>
          <a:xfrm>
            <a:off x="8057170" y="4656401"/>
            <a:ext cx="133241" cy="146304"/>
          </a:xfrm>
          <a:prstGeom prst="roundRect">
            <a:avLst>
              <a:gd name="adj" fmla="val 41177"/>
            </a:avLst>
          </a:prstGeom>
          <a:solidFill>
            <a:srgbClr val="FFE761"/>
          </a:solidFill>
          <a:ln/>
        </p:spPr>
      </p:sp>
      <p:sp>
        <p:nvSpPr>
          <p:cNvPr id="104" name="Shape 100"/>
          <p:cNvSpPr/>
          <p:nvPr/>
        </p:nvSpPr>
        <p:spPr>
          <a:xfrm>
            <a:off x="8208699" y="4656401"/>
            <a:ext cx="1345474" cy="146304"/>
          </a:xfrm>
          <a:prstGeom prst="roundRect">
            <a:avLst>
              <a:gd name="adj" fmla="val 37500"/>
            </a:avLst>
          </a:prstGeom>
          <a:solidFill>
            <a:srgbClr val="8BE1E9"/>
          </a:solidFill>
          <a:ln/>
        </p:spPr>
      </p:sp>
      <p:sp>
        <p:nvSpPr>
          <p:cNvPr id="105" name="Shape 101"/>
          <p:cNvSpPr/>
          <p:nvPr/>
        </p:nvSpPr>
        <p:spPr>
          <a:xfrm>
            <a:off x="658368" y="4830663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06" name="Text 102"/>
          <p:cNvSpPr txBox="1"/>
          <p:nvPr/>
        </p:nvSpPr>
        <p:spPr>
          <a:xfrm>
            <a:off x="722376" y="4885527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 RODRÍGUEZ</a:t>
            </a:r>
            <a:endParaRPr lang="en-US" sz="700" dirty="0"/>
          </a:p>
        </p:txBody>
      </p:sp>
      <p:sp>
        <p:nvSpPr>
          <p:cNvPr id="107" name="Text 103"/>
          <p:cNvSpPr txBox="1"/>
          <p:nvPr/>
        </p:nvSpPr>
        <p:spPr>
          <a:xfrm>
            <a:off x="722376" y="5014662"/>
            <a:ext cx="2194560" cy="16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Eventos Corporativos</a:t>
            </a:r>
            <a:endParaRPr lang="en-US" sz="900" dirty="0"/>
          </a:p>
        </p:txBody>
      </p:sp>
      <p:sp>
        <p:nvSpPr>
          <p:cNvPr id="108" name="Shape 104"/>
          <p:cNvSpPr/>
          <p:nvPr/>
        </p:nvSpPr>
        <p:spPr>
          <a:xfrm>
            <a:off x="2971800" y="5024332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109" name="Shape 105"/>
          <p:cNvSpPr/>
          <p:nvPr/>
        </p:nvSpPr>
        <p:spPr>
          <a:xfrm>
            <a:off x="2980944" y="5024332"/>
            <a:ext cx="4300293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110" name="Shape 106"/>
          <p:cNvSpPr/>
          <p:nvPr/>
        </p:nvSpPr>
        <p:spPr>
          <a:xfrm>
            <a:off x="9345168" y="5024332"/>
            <a:ext cx="436299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111" name="Shape 107"/>
          <p:cNvSpPr/>
          <p:nvPr/>
        </p:nvSpPr>
        <p:spPr>
          <a:xfrm>
            <a:off x="658368" y="5198594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12" name="Text 108"/>
          <p:cNvSpPr txBox="1"/>
          <p:nvPr/>
        </p:nvSpPr>
        <p:spPr>
          <a:xfrm>
            <a:off x="722376" y="525345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JUAN MANUEL FERNÁNDEZ TUDERO</a:t>
            </a:r>
            <a:endParaRPr lang="en-US" sz="700" dirty="0"/>
          </a:p>
        </p:txBody>
      </p:sp>
      <p:sp>
        <p:nvSpPr>
          <p:cNvPr id="113" name="Text 109"/>
          <p:cNvSpPr txBox="1"/>
          <p:nvPr/>
        </p:nvSpPr>
        <p:spPr>
          <a:xfrm>
            <a:off x="722376" y="5382593"/>
            <a:ext cx="2194560" cy="16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Testing / IA - RDR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2971800" y="5392263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115" name="Shape 111"/>
          <p:cNvSpPr/>
          <p:nvPr/>
        </p:nvSpPr>
        <p:spPr>
          <a:xfrm>
            <a:off x="5102352" y="5392263"/>
            <a:ext cx="4451822" cy="146304"/>
          </a:xfrm>
          <a:prstGeom prst="roundRect">
            <a:avLst>
              <a:gd name="adj" fmla="val 37500"/>
            </a:avLst>
          </a:prstGeom>
          <a:solidFill>
            <a:srgbClr val="85C8FF"/>
          </a:solidFill>
          <a:ln/>
        </p:spPr>
      </p:sp>
      <p:sp>
        <p:nvSpPr>
          <p:cNvPr id="116" name="Shape 112"/>
          <p:cNvSpPr/>
          <p:nvPr/>
        </p:nvSpPr>
        <p:spPr>
          <a:xfrm>
            <a:off x="658368" y="5566525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17" name="Text 113"/>
          <p:cNvSpPr txBox="1"/>
          <p:nvPr/>
        </p:nvSpPr>
        <p:spPr>
          <a:xfrm>
            <a:off x="722376" y="5621389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JOSÉ MARÍA PARRA</a:t>
            </a:r>
            <a:endParaRPr lang="en-US" sz="700" dirty="0"/>
          </a:p>
        </p:txBody>
      </p:sp>
      <p:sp>
        <p:nvSpPr>
          <p:cNvPr id="118" name="Text 114"/>
          <p:cNvSpPr txBox="1"/>
          <p:nvPr/>
        </p:nvSpPr>
        <p:spPr>
          <a:xfrm>
            <a:off x="722376" y="5750523"/>
            <a:ext cx="2194560" cy="16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Vulnerabilidades</a:t>
            </a:r>
            <a:endParaRPr lang="en-US" sz="900" dirty="0"/>
          </a:p>
        </p:txBody>
      </p:sp>
      <p:sp>
        <p:nvSpPr>
          <p:cNvPr id="119" name="Shape 115"/>
          <p:cNvSpPr/>
          <p:nvPr/>
        </p:nvSpPr>
        <p:spPr>
          <a:xfrm>
            <a:off x="2971800" y="5760194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120" name="Shape 116"/>
          <p:cNvSpPr/>
          <p:nvPr/>
        </p:nvSpPr>
        <p:spPr>
          <a:xfrm>
            <a:off x="2980944" y="5760194"/>
            <a:ext cx="1648533" cy="146304"/>
          </a:xfrm>
          <a:prstGeom prst="roundRect">
            <a:avLst>
              <a:gd name="adj" fmla="val 37500"/>
            </a:avLst>
          </a:prstGeom>
          <a:solidFill>
            <a:srgbClr val="85C8FF"/>
          </a:solidFill>
          <a:ln/>
        </p:spPr>
      </p:sp>
      <p:sp>
        <p:nvSpPr>
          <p:cNvPr id="121" name="Shape 117"/>
          <p:cNvSpPr/>
          <p:nvPr/>
        </p:nvSpPr>
        <p:spPr>
          <a:xfrm>
            <a:off x="4647765" y="5760194"/>
            <a:ext cx="1572768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122" name="Shape 118"/>
          <p:cNvSpPr/>
          <p:nvPr/>
        </p:nvSpPr>
        <p:spPr>
          <a:xfrm>
            <a:off x="6238821" y="5760194"/>
            <a:ext cx="512064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123" name="Shape 119"/>
          <p:cNvSpPr/>
          <p:nvPr/>
        </p:nvSpPr>
        <p:spPr>
          <a:xfrm>
            <a:off x="6769173" y="5760194"/>
            <a:ext cx="1042416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124" name="Shape 120"/>
          <p:cNvSpPr/>
          <p:nvPr/>
        </p:nvSpPr>
        <p:spPr>
          <a:xfrm>
            <a:off x="7829877" y="5760194"/>
            <a:ext cx="512064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125" name="Shape 121"/>
          <p:cNvSpPr/>
          <p:nvPr/>
        </p:nvSpPr>
        <p:spPr>
          <a:xfrm>
            <a:off x="8360229" y="5760194"/>
            <a:ext cx="1421239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126" name="Shape 122"/>
          <p:cNvSpPr/>
          <p:nvPr/>
        </p:nvSpPr>
        <p:spPr>
          <a:xfrm>
            <a:off x="9799755" y="5760194"/>
            <a:ext cx="512064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127" name="Shape 123"/>
          <p:cNvSpPr/>
          <p:nvPr/>
        </p:nvSpPr>
        <p:spPr>
          <a:xfrm>
            <a:off x="10330107" y="5760194"/>
            <a:ext cx="663593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128" name="Shape 124"/>
          <p:cNvSpPr/>
          <p:nvPr/>
        </p:nvSpPr>
        <p:spPr>
          <a:xfrm>
            <a:off x="11011989" y="5760194"/>
            <a:ext cx="436299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129" name="Shape 125"/>
          <p:cNvSpPr/>
          <p:nvPr/>
        </p:nvSpPr>
        <p:spPr>
          <a:xfrm>
            <a:off x="9866376" y="2642616"/>
            <a:ext cx="0" cy="3392424"/>
          </a:xfrm>
          <a:prstGeom prst="line">
            <a:avLst/>
          </a:prstGeom>
          <a:noFill/>
          <a:ln w="15875">
            <a:solidFill>
              <a:srgbClr val="001391"/>
            </a:solidFill>
            <a:prstDash val="dash"/>
          </a:ln>
        </p:spPr>
      </p:sp>
      <p:sp>
        <p:nvSpPr>
          <p:cNvPr id="130" name="Shape 126"/>
          <p:cNvSpPr/>
          <p:nvPr/>
        </p:nvSpPr>
        <p:spPr>
          <a:xfrm>
            <a:off x="9427464" y="6062472"/>
            <a:ext cx="877824" cy="164592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131" name="Text 127"/>
          <p:cNvSpPr txBox="1"/>
          <p:nvPr/>
        </p:nvSpPr>
        <p:spPr>
          <a:xfrm>
            <a:off x="9427464" y="606247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SEMANA ACTUAL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3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234440" cy="3749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651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BLOQUE 02 · DETALLE POR RESPONSABLE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2990088"/>
            <a:ext cx="10515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7F8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Seguimiento</a:t>
            </a:r>
            <a:endParaRPr lang="en-US" sz="4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7F8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 proyectos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4714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9DDE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 proyectos y 64 tareas con fecha límite, avance y estado. 41 tareas están al 100 % y 3 en riesgo.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LUCÍA GARRIDO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Lucía Garrido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06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SDATOOL-51125 · 2025-51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Decomisado MIDAS · Migración Operaciones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tareas · 4 al 100 % · Asignación: Marta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722376" y="268833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pruebas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3931920" y="245059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pruebas UAT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pruebas DataX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95 %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7" name="Shape 23"/>
          <p:cNvSpPr/>
          <p:nvPr/>
        </p:nvSpPr>
        <p:spPr>
          <a:xfrm>
            <a:off x="9436608" y="2500884"/>
            <a:ext cx="729691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8" name="Shape 24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58368" y="288036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22376" y="292608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22376" y="292608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33" name="Text 29"/>
          <p:cNvSpPr txBox="1"/>
          <p:nvPr/>
        </p:nvSpPr>
        <p:spPr>
          <a:xfrm>
            <a:off x="722376" y="319125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pre simulacro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2898648" y="292608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 Jul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3931920" y="295351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 y publicación DDFF Simulacro Técnico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7872984" y="292608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8997696" y="29260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9436608" y="30038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9" name="Shape 35"/>
          <p:cNvSpPr/>
          <p:nvPr/>
        </p:nvSpPr>
        <p:spPr>
          <a:xfrm>
            <a:off x="9436608" y="30038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40" name="Shape 36"/>
          <p:cNvSpPr/>
          <p:nvPr/>
        </p:nvSpPr>
        <p:spPr>
          <a:xfrm>
            <a:off x="10351008" y="298094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10515600" y="29260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658368" y="338328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22376" y="342900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722376" y="342900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5" name="Text 41"/>
          <p:cNvSpPr txBox="1"/>
          <p:nvPr/>
        </p:nvSpPr>
        <p:spPr>
          <a:xfrm>
            <a:off x="722376" y="369417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Simulacro técnico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2898648" y="342900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Ago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3931920" y="34564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a simulacro</a:t>
            </a:r>
            <a:endParaRPr lang="en-US" sz="850" dirty="0"/>
          </a:p>
        </p:txBody>
      </p:sp>
      <p:sp>
        <p:nvSpPr>
          <p:cNvPr id="48" name="Text 44"/>
          <p:cNvSpPr txBox="1"/>
          <p:nvPr/>
        </p:nvSpPr>
        <p:spPr>
          <a:xfrm>
            <a:off x="7872984" y="342900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8997696" y="34290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9436608" y="35067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51" name="Shape 47"/>
          <p:cNvSpPr/>
          <p:nvPr/>
        </p:nvSpPr>
        <p:spPr>
          <a:xfrm>
            <a:off x="9436608" y="35067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2" name="Shape 48"/>
          <p:cNvSpPr/>
          <p:nvPr/>
        </p:nvSpPr>
        <p:spPr>
          <a:xfrm>
            <a:off x="10351008" y="348386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10515600" y="342900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658368" y="388620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22376" y="393192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722376" y="393192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57" name="Text 53"/>
          <p:cNvSpPr txBox="1"/>
          <p:nvPr/>
        </p:nvSpPr>
        <p:spPr>
          <a:xfrm>
            <a:off x="722376" y="419709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pre simulacro usuario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2898648" y="393192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28 Ago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3931920" y="395935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 y publicación DDFF Simulacro Usuario</a:t>
            </a:r>
            <a:endParaRPr lang="en-US" sz="850" dirty="0"/>
          </a:p>
        </p:txBody>
      </p:sp>
      <p:sp>
        <p:nvSpPr>
          <p:cNvPr id="60" name="Text 56"/>
          <p:cNvSpPr txBox="1"/>
          <p:nvPr/>
        </p:nvSpPr>
        <p:spPr>
          <a:xfrm>
            <a:off x="7872984" y="393192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61" name="Text 57"/>
          <p:cNvSpPr txBox="1"/>
          <p:nvPr/>
        </p:nvSpPr>
        <p:spPr>
          <a:xfrm>
            <a:off x="8997696" y="39319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9436608" y="40096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3" name="Shape 59"/>
          <p:cNvSpPr/>
          <p:nvPr/>
        </p:nvSpPr>
        <p:spPr>
          <a:xfrm>
            <a:off x="9436608" y="40096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4" name="Shape 60"/>
          <p:cNvSpPr/>
          <p:nvPr/>
        </p:nvSpPr>
        <p:spPr>
          <a:xfrm>
            <a:off x="10351008" y="398678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10515600" y="393192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658368" y="43891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22376" y="443484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722376" y="443484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69" name="Text 65"/>
          <p:cNvSpPr txBox="1"/>
          <p:nvPr/>
        </p:nvSpPr>
        <p:spPr>
          <a:xfrm>
            <a:off x="722376" y="470001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Simulacro usuario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2898648" y="44348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29 Ago</a:t>
            </a:r>
            <a:endParaRPr lang="en-US" sz="900" dirty="0"/>
          </a:p>
        </p:txBody>
      </p:sp>
      <p:sp>
        <p:nvSpPr>
          <p:cNvPr id="71" name="Text 67"/>
          <p:cNvSpPr txBox="1"/>
          <p:nvPr/>
        </p:nvSpPr>
        <p:spPr>
          <a:xfrm>
            <a:off x="3931920" y="446227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a simulacro</a:t>
            </a:r>
            <a:endParaRPr lang="en-US" sz="850" dirty="0"/>
          </a:p>
        </p:txBody>
      </p:sp>
      <p:sp>
        <p:nvSpPr>
          <p:cNvPr id="72" name="Text 68"/>
          <p:cNvSpPr txBox="1"/>
          <p:nvPr/>
        </p:nvSpPr>
        <p:spPr>
          <a:xfrm>
            <a:off x="7872984" y="44348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73" name="Text 69"/>
          <p:cNvSpPr txBox="1"/>
          <p:nvPr/>
        </p:nvSpPr>
        <p:spPr>
          <a:xfrm>
            <a:off x="8997696" y="44348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9436608" y="45125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5" name="Shape 71"/>
          <p:cNvSpPr/>
          <p:nvPr/>
        </p:nvSpPr>
        <p:spPr>
          <a:xfrm>
            <a:off x="9436608" y="45125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6" name="Shape 72"/>
          <p:cNvSpPr/>
          <p:nvPr/>
        </p:nvSpPr>
        <p:spPr>
          <a:xfrm>
            <a:off x="10351008" y="448970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7" name="Text 73"/>
          <p:cNvSpPr txBox="1"/>
          <p:nvPr/>
        </p:nvSpPr>
        <p:spPr>
          <a:xfrm>
            <a:off x="10515600" y="44348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78" name="Shape 74"/>
          <p:cNvSpPr/>
          <p:nvPr/>
        </p:nvSpPr>
        <p:spPr>
          <a:xfrm>
            <a:off x="658368" y="489204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722376" y="4937760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80" name="Text 76"/>
          <p:cNvSpPr txBox="1"/>
          <p:nvPr/>
        </p:nvSpPr>
        <p:spPr>
          <a:xfrm>
            <a:off x="722376" y="4937760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81" name="Text 77"/>
          <p:cNvSpPr txBox="1"/>
          <p:nvPr/>
        </p:nvSpPr>
        <p:spPr>
          <a:xfrm>
            <a:off x="722376" y="520293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a producción</a:t>
            </a:r>
            <a:endParaRPr lang="en-US" sz="900" dirty="0"/>
          </a:p>
        </p:txBody>
      </p:sp>
      <p:sp>
        <p:nvSpPr>
          <p:cNvPr id="82" name="Text 78"/>
          <p:cNvSpPr txBox="1"/>
          <p:nvPr/>
        </p:nvSpPr>
        <p:spPr>
          <a:xfrm>
            <a:off x="2898648" y="49377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Q4</a:t>
            </a:r>
            <a:endParaRPr lang="en-US" sz="900" dirty="0"/>
          </a:p>
        </p:txBody>
      </p:sp>
      <p:sp>
        <p:nvSpPr>
          <p:cNvPr id="83" name="Text 79"/>
          <p:cNvSpPr txBox="1"/>
          <p:nvPr/>
        </p:nvSpPr>
        <p:spPr>
          <a:xfrm>
            <a:off x="3931920" y="496519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Nuevos métodos de liquidación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DataX - SICOR</a:t>
            </a:r>
            <a:endParaRPr lang="en-US" sz="850" dirty="0"/>
          </a:p>
        </p:txBody>
      </p:sp>
      <p:sp>
        <p:nvSpPr>
          <p:cNvPr id="84" name="Text 80"/>
          <p:cNvSpPr txBox="1"/>
          <p:nvPr/>
        </p:nvSpPr>
        <p:spPr>
          <a:xfrm>
            <a:off x="7872984" y="49377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85" name="Text 81"/>
          <p:cNvSpPr txBox="1"/>
          <p:nvPr/>
        </p:nvSpPr>
        <p:spPr>
          <a:xfrm>
            <a:off x="8997696" y="49377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86" name="Shape 82"/>
          <p:cNvSpPr/>
          <p:nvPr/>
        </p:nvSpPr>
        <p:spPr>
          <a:xfrm>
            <a:off x="9436608" y="50154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87" name="Shape 83"/>
          <p:cNvSpPr/>
          <p:nvPr/>
        </p:nvSpPr>
        <p:spPr>
          <a:xfrm>
            <a:off x="10351008" y="4992624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88" name="Text 84"/>
          <p:cNvSpPr txBox="1"/>
          <p:nvPr/>
        </p:nvSpPr>
        <p:spPr>
          <a:xfrm>
            <a:off x="10515600" y="49377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LUCÍA GARRIDO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Lucía Garrido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07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SDATOOL-51125 · 2026-21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Decomisado MIDAS · Cargador Thirdparties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tareas · 4 al 100 % · Asignación: Marta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2779776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Jul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6883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734056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7340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7340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Ago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761488"/>
            <a:ext cx="3767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propietario de la hoja no puede ser una persona nominativa, sino un grupo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Sinergia entre usuarios trabajando al mismo tiempo, o que no borren la info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usuario que no tenga permisos de edición sobre el app script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Google Sheet no puede ser repositorio de código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7340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734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78892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7340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38328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42900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42900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722376" y="369417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2898648" y="342900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 Ago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931920" y="34564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7872984" y="342900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8997696" y="34290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436608" y="35067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9" name="Shape 45"/>
          <p:cNvSpPr/>
          <p:nvPr/>
        </p:nvSpPr>
        <p:spPr>
          <a:xfrm>
            <a:off x="9436608" y="35067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0" name="Shape 46"/>
          <p:cNvSpPr/>
          <p:nvPr/>
        </p:nvSpPr>
        <p:spPr>
          <a:xfrm>
            <a:off x="10351008" y="348386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10515600" y="342900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658368" y="388620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22376" y="393192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22376" y="393192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55" name="Text 51"/>
          <p:cNvSpPr txBox="1"/>
          <p:nvPr/>
        </p:nvSpPr>
        <p:spPr>
          <a:xfrm>
            <a:off x="722376" y="419709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2898648" y="393192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 Ago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3931920" y="395935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usuario</a:t>
            </a:r>
            <a:endParaRPr lang="en-US" sz="850" dirty="0"/>
          </a:p>
        </p:txBody>
      </p:sp>
      <p:sp>
        <p:nvSpPr>
          <p:cNvPr id="58" name="Text 54"/>
          <p:cNvSpPr txBox="1"/>
          <p:nvPr/>
        </p:nvSpPr>
        <p:spPr>
          <a:xfrm>
            <a:off x="7872984" y="393192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8997696" y="39319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9436608" y="40096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1" name="Shape 57"/>
          <p:cNvSpPr/>
          <p:nvPr/>
        </p:nvSpPr>
        <p:spPr>
          <a:xfrm>
            <a:off x="9436608" y="40096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2" name="Shape 58"/>
          <p:cNvSpPr/>
          <p:nvPr/>
        </p:nvSpPr>
        <p:spPr>
          <a:xfrm>
            <a:off x="10351008" y="398678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10515600" y="393192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658368" y="43891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22376" y="4434840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722376" y="4434840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67" name="Text 63"/>
          <p:cNvSpPr txBox="1"/>
          <p:nvPr/>
        </p:nvSpPr>
        <p:spPr>
          <a:xfrm>
            <a:off x="2898648" y="44348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Q4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3931920" y="446227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en producción</a:t>
            </a:r>
            <a:endParaRPr lang="en-US" sz="850" dirty="0"/>
          </a:p>
        </p:txBody>
      </p:sp>
      <p:sp>
        <p:nvSpPr>
          <p:cNvPr id="69" name="Text 65"/>
          <p:cNvSpPr txBox="1"/>
          <p:nvPr/>
        </p:nvSpPr>
        <p:spPr>
          <a:xfrm>
            <a:off x="7872984" y="44348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8997696" y="44348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9436608" y="45125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2" name="Shape 68"/>
          <p:cNvSpPr/>
          <p:nvPr/>
        </p:nvSpPr>
        <p:spPr>
          <a:xfrm>
            <a:off x="10351008" y="4489704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73" name="Text 69"/>
          <p:cNvSpPr txBox="1"/>
          <p:nvPr/>
        </p:nvSpPr>
        <p:spPr>
          <a:xfrm>
            <a:off x="10515600" y="44348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LUCÍA GARRIDO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Lucía Garrido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08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SDATOOL-51125 · 2026-49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Decomisado MIDAS · Agreements CLS BBVA México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tareas · 7 al 100 % · Asignación: Marta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3451860"/>
          </a:xfrm>
          <a:prstGeom prst="roundRect">
            <a:avLst>
              <a:gd name="adj" fmla="val 3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6883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734056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7340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7340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761488"/>
            <a:ext cx="3767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Adaptación ventana para añadir tipología CLS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Adaptación servicio online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Adaptación extracción genérica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7340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734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78892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7340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24154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287268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287268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722376" y="3552444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2898648" y="32872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931920" y="331470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7872984" y="328726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8997696" y="32872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436608" y="336499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9" name="Shape 45"/>
          <p:cNvSpPr/>
          <p:nvPr/>
        </p:nvSpPr>
        <p:spPr>
          <a:xfrm>
            <a:off x="9436608" y="336499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0" name="Shape 46"/>
          <p:cNvSpPr/>
          <p:nvPr/>
        </p:nvSpPr>
        <p:spPr>
          <a:xfrm>
            <a:off x="10351008" y="3342132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10515600" y="328726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658368" y="374446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22376" y="379018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22376" y="379018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55" name="Text 51"/>
          <p:cNvSpPr txBox="1"/>
          <p:nvPr/>
        </p:nvSpPr>
        <p:spPr>
          <a:xfrm>
            <a:off x="2898648" y="379018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Jul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3931920" y="3817620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Bug LAGRDuplis</a:t>
            </a:r>
            <a:endParaRPr lang="en-US" sz="850" dirty="0"/>
          </a:p>
        </p:txBody>
      </p:sp>
      <p:sp>
        <p:nvSpPr>
          <p:cNvPr id="57" name="Text 53"/>
          <p:cNvSpPr txBox="1"/>
          <p:nvPr/>
        </p:nvSpPr>
        <p:spPr>
          <a:xfrm>
            <a:off x="7872984" y="379018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8997696" y="37901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9436608" y="386791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0" name="Shape 56"/>
          <p:cNvSpPr/>
          <p:nvPr/>
        </p:nvSpPr>
        <p:spPr>
          <a:xfrm>
            <a:off x="9436608" y="386791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1" name="Shape 57"/>
          <p:cNvSpPr/>
          <p:nvPr/>
        </p:nvSpPr>
        <p:spPr>
          <a:xfrm>
            <a:off x="10351008" y="3845052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10515600" y="379018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658368" y="4055364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722376" y="4101084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722376" y="4101084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66" name="Text 62"/>
          <p:cNvSpPr txBox="1"/>
          <p:nvPr/>
        </p:nvSpPr>
        <p:spPr>
          <a:xfrm>
            <a:off x="722376" y="4366260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</a:t>
            </a:r>
            <a:endParaRPr lang="en-US" sz="900" dirty="0"/>
          </a:p>
        </p:txBody>
      </p:sp>
      <p:sp>
        <p:nvSpPr>
          <p:cNvPr id="67" name="Text 63"/>
          <p:cNvSpPr txBox="1"/>
          <p:nvPr/>
        </p:nvSpPr>
        <p:spPr>
          <a:xfrm>
            <a:off x="2898648" y="410108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Ago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3931920" y="412851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</a:t>
            </a:r>
            <a:endParaRPr lang="en-US" sz="850" dirty="0"/>
          </a:p>
        </p:txBody>
      </p:sp>
      <p:sp>
        <p:nvSpPr>
          <p:cNvPr id="69" name="Text 65"/>
          <p:cNvSpPr txBox="1"/>
          <p:nvPr/>
        </p:nvSpPr>
        <p:spPr>
          <a:xfrm>
            <a:off x="7872984" y="410108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8997696" y="410108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9436608" y="417880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2" name="Shape 68"/>
          <p:cNvSpPr/>
          <p:nvPr/>
        </p:nvSpPr>
        <p:spPr>
          <a:xfrm>
            <a:off x="9436608" y="417880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3" name="Shape 69"/>
          <p:cNvSpPr/>
          <p:nvPr/>
        </p:nvSpPr>
        <p:spPr>
          <a:xfrm>
            <a:off x="10351008" y="4155948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4" name="Text 70"/>
          <p:cNvSpPr txBox="1"/>
          <p:nvPr/>
        </p:nvSpPr>
        <p:spPr>
          <a:xfrm>
            <a:off x="10515600" y="410108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658368" y="4558284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722376" y="4604004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77" name="Text 73"/>
          <p:cNvSpPr txBox="1"/>
          <p:nvPr/>
        </p:nvSpPr>
        <p:spPr>
          <a:xfrm>
            <a:off x="722376" y="4604004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78" name="Text 74"/>
          <p:cNvSpPr txBox="1"/>
          <p:nvPr/>
        </p:nvSpPr>
        <p:spPr>
          <a:xfrm>
            <a:off x="722376" y="4869180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900" dirty="0"/>
          </a:p>
        </p:txBody>
      </p:sp>
      <p:sp>
        <p:nvSpPr>
          <p:cNvPr id="79" name="Text 75"/>
          <p:cNvSpPr txBox="1"/>
          <p:nvPr/>
        </p:nvSpPr>
        <p:spPr>
          <a:xfrm>
            <a:off x="2898648" y="460400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 Ago</a:t>
            </a:r>
            <a:endParaRPr lang="en-US" sz="900" dirty="0"/>
          </a:p>
        </p:txBody>
      </p:sp>
      <p:sp>
        <p:nvSpPr>
          <p:cNvPr id="80" name="Text 76"/>
          <p:cNvSpPr txBox="1"/>
          <p:nvPr/>
        </p:nvSpPr>
        <p:spPr>
          <a:xfrm>
            <a:off x="3931920" y="463143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usuario</a:t>
            </a:r>
            <a:endParaRPr lang="en-US" sz="850" dirty="0"/>
          </a:p>
        </p:txBody>
      </p:sp>
      <p:sp>
        <p:nvSpPr>
          <p:cNvPr id="81" name="Text 77"/>
          <p:cNvSpPr txBox="1"/>
          <p:nvPr/>
        </p:nvSpPr>
        <p:spPr>
          <a:xfrm>
            <a:off x="7872984" y="460400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82" name="Text 78"/>
          <p:cNvSpPr txBox="1"/>
          <p:nvPr/>
        </p:nvSpPr>
        <p:spPr>
          <a:xfrm>
            <a:off x="8997696" y="460400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9436608" y="468172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84" name="Shape 80"/>
          <p:cNvSpPr/>
          <p:nvPr/>
        </p:nvSpPr>
        <p:spPr>
          <a:xfrm>
            <a:off x="9436608" y="468172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85" name="Shape 81"/>
          <p:cNvSpPr/>
          <p:nvPr/>
        </p:nvSpPr>
        <p:spPr>
          <a:xfrm>
            <a:off x="10351008" y="4658868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86" name="Text 82"/>
          <p:cNvSpPr txBox="1"/>
          <p:nvPr/>
        </p:nvSpPr>
        <p:spPr>
          <a:xfrm>
            <a:off x="10515600" y="460400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87" name="Shape 83"/>
          <p:cNvSpPr/>
          <p:nvPr/>
        </p:nvSpPr>
        <p:spPr>
          <a:xfrm>
            <a:off x="658368" y="5061204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722376" y="5106924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89" name="Text 85"/>
          <p:cNvSpPr txBox="1"/>
          <p:nvPr/>
        </p:nvSpPr>
        <p:spPr>
          <a:xfrm>
            <a:off x="722376" y="5106924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90" name="Text 86"/>
          <p:cNvSpPr txBox="1"/>
          <p:nvPr/>
        </p:nvSpPr>
        <p:spPr>
          <a:xfrm>
            <a:off x="2898648" y="510692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26 Sep</a:t>
            </a:r>
            <a:endParaRPr lang="en-US" sz="900" dirty="0"/>
          </a:p>
        </p:txBody>
      </p:sp>
      <p:sp>
        <p:nvSpPr>
          <p:cNvPr id="91" name="Text 87"/>
          <p:cNvSpPr txBox="1"/>
          <p:nvPr/>
        </p:nvSpPr>
        <p:spPr>
          <a:xfrm>
            <a:off x="3931920" y="5134356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en producción</a:t>
            </a:r>
            <a:endParaRPr lang="en-US" sz="850" dirty="0"/>
          </a:p>
        </p:txBody>
      </p:sp>
      <p:sp>
        <p:nvSpPr>
          <p:cNvPr id="92" name="Text 88"/>
          <p:cNvSpPr txBox="1"/>
          <p:nvPr/>
        </p:nvSpPr>
        <p:spPr>
          <a:xfrm>
            <a:off x="7872984" y="510692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93" name="Text 89"/>
          <p:cNvSpPr txBox="1"/>
          <p:nvPr/>
        </p:nvSpPr>
        <p:spPr>
          <a:xfrm>
            <a:off x="8997696" y="510692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9436608" y="518464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95" name="Shape 91"/>
          <p:cNvSpPr/>
          <p:nvPr/>
        </p:nvSpPr>
        <p:spPr>
          <a:xfrm>
            <a:off x="9436608" y="518464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96" name="Shape 92"/>
          <p:cNvSpPr/>
          <p:nvPr/>
        </p:nvSpPr>
        <p:spPr>
          <a:xfrm>
            <a:off x="10351008" y="5161788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97" name="Text 93"/>
          <p:cNvSpPr txBox="1"/>
          <p:nvPr/>
        </p:nvSpPr>
        <p:spPr>
          <a:xfrm>
            <a:off x="10515600" y="510692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LUCÍA GARRIDO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Lucía Garrido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09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SDATOOL-38779 · 2026-52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Security Lending Undisclosed · Validaciones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tareas · 3 al 100 % · Asignación: Pablo y Marta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2185416"/>
          </a:xfrm>
          <a:prstGeom prst="roundRect">
            <a:avLst>
              <a:gd name="adj" fmla="val 50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Ago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6883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734056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7340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7340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 Ago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761488"/>
            <a:ext cx="3767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Modificación búsqueda operativa de contrapartidas desde local y global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Validaciones CalypsoId Multientity Legal Agreements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Regularización de casos productivos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7340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734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78892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7340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24154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287268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287268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2898648" y="32872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Oct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3931920" y="3314700"/>
            <a:ext cx="3767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850" dirty="0"/>
          </a:p>
        </p:txBody>
      </p:sp>
      <p:sp>
        <p:nvSpPr>
          <p:cNvPr id="45" name="Text 41"/>
          <p:cNvSpPr txBox="1"/>
          <p:nvPr/>
        </p:nvSpPr>
        <p:spPr>
          <a:xfrm>
            <a:off x="7872984" y="328726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8997696" y="32872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9436608" y="336499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8" name="Shape 44"/>
          <p:cNvSpPr/>
          <p:nvPr/>
        </p:nvSpPr>
        <p:spPr>
          <a:xfrm>
            <a:off x="9436608" y="336499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49" name="Shape 45"/>
          <p:cNvSpPr/>
          <p:nvPr/>
        </p:nvSpPr>
        <p:spPr>
          <a:xfrm>
            <a:off x="10351008" y="3342132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10515600" y="328726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658368" y="379476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22376" y="3840480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722376" y="3840480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54" name="Text 50"/>
          <p:cNvSpPr txBox="1"/>
          <p:nvPr/>
        </p:nvSpPr>
        <p:spPr>
          <a:xfrm>
            <a:off x="2898648" y="384048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 Oct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3931920" y="386791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en producción</a:t>
            </a:r>
            <a:endParaRPr lang="en-US" sz="850" dirty="0"/>
          </a:p>
        </p:txBody>
      </p:sp>
      <p:sp>
        <p:nvSpPr>
          <p:cNvPr id="56" name="Text 52"/>
          <p:cNvSpPr txBox="1"/>
          <p:nvPr/>
        </p:nvSpPr>
        <p:spPr>
          <a:xfrm>
            <a:off x="7872984" y="384048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8997696" y="38404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9436608" y="39182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59" name="Shape 55"/>
          <p:cNvSpPr/>
          <p:nvPr/>
        </p:nvSpPr>
        <p:spPr>
          <a:xfrm>
            <a:off x="10351008" y="3895344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60" name="Text 56"/>
          <p:cNvSpPr txBox="1"/>
          <p:nvPr/>
        </p:nvSpPr>
        <p:spPr>
          <a:xfrm>
            <a:off x="10515600" y="38404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ALEJANDRO GARCÍA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Alejandro García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10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SDATOOL-49629 · 2026-50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BSI 2.0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tareas · 0 al 100 % · Asignación: Pablo y Marta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1773936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 de impacto. Cambio Enterprise BSI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8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658368" y="26883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22376" y="2734056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22376" y="2734056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30" name="Text 26"/>
          <p:cNvSpPr txBox="1"/>
          <p:nvPr/>
        </p:nvSpPr>
        <p:spPr>
          <a:xfrm>
            <a:off x="722376" y="2999232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a pruebas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2898648" y="27340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3931920" y="276148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a pruebas con Calypso KRFN, KLYO, Murex e Impact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7872984" y="27340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8997696" y="2734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8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10351008" y="278892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10515600" y="27340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58368" y="319125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22376" y="3236976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722376" y="3236976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40" name="Text 36"/>
          <p:cNvSpPr txBox="1"/>
          <p:nvPr/>
        </p:nvSpPr>
        <p:spPr>
          <a:xfrm>
            <a:off x="722376" y="3502152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Ventana Legal Agreements BSI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2898648" y="323697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 Oct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3931920" y="326440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de la ventana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7872984" y="323697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8997696" y="32369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9436608" y="331470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6" name="Shape 42"/>
          <p:cNvSpPr/>
          <p:nvPr/>
        </p:nvSpPr>
        <p:spPr>
          <a:xfrm>
            <a:off x="10351008" y="3291840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10515600" y="323697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ALEJANDRO GARCÍA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Alejandro García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11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SDATOOL-42226 · 2026-46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Automatización Emisiones RV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tareas · 5 al 100 % · Asignación: Pablo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3232404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 Abr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6883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734056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7340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7340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 Jun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761488"/>
            <a:ext cx="3767328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Añadir campos de alta de emisores en la ventana de emisiones + botón que llame al proceso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Crear nuevo workflow que llame al alta de emisores y al alta rol emisor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Nuevo proceso que añada el rol emisor a emisores descargados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Publicación de País de Mercado en servicios de Securities (online y batch)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7340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734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78892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7340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52501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570732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570732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722376" y="3835908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2898648" y="3570732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Jul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931920" y="3598164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 del proceso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7872984" y="357073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8997696" y="35707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436608" y="364845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9" name="Shape 45"/>
          <p:cNvSpPr/>
          <p:nvPr/>
        </p:nvSpPr>
        <p:spPr>
          <a:xfrm>
            <a:off x="9436608" y="364845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0" name="Shape 46"/>
          <p:cNvSpPr/>
          <p:nvPr/>
        </p:nvSpPr>
        <p:spPr>
          <a:xfrm>
            <a:off x="10351008" y="3625596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10515600" y="357073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658368" y="402793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22376" y="4073652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22376" y="4073652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55" name="Text 51"/>
          <p:cNvSpPr txBox="1"/>
          <p:nvPr/>
        </p:nvSpPr>
        <p:spPr>
          <a:xfrm>
            <a:off x="722376" y="4338828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2898648" y="4073652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 Jul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3931920" y="4101084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850" dirty="0"/>
          </a:p>
        </p:txBody>
      </p:sp>
      <p:sp>
        <p:nvSpPr>
          <p:cNvPr id="58" name="Text 54"/>
          <p:cNvSpPr txBox="1"/>
          <p:nvPr/>
        </p:nvSpPr>
        <p:spPr>
          <a:xfrm>
            <a:off x="7872984" y="407365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8997696" y="40736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9436608" y="415137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1" name="Shape 57"/>
          <p:cNvSpPr/>
          <p:nvPr/>
        </p:nvSpPr>
        <p:spPr>
          <a:xfrm>
            <a:off x="9436608" y="415137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2" name="Shape 58"/>
          <p:cNvSpPr/>
          <p:nvPr/>
        </p:nvSpPr>
        <p:spPr>
          <a:xfrm>
            <a:off x="10351008" y="4128516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10515600" y="407365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658368" y="453085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22376" y="4576572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722376" y="4576572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67" name="Text 63"/>
          <p:cNvSpPr txBox="1"/>
          <p:nvPr/>
        </p:nvSpPr>
        <p:spPr>
          <a:xfrm>
            <a:off x="2898648" y="4576572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 Jul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3931920" y="4604004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de componentes</a:t>
            </a:r>
            <a:endParaRPr lang="en-US" sz="850" dirty="0"/>
          </a:p>
        </p:txBody>
      </p:sp>
      <p:sp>
        <p:nvSpPr>
          <p:cNvPr id="69" name="Text 65"/>
          <p:cNvSpPr txBox="1"/>
          <p:nvPr/>
        </p:nvSpPr>
        <p:spPr>
          <a:xfrm>
            <a:off x="7872984" y="457657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8997696" y="457657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9436608" y="465429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2" name="Shape 68"/>
          <p:cNvSpPr/>
          <p:nvPr/>
        </p:nvSpPr>
        <p:spPr>
          <a:xfrm>
            <a:off x="9436608" y="465429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3" name="Shape 69"/>
          <p:cNvSpPr/>
          <p:nvPr/>
        </p:nvSpPr>
        <p:spPr>
          <a:xfrm>
            <a:off x="10351008" y="4631436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4" name="Text 70"/>
          <p:cNvSpPr txBox="1"/>
          <p:nvPr/>
        </p:nvSpPr>
        <p:spPr>
          <a:xfrm>
            <a:off x="10515600" y="457657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658368" y="484174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722376" y="4887468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8BE1E9"/>
          </a:solidFill>
          <a:ln/>
        </p:spPr>
      </p:sp>
      <p:sp>
        <p:nvSpPr>
          <p:cNvPr id="77" name="Text 73"/>
          <p:cNvSpPr txBox="1"/>
          <p:nvPr/>
        </p:nvSpPr>
        <p:spPr>
          <a:xfrm>
            <a:off x="722376" y="4887468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</a:t>
            </a:r>
            <a:endParaRPr lang="en-US" sz="680" dirty="0"/>
          </a:p>
        </p:txBody>
      </p:sp>
      <p:sp>
        <p:nvSpPr>
          <p:cNvPr id="78" name="Text 74"/>
          <p:cNvSpPr txBox="1"/>
          <p:nvPr/>
        </p:nvSpPr>
        <p:spPr>
          <a:xfrm>
            <a:off x="2898648" y="48874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</a:t>
            </a:r>
            <a:endParaRPr lang="en-US" sz="900" dirty="0"/>
          </a:p>
        </p:txBody>
      </p:sp>
      <p:sp>
        <p:nvSpPr>
          <p:cNvPr id="79" name="Text 75"/>
          <p:cNvSpPr txBox="1"/>
          <p:nvPr/>
        </p:nvSpPr>
        <p:spPr>
          <a:xfrm>
            <a:off x="3931920" y="4914900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a pruebas de otros aplicativos: 4sight, Asset Control…</a:t>
            </a:r>
            <a:endParaRPr lang="en-US" sz="850" dirty="0"/>
          </a:p>
        </p:txBody>
      </p:sp>
      <p:sp>
        <p:nvSpPr>
          <p:cNvPr id="80" name="Text 76"/>
          <p:cNvSpPr txBox="1"/>
          <p:nvPr/>
        </p:nvSpPr>
        <p:spPr>
          <a:xfrm>
            <a:off x="7872984" y="488746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81" name="Text 77"/>
          <p:cNvSpPr txBox="1"/>
          <p:nvPr/>
        </p:nvSpPr>
        <p:spPr>
          <a:xfrm>
            <a:off x="8997696" y="48874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8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00" dirty="0"/>
          </a:p>
        </p:txBody>
      </p:sp>
      <p:sp>
        <p:nvSpPr>
          <p:cNvPr id="82" name="Shape 78"/>
          <p:cNvSpPr/>
          <p:nvPr/>
        </p:nvSpPr>
        <p:spPr>
          <a:xfrm>
            <a:off x="10351008" y="4942332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10515600" y="488746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ALEJANDRO GARCÍA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Alejandro García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12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SDATOOL-55461 · 2026-58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Plan Brasil · Adaptación de contrapartidas y liquidaciones (1/2)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tareas · 2 al 100 % · 1 en riesgo · Asignación: Chema y Pablo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4270248"/>
          </a:xfrm>
          <a:prstGeom prst="roundRect">
            <a:avLst>
              <a:gd name="adj" fmla="val 25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722376" y="2688336"/>
            <a:ext cx="200253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28 Ago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3931920" y="2450592"/>
            <a:ext cx="3767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Reuniones con negocio de Brasil para cerrar el alcance de contrapartidas, cuentas y métodos de liquidación locales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Inventario de interfaces afectadas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7" name="Shape 23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8" name="Shape 24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58368" y="293065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22376" y="2976372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22376" y="2976372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33" name="Text 29"/>
          <p:cNvSpPr txBox="1"/>
          <p:nvPr/>
        </p:nvSpPr>
        <p:spPr>
          <a:xfrm>
            <a:off x="722376" y="3241548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Diseño técnico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2898648" y="2976372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 Sep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3931920" y="3003804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Modelo de datos para entidades brasileñas (CNPJ) y validaciones asociadas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7872984" y="297637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8997696" y="297637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9436608" y="305409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9" name="Shape 35"/>
          <p:cNvSpPr/>
          <p:nvPr/>
        </p:nvSpPr>
        <p:spPr>
          <a:xfrm>
            <a:off x="9436608" y="305409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40" name="Shape 36"/>
          <p:cNvSpPr/>
          <p:nvPr/>
        </p:nvSpPr>
        <p:spPr>
          <a:xfrm>
            <a:off x="10351008" y="3031236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10515600" y="297637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658368" y="343357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22376" y="3479292"/>
            <a:ext cx="1805026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722376" y="3479292"/>
            <a:ext cx="1805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 · CONTRAPARTIDAS</a:t>
            </a:r>
            <a:endParaRPr lang="en-US" sz="680" dirty="0"/>
          </a:p>
        </p:txBody>
      </p:sp>
      <p:sp>
        <p:nvSpPr>
          <p:cNvPr id="45" name="Text 41"/>
          <p:cNvSpPr txBox="1"/>
          <p:nvPr/>
        </p:nvSpPr>
        <p:spPr>
          <a:xfrm>
            <a:off x="722376" y="3744468"/>
            <a:ext cx="20025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Alta y mantenimiento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2898648" y="3479292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Oct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3931920" y="3506724"/>
            <a:ext cx="3767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Nuevos campos CNPJ y validación del dígito de control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Adaptación de la ventana de contrapartidas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Publicación en el servicio online de contrapartidas para los consumidores de Securities</a:t>
            </a:r>
            <a:endParaRPr lang="en-US" sz="850" dirty="0"/>
          </a:p>
        </p:txBody>
      </p:sp>
      <p:sp>
        <p:nvSpPr>
          <p:cNvPr id="48" name="Text 44"/>
          <p:cNvSpPr txBox="1"/>
          <p:nvPr/>
        </p:nvSpPr>
        <p:spPr>
          <a:xfrm>
            <a:off x="7872984" y="347929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8997696" y="347929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85 %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9436608" y="355701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51" name="Shape 47"/>
          <p:cNvSpPr/>
          <p:nvPr/>
        </p:nvSpPr>
        <p:spPr>
          <a:xfrm>
            <a:off x="9436608" y="3557016"/>
            <a:ext cx="652882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2" name="Shape 48"/>
          <p:cNvSpPr/>
          <p:nvPr/>
        </p:nvSpPr>
        <p:spPr>
          <a:xfrm>
            <a:off x="10351008" y="3534156"/>
            <a:ext cx="109728" cy="109728"/>
          </a:xfrm>
          <a:prstGeom prst="ellipse">
            <a:avLst/>
          </a:prstGeom>
          <a:solidFill>
            <a:srgbClr val="85C8FF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10515600" y="347929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curso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658368" y="412851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22376" y="4174236"/>
            <a:ext cx="1748333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722376" y="4174236"/>
            <a:ext cx="17483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 · LIQUIDACIONES</a:t>
            </a:r>
            <a:endParaRPr lang="en-US" sz="680" dirty="0"/>
          </a:p>
        </p:txBody>
      </p:sp>
      <p:sp>
        <p:nvSpPr>
          <p:cNvPr id="57" name="Text 53"/>
          <p:cNvSpPr txBox="1"/>
          <p:nvPr/>
        </p:nvSpPr>
        <p:spPr>
          <a:xfrm>
            <a:off x="722376" y="4439412"/>
            <a:ext cx="200253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Instrucciones de liquidación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2898648" y="417423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 Oct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3931920" y="4201668"/>
            <a:ext cx="3767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Nuevos métodos de liquidación locales (SELIC, CETIP)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Dependencia con el equipo de Murex para el mapeo de cuentas: pendiente de respuesta desde el 22/09</a:t>
            </a:r>
            <a:endParaRPr lang="en-US" sz="850" dirty="0"/>
          </a:p>
        </p:txBody>
      </p:sp>
      <p:sp>
        <p:nvSpPr>
          <p:cNvPr id="60" name="Text 56"/>
          <p:cNvSpPr txBox="1"/>
          <p:nvPr/>
        </p:nvSpPr>
        <p:spPr>
          <a:xfrm>
            <a:off x="7872984" y="417423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61" name="Text 57"/>
          <p:cNvSpPr txBox="1"/>
          <p:nvPr/>
        </p:nvSpPr>
        <p:spPr>
          <a:xfrm>
            <a:off x="8997696" y="417423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40 %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9436608" y="425196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3" name="Shape 59"/>
          <p:cNvSpPr/>
          <p:nvPr/>
        </p:nvSpPr>
        <p:spPr>
          <a:xfrm>
            <a:off x="9436608" y="4251960"/>
            <a:ext cx="307238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4" name="Shape 60"/>
          <p:cNvSpPr/>
          <p:nvPr/>
        </p:nvSpPr>
        <p:spPr>
          <a:xfrm>
            <a:off x="10351008" y="4229100"/>
            <a:ext cx="109728" cy="109728"/>
          </a:xfrm>
          <a:prstGeom prst="ellipse">
            <a:avLst/>
          </a:prstGeom>
          <a:solidFill>
            <a:srgbClr val="FFB56B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10515600" y="417423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riesgo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658368" y="468172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22376" y="4727448"/>
            <a:ext cx="1578254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722376" y="4727448"/>
            <a:ext cx="1578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 · INTERFACES</a:t>
            </a:r>
            <a:endParaRPr lang="en-US" sz="680" dirty="0"/>
          </a:p>
        </p:txBody>
      </p:sp>
      <p:sp>
        <p:nvSpPr>
          <p:cNvPr id="69" name="Text 65"/>
          <p:cNvSpPr txBox="1"/>
          <p:nvPr/>
        </p:nvSpPr>
        <p:spPr>
          <a:xfrm>
            <a:off x="722376" y="4992624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Ficheros de salida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2898648" y="472744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 Oct</a:t>
            </a:r>
            <a:endParaRPr lang="en-US" sz="900" dirty="0"/>
          </a:p>
        </p:txBody>
      </p:sp>
      <p:sp>
        <p:nvSpPr>
          <p:cNvPr id="71" name="Text 67"/>
          <p:cNvSpPr txBox="1"/>
          <p:nvPr/>
        </p:nvSpPr>
        <p:spPr>
          <a:xfrm>
            <a:off x="3931920" y="475488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Adaptación de la extracción genérica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Nuevo fichero diario para el regulador local</a:t>
            </a:r>
            <a:endParaRPr lang="en-US" sz="850" dirty="0"/>
          </a:p>
        </p:txBody>
      </p:sp>
      <p:sp>
        <p:nvSpPr>
          <p:cNvPr id="72" name="Text 68"/>
          <p:cNvSpPr txBox="1"/>
          <p:nvPr/>
        </p:nvSpPr>
        <p:spPr>
          <a:xfrm>
            <a:off x="7872984" y="472744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73" name="Text 69"/>
          <p:cNvSpPr txBox="1"/>
          <p:nvPr/>
        </p:nvSpPr>
        <p:spPr>
          <a:xfrm>
            <a:off x="8997696" y="47274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30 %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9436608" y="480517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5" name="Shape 71"/>
          <p:cNvSpPr/>
          <p:nvPr/>
        </p:nvSpPr>
        <p:spPr>
          <a:xfrm>
            <a:off x="9436608" y="4805172"/>
            <a:ext cx="230429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6" name="Shape 72"/>
          <p:cNvSpPr/>
          <p:nvPr/>
        </p:nvSpPr>
        <p:spPr>
          <a:xfrm>
            <a:off x="10351008" y="4782312"/>
            <a:ext cx="109728" cy="109728"/>
          </a:xfrm>
          <a:prstGeom prst="ellipse">
            <a:avLst/>
          </a:prstGeom>
          <a:solidFill>
            <a:srgbClr val="85C8FF"/>
          </a:solidFill>
          <a:ln/>
        </p:spPr>
      </p:sp>
      <p:sp>
        <p:nvSpPr>
          <p:cNvPr id="77" name="Text 73"/>
          <p:cNvSpPr txBox="1"/>
          <p:nvPr/>
        </p:nvSpPr>
        <p:spPr>
          <a:xfrm>
            <a:off x="10515600" y="4727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curso</a:t>
            </a:r>
            <a:endParaRPr lang="en-US" sz="850" dirty="0"/>
          </a:p>
        </p:txBody>
      </p:sp>
      <p:sp>
        <p:nvSpPr>
          <p:cNvPr id="78" name="Shape 74"/>
          <p:cNvSpPr/>
          <p:nvPr/>
        </p:nvSpPr>
        <p:spPr>
          <a:xfrm>
            <a:off x="658368" y="518464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722376" y="5230368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80" name="Text 76"/>
          <p:cNvSpPr txBox="1"/>
          <p:nvPr/>
        </p:nvSpPr>
        <p:spPr>
          <a:xfrm>
            <a:off x="722376" y="5230368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81" name="Text 77"/>
          <p:cNvSpPr txBox="1"/>
          <p:nvPr/>
        </p:nvSpPr>
        <p:spPr>
          <a:xfrm>
            <a:off x="722376" y="5495544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900" dirty="0"/>
          </a:p>
        </p:txBody>
      </p:sp>
      <p:sp>
        <p:nvSpPr>
          <p:cNvPr id="82" name="Text 78"/>
          <p:cNvSpPr txBox="1"/>
          <p:nvPr/>
        </p:nvSpPr>
        <p:spPr>
          <a:xfrm>
            <a:off x="2898648" y="52303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 Oct</a:t>
            </a:r>
            <a:endParaRPr lang="en-US" sz="900" dirty="0"/>
          </a:p>
        </p:txBody>
      </p:sp>
      <p:sp>
        <p:nvSpPr>
          <p:cNvPr id="83" name="Text 79"/>
          <p:cNvSpPr txBox="1"/>
          <p:nvPr/>
        </p:nvSpPr>
        <p:spPr>
          <a:xfrm>
            <a:off x="3931920" y="525780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 de contrapartidas y liquidaciones</a:t>
            </a:r>
            <a:endParaRPr lang="en-US" sz="850" dirty="0"/>
          </a:p>
        </p:txBody>
      </p:sp>
      <p:sp>
        <p:nvSpPr>
          <p:cNvPr id="84" name="Text 80"/>
          <p:cNvSpPr txBox="1"/>
          <p:nvPr/>
        </p:nvSpPr>
        <p:spPr>
          <a:xfrm>
            <a:off x="7872984" y="523036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85" name="Text 81"/>
          <p:cNvSpPr txBox="1"/>
          <p:nvPr/>
        </p:nvSpPr>
        <p:spPr>
          <a:xfrm>
            <a:off x="8997696" y="52303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10 %</a:t>
            </a:r>
            <a:endParaRPr lang="en-US" sz="900" dirty="0"/>
          </a:p>
        </p:txBody>
      </p:sp>
      <p:sp>
        <p:nvSpPr>
          <p:cNvPr id="86" name="Shape 82"/>
          <p:cNvSpPr/>
          <p:nvPr/>
        </p:nvSpPr>
        <p:spPr>
          <a:xfrm>
            <a:off x="9436608" y="530809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87" name="Shape 83"/>
          <p:cNvSpPr/>
          <p:nvPr/>
        </p:nvSpPr>
        <p:spPr>
          <a:xfrm>
            <a:off x="9436608" y="5308092"/>
            <a:ext cx="76810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88" name="Shape 84"/>
          <p:cNvSpPr/>
          <p:nvPr/>
        </p:nvSpPr>
        <p:spPr>
          <a:xfrm>
            <a:off x="10351008" y="5285232"/>
            <a:ext cx="109728" cy="109728"/>
          </a:xfrm>
          <a:prstGeom prst="ellipse">
            <a:avLst/>
          </a:prstGeom>
          <a:solidFill>
            <a:srgbClr val="85C8FF"/>
          </a:solidFill>
          <a:ln/>
        </p:spPr>
      </p:sp>
      <p:sp>
        <p:nvSpPr>
          <p:cNvPr id="89" name="Text 85"/>
          <p:cNvSpPr txBox="1"/>
          <p:nvPr/>
        </p:nvSpPr>
        <p:spPr>
          <a:xfrm>
            <a:off x="10515600" y="523036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curso</a:t>
            </a:r>
            <a:endParaRPr lang="en-US" sz="850" dirty="0"/>
          </a:p>
        </p:txBody>
      </p:sp>
      <p:sp>
        <p:nvSpPr>
          <p:cNvPr id="90" name="Shape 86"/>
          <p:cNvSpPr/>
          <p:nvPr/>
        </p:nvSpPr>
        <p:spPr>
          <a:xfrm>
            <a:off x="658368" y="568756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722376" y="5733288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92" name="Text 88"/>
          <p:cNvSpPr txBox="1"/>
          <p:nvPr/>
        </p:nvSpPr>
        <p:spPr>
          <a:xfrm>
            <a:off x="722376" y="5733288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93" name="Text 89"/>
          <p:cNvSpPr txBox="1"/>
          <p:nvPr/>
        </p:nvSpPr>
        <p:spPr>
          <a:xfrm>
            <a:off x="722376" y="5998464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</a:t>
            </a:r>
            <a:endParaRPr lang="en-US" sz="900" dirty="0"/>
          </a:p>
        </p:txBody>
      </p:sp>
      <p:sp>
        <p:nvSpPr>
          <p:cNvPr id="94" name="Text 90"/>
          <p:cNvSpPr txBox="1"/>
          <p:nvPr/>
        </p:nvSpPr>
        <p:spPr>
          <a:xfrm>
            <a:off x="2898648" y="573328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Nov</a:t>
            </a:r>
            <a:endParaRPr lang="en-US" sz="900" dirty="0"/>
          </a:p>
        </p:txBody>
      </p:sp>
      <p:sp>
        <p:nvSpPr>
          <p:cNvPr id="95" name="Text 91"/>
          <p:cNvSpPr txBox="1"/>
          <p:nvPr/>
        </p:nvSpPr>
        <p:spPr>
          <a:xfrm>
            <a:off x="3931920" y="576072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 con Calypso y Murex</a:t>
            </a:r>
            <a:endParaRPr lang="en-US" sz="850" dirty="0"/>
          </a:p>
        </p:txBody>
      </p:sp>
      <p:sp>
        <p:nvSpPr>
          <p:cNvPr id="96" name="Text 92"/>
          <p:cNvSpPr txBox="1"/>
          <p:nvPr/>
        </p:nvSpPr>
        <p:spPr>
          <a:xfrm>
            <a:off x="7872984" y="573328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97" name="Text 93"/>
          <p:cNvSpPr txBox="1"/>
          <p:nvPr/>
        </p:nvSpPr>
        <p:spPr>
          <a:xfrm>
            <a:off x="8997696" y="57332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98" name="Shape 94"/>
          <p:cNvSpPr/>
          <p:nvPr/>
        </p:nvSpPr>
        <p:spPr>
          <a:xfrm>
            <a:off x="9436608" y="581101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99" name="Shape 95"/>
          <p:cNvSpPr/>
          <p:nvPr/>
        </p:nvSpPr>
        <p:spPr>
          <a:xfrm>
            <a:off x="10351008" y="5788152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100" name="Text 96"/>
          <p:cNvSpPr txBox="1"/>
          <p:nvPr/>
        </p:nvSpPr>
        <p:spPr>
          <a:xfrm>
            <a:off x="10515600" y="573328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ALEJANDRO GARCÍA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Alejandro García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13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SDATOOL-55461 · 2026-58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Plan Brasil · Adaptación de contrapartidas y liquidaciones (2/2)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tareas · 2 al 100 % · 1 en riesgo · Asignación: Chema y Pablo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722376" y="268833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 Nov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3931920" y="245059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UAT con el equipo de operaciones de São Paulo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88036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926080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926080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722376" y="319125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en producción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2898648" y="292608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3931920" y="295351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en producción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 de marcha atrás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7872984" y="292608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8997696" y="29260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36608" y="30038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980944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9260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38328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429000"/>
            <a:ext cx="1238098" cy="219456"/>
          </a:xfrm>
          <a:prstGeom prst="roundRect">
            <a:avLst>
              <a:gd name="adj" fmla="val 50000"/>
            </a:avLst>
          </a:prstGeom>
          <a:solidFill>
            <a:srgbClr val="8BE1E9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429000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POST-IMPLANTACIÓN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722376" y="369417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post GoLive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2898648" y="342900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Q4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931920" y="34564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las dos primeras semanas tras la implantación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7872984" y="342900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8997696" y="34290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436608" y="35067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9" name="Shape 45"/>
          <p:cNvSpPr/>
          <p:nvPr/>
        </p:nvSpPr>
        <p:spPr>
          <a:xfrm>
            <a:off x="10351008" y="3483864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10515600" y="342900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ALEJANDRO ROMERO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Alejandro Romero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14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SDATOOL-34546 · 2025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Calypso OTC Madrid Fase V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tareas · 6 al 100 % · Asignación: Marta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722376" y="268833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 DDFF post simulacro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3931920" y="245059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Revisión DDFF post simulacro 18/04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7" name="Shape 23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8" name="Shape 24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58368" y="288036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22376" y="29260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22376" y="29260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3" name="Text 29"/>
          <p:cNvSpPr txBox="1"/>
          <p:nvPr/>
        </p:nvSpPr>
        <p:spPr>
          <a:xfrm>
            <a:off x="2898648" y="292608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3931920" y="295351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Parametrización nuevos métodos de liquidación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7872984" y="292608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8997696" y="29260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36608" y="30038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8" name="Shape 34"/>
          <p:cNvSpPr/>
          <p:nvPr/>
        </p:nvSpPr>
        <p:spPr>
          <a:xfrm>
            <a:off x="9436608" y="30038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9" name="Shape 35"/>
          <p:cNvSpPr/>
          <p:nvPr/>
        </p:nvSpPr>
        <p:spPr>
          <a:xfrm>
            <a:off x="10351008" y="298094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10515600" y="29260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658368" y="319125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22376" y="3236976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722376" y="3236976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4" name="Text 40"/>
          <p:cNvSpPr txBox="1"/>
          <p:nvPr/>
        </p:nvSpPr>
        <p:spPr>
          <a:xfrm>
            <a:off x="722376" y="350215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Simulacro · Carga SDIs, SCIs y Notis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2898648" y="323697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Jul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3931920" y="3264408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 y publicación DDFF Simulacro</a:t>
            </a:r>
            <a:endParaRPr lang="en-US" sz="850" dirty="0"/>
          </a:p>
        </p:txBody>
      </p:sp>
      <p:sp>
        <p:nvSpPr>
          <p:cNvPr id="47" name="Text 43"/>
          <p:cNvSpPr txBox="1"/>
          <p:nvPr/>
        </p:nvSpPr>
        <p:spPr>
          <a:xfrm>
            <a:off x="7872984" y="323697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8997696" y="32369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9436608" y="331470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50" name="Shape 46"/>
          <p:cNvSpPr/>
          <p:nvPr/>
        </p:nvSpPr>
        <p:spPr>
          <a:xfrm>
            <a:off x="9436608" y="331470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1" name="Shape 47"/>
          <p:cNvSpPr/>
          <p:nvPr/>
        </p:nvSpPr>
        <p:spPr>
          <a:xfrm>
            <a:off x="10351008" y="329184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10515600" y="323697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658368" y="384048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22376" y="3886200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55" name="Text 51"/>
          <p:cNvSpPr txBox="1"/>
          <p:nvPr/>
        </p:nvSpPr>
        <p:spPr>
          <a:xfrm>
            <a:off x="722376" y="3886200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56" name="Text 52"/>
          <p:cNvSpPr txBox="1"/>
          <p:nvPr/>
        </p:nvSpPr>
        <p:spPr>
          <a:xfrm>
            <a:off x="722376" y="415137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GoLive · Carga SDIs, SCIs y Notis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2898648" y="388620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 Jul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3931920" y="39136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 y publicación DDFF GoLive</a:t>
            </a:r>
            <a:endParaRPr lang="en-US" sz="850" dirty="0"/>
          </a:p>
        </p:txBody>
      </p:sp>
      <p:sp>
        <p:nvSpPr>
          <p:cNvPr id="59" name="Text 55"/>
          <p:cNvSpPr txBox="1"/>
          <p:nvPr/>
        </p:nvSpPr>
        <p:spPr>
          <a:xfrm>
            <a:off x="7872984" y="388620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8997696" y="38862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9436608" y="39639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2" name="Shape 58"/>
          <p:cNvSpPr/>
          <p:nvPr/>
        </p:nvSpPr>
        <p:spPr>
          <a:xfrm>
            <a:off x="9436608" y="39639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3" name="Shape 59"/>
          <p:cNvSpPr/>
          <p:nvPr/>
        </p:nvSpPr>
        <p:spPr>
          <a:xfrm>
            <a:off x="10351008" y="394106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4" name="Text 60"/>
          <p:cNvSpPr txBox="1"/>
          <p:nvPr/>
        </p:nvSpPr>
        <p:spPr>
          <a:xfrm>
            <a:off x="10515600" y="388620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5" name="Shape 61"/>
          <p:cNvSpPr/>
          <p:nvPr/>
        </p:nvSpPr>
        <p:spPr>
          <a:xfrm>
            <a:off x="658368" y="434340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722376" y="4389120"/>
            <a:ext cx="1238098" cy="219456"/>
          </a:xfrm>
          <a:prstGeom prst="roundRect">
            <a:avLst>
              <a:gd name="adj" fmla="val 50000"/>
            </a:avLst>
          </a:prstGeom>
          <a:solidFill>
            <a:srgbClr val="8BE1E9"/>
          </a:solidFill>
          <a:ln/>
        </p:spPr>
      </p:sp>
      <p:sp>
        <p:nvSpPr>
          <p:cNvPr id="67" name="Text 63"/>
          <p:cNvSpPr txBox="1"/>
          <p:nvPr/>
        </p:nvSpPr>
        <p:spPr>
          <a:xfrm>
            <a:off x="722376" y="4389120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POST-IMPLANTACIÓN</a:t>
            </a:r>
            <a:endParaRPr lang="en-US" sz="680" dirty="0"/>
          </a:p>
        </p:txBody>
      </p:sp>
      <p:sp>
        <p:nvSpPr>
          <p:cNvPr id="68" name="Text 64"/>
          <p:cNvSpPr txBox="1"/>
          <p:nvPr/>
        </p:nvSpPr>
        <p:spPr>
          <a:xfrm>
            <a:off x="722376" y="465429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2898648" y="438912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3931920" y="441655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post Go Live</a:t>
            </a:r>
            <a:endParaRPr lang="en-US" sz="850" dirty="0"/>
          </a:p>
        </p:txBody>
      </p:sp>
      <p:sp>
        <p:nvSpPr>
          <p:cNvPr id="71" name="Text 67"/>
          <p:cNvSpPr txBox="1"/>
          <p:nvPr/>
        </p:nvSpPr>
        <p:spPr>
          <a:xfrm>
            <a:off x="7872984" y="438912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72" name="Text 68"/>
          <p:cNvSpPr txBox="1"/>
          <p:nvPr/>
        </p:nvSpPr>
        <p:spPr>
          <a:xfrm>
            <a:off x="8997696" y="43891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9436608" y="44668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4" name="Shape 70"/>
          <p:cNvSpPr/>
          <p:nvPr/>
        </p:nvSpPr>
        <p:spPr>
          <a:xfrm>
            <a:off x="9436608" y="44668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5" name="Shape 71"/>
          <p:cNvSpPr/>
          <p:nvPr/>
        </p:nvSpPr>
        <p:spPr>
          <a:xfrm>
            <a:off x="10351008" y="444398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6" name="Text 72"/>
          <p:cNvSpPr txBox="1"/>
          <p:nvPr/>
        </p:nvSpPr>
        <p:spPr>
          <a:xfrm>
            <a:off x="10515600" y="438912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77" name="Shape 73"/>
          <p:cNvSpPr/>
          <p:nvPr/>
        </p:nvSpPr>
        <p:spPr>
          <a:xfrm>
            <a:off x="658368" y="48463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722376" y="489204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722376" y="489204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80" name="Text 76"/>
          <p:cNvSpPr txBox="1"/>
          <p:nvPr/>
        </p:nvSpPr>
        <p:spPr>
          <a:xfrm>
            <a:off x="722376" y="515721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Simulacro</a:t>
            </a:r>
            <a:endParaRPr lang="en-US" sz="900" dirty="0"/>
          </a:p>
        </p:txBody>
      </p:sp>
      <p:sp>
        <p:nvSpPr>
          <p:cNvPr id="81" name="Text 77"/>
          <p:cNvSpPr txBox="1"/>
          <p:nvPr/>
        </p:nvSpPr>
        <p:spPr>
          <a:xfrm>
            <a:off x="2898648" y="48920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 Sep</a:t>
            </a:r>
            <a:endParaRPr lang="en-US" sz="900" dirty="0"/>
          </a:p>
        </p:txBody>
      </p:sp>
      <p:sp>
        <p:nvSpPr>
          <p:cNvPr id="82" name="Text 78"/>
          <p:cNvSpPr txBox="1"/>
          <p:nvPr/>
        </p:nvSpPr>
        <p:spPr>
          <a:xfrm>
            <a:off x="3931920" y="491947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simulacro fin de semana</a:t>
            </a:r>
            <a:endParaRPr lang="en-US" sz="850" dirty="0"/>
          </a:p>
        </p:txBody>
      </p:sp>
      <p:sp>
        <p:nvSpPr>
          <p:cNvPr id="83" name="Text 79"/>
          <p:cNvSpPr txBox="1"/>
          <p:nvPr/>
        </p:nvSpPr>
        <p:spPr>
          <a:xfrm>
            <a:off x="7872984" y="48920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84" name="Text 80"/>
          <p:cNvSpPr txBox="1"/>
          <p:nvPr/>
        </p:nvSpPr>
        <p:spPr>
          <a:xfrm>
            <a:off x="8997696" y="48920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85" name="Shape 81"/>
          <p:cNvSpPr/>
          <p:nvPr/>
        </p:nvSpPr>
        <p:spPr>
          <a:xfrm>
            <a:off x="9436608" y="49697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86" name="Shape 82"/>
          <p:cNvSpPr/>
          <p:nvPr/>
        </p:nvSpPr>
        <p:spPr>
          <a:xfrm>
            <a:off x="9436608" y="49697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87" name="Shape 83"/>
          <p:cNvSpPr/>
          <p:nvPr/>
        </p:nvSpPr>
        <p:spPr>
          <a:xfrm>
            <a:off x="10351008" y="494690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88" name="Text 84"/>
          <p:cNvSpPr txBox="1"/>
          <p:nvPr/>
        </p:nvSpPr>
        <p:spPr>
          <a:xfrm>
            <a:off x="10515600" y="48920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PABLO RODRÍGUEZ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Pablo Rodríguez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15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SDATOOL-51827 · 2026-41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Eventos Corporativos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tareas · 6 al 100 % · Asignación: Pablo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39090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Revisión modificaciones Q1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7889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83464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83464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8346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862072"/>
            <a:ext cx="3767328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Completar ventana Eventos Corporativos. Alta y modificación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Canonización Eventos Corporativos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Ventana auditoría modificación / alta campos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Creación entrada assembly para colas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Query de publicación online, masiva y dirigida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Recepción ACK / NACK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Aperiódico creación de campos. Valores desplegables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8346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8346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9123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9123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88950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8346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90906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95478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95478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722376" y="421995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2898648" y="395478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 Ago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931920" y="398221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7872984" y="395478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8997696" y="39547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436608" y="40325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9" name="Shape 45"/>
          <p:cNvSpPr/>
          <p:nvPr/>
        </p:nvSpPr>
        <p:spPr>
          <a:xfrm>
            <a:off x="9436608" y="40325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0" name="Shape 46"/>
          <p:cNvSpPr/>
          <p:nvPr/>
        </p:nvSpPr>
        <p:spPr>
          <a:xfrm>
            <a:off x="10351008" y="400964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10515600" y="39547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658368" y="441198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22376" y="445770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22376" y="445770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55" name="Text 51"/>
          <p:cNvSpPr txBox="1"/>
          <p:nvPr/>
        </p:nvSpPr>
        <p:spPr>
          <a:xfrm>
            <a:off x="722376" y="472287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2898648" y="445770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 Ago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3931920" y="44851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 con SIVA/MUV</a:t>
            </a:r>
            <a:endParaRPr lang="en-US" sz="850" dirty="0"/>
          </a:p>
        </p:txBody>
      </p:sp>
      <p:sp>
        <p:nvSpPr>
          <p:cNvPr id="58" name="Text 54"/>
          <p:cNvSpPr txBox="1"/>
          <p:nvPr/>
        </p:nvSpPr>
        <p:spPr>
          <a:xfrm>
            <a:off x="7872984" y="445770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8997696" y="44577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9436608" y="45354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1" name="Shape 57"/>
          <p:cNvSpPr/>
          <p:nvPr/>
        </p:nvSpPr>
        <p:spPr>
          <a:xfrm>
            <a:off x="9436608" y="45354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2" name="Shape 58"/>
          <p:cNvSpPr/>
          <p:nvPr/>
        </p:nvSpPr>
        <p:spPr>
          <a:xfrm>
            <a:off x="10351008" y="451256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10515600" y="445770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658368" y="491490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22376" y="496062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722376" y="496062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67" name="Text 63"/>
          <p:cNvSpPr txBox="1"/>
          <p:nvPr/>
        </p:nvSpPr>
        <p:spPr>
          <a:xfrm>
            <a:off x="722376" y="522579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2898648" y="496062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 Ago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3931920" y="498805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850" dirty="0"/>
          </a:p>
        </p:txBody>
      </p:sp>
      <p:sp>
        <p:nvSpPr>
          <p:cNvPr id="70" name="Text 66"/>
          <p:cNvSpPr txBox="1"/>
          <p:nvPr/>
        </p:nvSpPr>
        <p:spPr>
          <a:xfrm>
            <a:off x="7872984" y="496062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71" name="Text 67"/>
          <p:cNvSpPr txBox="1"/>
          <p:nvPr/>
        </p:nvSpPr>
        <p:spPr>
          <a:xfrm>
            <a:off x="8997696" y="49606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72" name="Shape 68"/>
          <p:cNvSpPr/>
          <p:nvPr/>
        </p:nvSpPr>
        <p:spPr>
          <a:xfrm>
            <a:off x="9436608" y="50383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3" name="Shape 69"/>
          <p:cNvSpPr/>
          <p:nvPr/>
        </p:nvSpPr>
        <p:spPr>
          <a:xfrm>
            <a:off x="9436608" y="50383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4" name="Shape 70"/>
          <p:cNvSpPr/>
          <p:nvPr/>
        </p:nvSpPr>
        <p:spPr>
          <a:xfrm>
            <a:off x="10351008" y="501548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5" name="Text 71"/>
          <p:cNvSpPr txBox="1"/>
          <p:nvPr/>
        </p:nvSpPr>
        <p:spPr>
          <a:xfrm>
            <a:off x="10515600" y="496062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658368" y="54178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722376" y="5463540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78" name="Text 74"/>
          <p:cNvSpPr txBox="1"/>
          <p:nvPr/>
        </p:nvSpPr>
        <p:spPr>
          <a:xfrm>
            <a:off x="722376" y="5463540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79" name="Text 75"/>
          <p:cNvSpPr txBox="1"/>
          <p:nvPr/>
        </p:nvSpPr>
        <p:spPr>
          <a:xfrm>
            <a:off x="2898648" y="54635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Oct</a:t>
            </a:r>
            <a:endParaRPr lang="en-US" sz="900" dirty="0"/>
          </a:p>
        </p:txBody>
      </p:sp>
      <p:sp>
        <p:nvSpPr>
          <p:cNvPr id="80" name="Text 76"/>
          <p:cNvSpPr txBox="1"/>
          <p:nvPr/>
        </p:nvSpPr>
        <p:spPr>
          <a:xfrm>
            <a:off x="3931920" y="549097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de los componentes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Implantado el 03/10 sin incidencias</a:t>
            </a:r>
            <a:endParaRPr lang="en-US" sz="850" dirty="0"/>
          </a:p>
        </p:txBody>
      </p:sp>
      <p:sp>
        <p:nvSpPr>
          <p:cNvPr id="81" name="Text 77"/>
          <p:cNvSpPr txBox="1"/>
          <p:nvPr/>
        </p:nvSpPr>
        <p:spPr>
          <a:xfrm>
            <a:off x="7872984" y="54635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82" name="Text 78"/>
          <p:cNvSpPr txBox="1"/>
          <p:nvPr/>
        </p:nvSpPr>
        <p:spPr>
          <a:xfrm>
            <a:off x="8997696" y="54635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9436608" y="55412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84" name="Shape 80"/>
          <p:cNvSpPr/>
          <p:nvPr/>
        </p:nvSpPr>
        <p:spPr>
          <a:xfrm>
            <a:off x="9436608" y="55412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85" name="Shape 81"/>
          <p:cNvSpPr/>
          <p:nvPr/>
        </p:nvSpPr>
        <p:spPr>
          <a:xfrm>
            <a:off x="10351008" y="551840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86" name="Text 82"/>
          <p:cNvSpPr txBox="1"/>
          <p:nvPr/>
        </p:nvSpPr>
        <p:spPr>
          <a:xfrm>
            <a:off x="10515600" y="54635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JUAN MANUEL FERNÁNDEZ TUDERO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Juan Manuel Fernández Tudero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16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BAU · 2026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Testing / IA - RDR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tarea · 0 al 100 % · Asignación: Pablo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15773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TESTING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722376" y="2688336"/>
            <a:ext cx="2002536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Testing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3931920" y="2450592"/>
            <a:ext cx="3767328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Documentación de procesos RDR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Clasificación de procesos RDR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Modularización de procesos RDR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Definición de herramienta de ejecuciones: AtSQA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Definición de prerrequisitos en cada proceso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Definición de casos de prueba por cada proceso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Estructura de datos sintéticos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80 %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7" name="Shape 23"/>
          <p:cNvSpPr/>
          <p:nvPr/>
        </p:nvSpPr>
        <p:spPr>
          <a:xfrm>
            <a:off x="9436608" y="2500884"/>
            <a:ext cx="614477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8" name="Shape 24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JOSÉ MARÍA PARRA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José María Parra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17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SDATOOL-51827 · 2026-54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Vulnerabilidades Java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tareas · 4 al 100 % · 2 en riesgo · Asignación: Chema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4393692"/>
          </a:xfrm>
          <a:prstGeom prst="roundRect">
            <a:avLst>
              <a:gd name="adj" fmla="val 2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27 Jul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 Javas InHouse (batch): creación de bloques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 infraestructura (EARs, JBOSS, Workbench)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7889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834640"/>
            <a:ext cx="1124712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834640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 · B1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8346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 Ago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862072"/>
            <a:ext cx="3767328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Generación de pruebas unitarias: Javas InHouse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Mavenización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Adaptación Java InHouse (batch): JDK 17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Mitigación de vulnerabilidades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Generación de los casos de test de cobertura: Javas InHouse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8346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8346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9123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9123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88950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8346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62559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671316"/>
            <a:ext cx="1124712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67131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 · B2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2898648" y="367131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Sep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7872984" y="367131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8997696" y="367131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9436608" y="374904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7" name="Shape 43"/>
          <p:cNvSpPr/>
          <p:nvPr/>
        </p:nvSpPr>
        <p:spPr>
          <a:xfrm>
            <a:off x="9436608" y="374904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48" name="Shape 44"/>
          <p:cNvSpPr/>
          <p:nvPr/>
        </p:nvSpPr>
        <p:spPr>
          <a:xfrm>
            <a:off x="10351008" y="372618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10515600" y="367131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658368" y="393649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22376" y="3982212"/>
            <a:ext cx="1124712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722376" y="398221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 · B3</a:t>
            </a:r>
            <a:endParaRPr lang="en-US" sz="680" dirty="0"/>
          </a:p>
        </p:txBody>
      </p:sp>
      <p:sp>
        <p:nvSpPr>
          <p:cNvPr id="53" name="Text 49"/>
          <p:cNvSpPr txBox="1"/>
          <p:nvPr/>
        </p:nvSpPr>
        <p:spPr>
          <a:xfrm>
            <a:off x="2898648" y="3982212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 Oct</a:t>
            </a:r>
            <a:endParaRPr lang="en-US" sz="900" dirty="0"/>
          </a:p>
        </p:txBody>
      </p:sp>
      <p:sp>
        <p:nvSpPr>
          <p:cNvPr id="54" name="Text 50"/>
          <p:cNvSpPr txBox="1"/>
          <p:nvPr/>
        </p:nvSpPr>
        <p:spPr>
          <a:xfrm>
            <a:off x="7872984" y="398221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8997696" y="39822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20 %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9436608" y="405993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57" name="Shape 53"/>
          <p:cNvSpPr/>
          <p:nvPr/>
        </p:nvSpPr>
        <p:spPr>
          <a:xfrm>
            <a:off x="9436608" y="4059936"/>
            <a:ext cx="153619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8" name="Shape 54"/>
          <p:cNvSpPr/>
          <p:nvPr/>
        </p:nvSpPr>
        <p:spPr>
          <a:xfrm>
            <a:off x="10351008" y="4037076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10515600" y="398221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658368" y="424738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722376" y="4293108"/>
            <a:ext cx="1634947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722376" y="4293108"/>
            <a:ext cx="1634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· UNITARIAS · B1</a:t>
            </a:r>
            <a:endParaRPr lang="en-US" sz="680" dirty="0"/>
          </a:p>
        </p:txBody>
      </p:sp>
      <p:sp>
        <p:nvSpPr>
          <p:cNvPr id="63" name="Text 59"/>
          <p:cNvSpPr txBox="1"/>
          <p:nvPr/>
        </p:nvSpPr>
        <p:spPr>
          <a:xfrm>
            <a:off x="2898648" y="429310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24 Ago</a:t>
            </a:r>
            <a:endParaRPr lang="en-US" sz="900" dirty="0"/>
          </a:p>
        </p:txBody>
      </p:sp>
      <p:sp>
        <p:nvSpPr>
          <p:cNvPr id="64" name="Text 60"/>
          <p:cNvSpPr txBox="1"/>
          <p:nvPr/>
        </p:nvSpPr>
        <p:spPr>
          <a:xfrm>
            <a:off x="3931920" y="432054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 (Java 17): Javas InHouse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de cobertura</a:t>
            </a:r>
            <a:endParaRPr lang="en-US" sz="850" dirty="0"/>
          </a:p>
        </p:txBody>
      </p:sp>
      <p:sp>
        <p:nvSpPr>
          <p:cNvPr id="65" name="Text 61"/>
          <p:cNvSpPr txBox="1"/>
          <p:nvPr/>
        </p:nvSpPr>
        <p:spPr>
          <a:xfrm>
            <a:off x="7872984" y="429310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66" name="Text 62"/>
          <p:cNvSpPr txBox="1"/>
          <p:nvPr/>
        </p:nvSpPr>
        <p:spPr>
          <a:xfrm>
            <a:off x="8997696" y="429310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9436608" y="437083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8" name="Shape 64"/>
          <p:cNvSpPr/>
          <p:nvPr/>
        </p:nvSpPr>
        <p:spPr>
          <a:xfrm>
            <a:off x="9436608" y="437083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9" name="Shape 65"/>
          <p:cNvSpPr/>
          <p:nvPr/>
        </p:nvSpPr>
        <p:spPr>
          <a:xfrm>
            <a:off x="10351008" y="4347972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0" name="Text 66"/>
          <p:cNvSpPr txBox="1"/>
          <p:nvPr/>
        </p:nvSpPr>
        <p:spPr>
          <a:xfrm>
            <a:off x="10515600" y="429310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71" name="Shape 67"/>
          <p:cNvSpPr/>
          <p:nvPr/>
        </p:nvSpPr>
        <p:spPr>
          <a:xfrm>
            <a:off x="658368" y="465886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722376" y="4704588"/>
            <a:ext cx="1634947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73" name="Text 69"/>
          <p:cNvSpPr txBox="1"/>
          <p:nvPr/>
        </p:nvSpPr>
        <p:spPr>
          <a:xfrm>
            <a:off x="722376" y="4704588"/>
            <a:ext cx="1634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· UNITARIAS · B2</a:t>
            </a:r>
            <a:endParaRPr lang="en-US" sz="680" dirty="0"/>
          </a:p>
        </p:txBody>
      </p:sp>
      <p:sp>
        <p:nvSpPr>
          <p:cNvPr id="74" name="Text 70"/>
          <p:cNvSpPr txBox="1"/>
          <p:nvPr/>
        </p:nvSpPr>
        <p:spPr>
          <a:xfrm>
            <a:off x="2898648" y="470458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 Sep</a:t>
            </a:r>
            <a:endParaRPr lang="en-US" sz="900" dirty="0"/>
          </a:p>
        </p:txBody>
      </p:sp>
      <p:sp>
        <p:nvSpPr>
          <p:cNvPr id="75" name="Text 71"/>
          <p:cNvSpPr txBox="1"/>
          <p:nvPr/>
        </p:nvSpPr>
        <p:spPr>
          <a:xfrm>
            <a:off x="7872984" y="470458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76" name="Text 72"/>
          <p:cNvSpPr txBox="1"/>
          <p:nvPr/>
        </p:nvSpPr>
        <p:spPr>
          <a:xfrm>
            <a:off x="8997696" y="47045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90 %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9436608" y="478231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8" name="Shape 74"/>
          <p:cNvSpPr/>
          <p:nvPr/>
        </p:nvSpPr>
        <p:spPr>
          <a:xfrm>
            <a:off x="9436608" y="4782312"/>
            <a:ext cx="69128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9" name="Shape 75"/>
          <p:cNvSpPr/>
          <p:nvPr/>
        </p:nvSpPr>
        <p:spPr>
          <a:xfrm>
            <a:off x="10351008" y="4759452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80" name="Text 76"/>
          <p:cNvSpPr txBox="1"/>
          <p:nvPr/>
        </p:nvSpPr>
        <p:spPr>
          <a:xfrm>
            <a:off x="10515600" y="470458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81" name="Shape 77"/>
          <p:cNvSpPr/>
          <p:nvPr/>
        </p:nvSpPr>
        <p:spPr>
          <a:xfrm>
            <a:off x="658368" y="4969764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22376" y="5015484"/>
            <a:ext cx="1634947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722376" y="5015484"/>
            <a:ext cx="1634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· UNITARIAS · B3</a:t>
            </a:r>
            <a:endParaRPr lang="en-US" sz="680" dirty="0"/>
          </a:p>
        </p:txBody>
      </p:sp>
      <p:sp>
        <p:nvSpPr>
          <p:cNvPr id="84" name="Text 80"/>
          <p:cNvSpPr txBox="1"/>
          <p:nvPr/>
        </p:nvSpPr>
        <p:spPr>
          <a:xfrm>
            <a:off x="2898648" y="501548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 Oct</a:t>
            </a:r>
            <a:endParaRPr lang="en-US" sz="900" dirty="0"/>
          </a:p>
        </p:txBody>
      </p:sp>
      <p:sp>
        <p:nvSpPr>
          <p:cNvPr id="85" name="Text 81"/>
          <p:cNvSpPr txBox="1"/>
          <p:nvPr/>
        </p:nvSpPr>
        <p:spPr>
          <a:xfrm>
            <a:off x="7872984" y="501548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86" name="Text 82"/>
          <p:cNvSpPr txBox="1"/>
          <p:nvPr/>
        </p:nvSpPr>
        <p:spPr>
          <a:xfrm>
            <a:off x="8997696" y="501548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10 %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9436608" y="509320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88" name="Shape 84"/>
          <p:cNvSpPr/>
          <p:nvPr/>
        </p:nvSpPr>
        <p:spPr>
          <a:xfrm>
            <a:off x="9436608" y="5093208"/>
            <a:ext cx="76810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89" name="Shape 85"/>
          <p:cNvSpPr/>
          <p:nvPr/>
        </p:nvSpPr>
        <p:spPr>
          <a:xfrm>
            <a:off x="10351008" y="5070348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90" name="Text 86"/>
          <p:cNvSpPr txBox="1"/>
          <p:nvPr/>
        </p:nvSpPr>
        <p:spPr>
          <a:xfrm>
            <a:off x="10515600" y="501548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  <p:sp>
        <p:nvSpPr>
          <p:cNvPr id="91" name="Shape 87"/>
          <p:cNvSpPr/>
          <p:nvPr/>
        </p:nvSpPr>
        <p:spPr>
          <a:xfrm>
            <a:off x="658368" y="528066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722376" y="5326380"/>
            <a:ext cx="1238098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93" name="Text 89"/>
          <p:cNvSpPr txBox="1"/>
          <p:nvPr/>
        </p:nvSpPr>
        <p:spPr>
          <a:xfrm>
            <a:off x="722376" y="5326380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· B1</a:t>
            </a:r>
            <a:endParaRPr lang="en-US" sz="680" dirty="0"/>
          </a:p>
        </p:txBody>
      </p:sp>
      <p:sp>
        <p:nvSpPr>
          <p:cNvPr id="94" name="Text 90"/>
          <p:cNvSpPr txBox="1"/>
          <p:nvPr/>
        </p:nvSpPr>
        <p:spPr>
          <a:xfrm>
            <a:off x="2898648" y="532638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Oct</a:t>
            </a:r>
            <a:endParaRPr lang="en-US" sz="900" dirty="0"/>
          </a:p>
        </p:txBody>
      </p:sp>
      <p:sp>
        <p:nvSpPr>
          <p:cNvPr id="95" name="Text 91"/>
          <p:cNvSpPr txBox="1"/>
          <p:nvPr/>
        </p:nvSpPr>
        <p:spPr>
          <a:xfrm>
            <a:off x="3931920" y="535381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Pendiente de ventana de BBVA: se replanifica</a:t>
            </a:r>
            <a:endParaRPr lang="en-US" sz="850" dirty="0"/>
          </a:p>
        </p:txBody>
      </p:sp>
      <p:sp>
        <p:nvSpPr>
          <p:cNvPr id="96" name="Text 92"/>
          <p:cNvSpPr txBox="1"/>
          <p:nvPr/>
        </p:nvSpPr>
        <p:spPr>
          <a:xfrm>
            <a:off x="7872984" y="532638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97" name="Text 93"/>
          <p:cNvSpPr txBox="1"/>
          <p:nvPr/>
        </p:nvSpPr>
        <p:spPr>
          <a:xfrm>
            <a:off x="8997696" y="53263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98" name="Shape 94"/>
          <p:cNvSpPr/>
          <p:nvPr/>
        </p:nvSpPr>
        <p:spPr>
          <a:xfrm>
            <a:off x="9436608" y="54041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99" name="Shape 95"/>
          <p:cNvSpPr/>
          <p:nvPr/>
        </p:nvSpPr>
        <p:spPr>
          <a:xfrm>
            <a:off x="10351008" y="5381244"/>
            <a:ext cx="109728" cy="109728"/>
          </a:xfrm>
          <a:prstGeom prst="ellipse">
            <a:avLst/>
          </a:prstGeom>
          <a:solidFill>
            <a:srgbClr val="FFB56B"/>
          </a:solidFill>
          <a:ln/>
        </p:spPr>
      </p:sp>
      <p:sp>
        <p:nvSpPr>
          <p:cNvPr id="100" name="Text 96"/>
          <p:cNvSpPr txBox="1"/>
          <p:nvPr/>
        </p:nvSpPr>
        <p:spPr>
          <a:xfrm>
            <a:off x="10515600" y="53263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riesgo</a:t>
            </a:r>
            <a:endParaRPr lang="en-US" sz="850" dirty="0"/>
          </a:p>
        </p:txBody>
      </p:sp>
      <p:sp>
        <p:nvSpPr>
          <p:cNvPr id="101" name="Shape 97"/>
          <p:cNvSpPr/>
          <p:nvPr/>
        </p:nvSpPr>
        <p:spPr>
          <a:xfrm>
            <a:off x="658368" y="569214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722376" y="5737860"/>
            <a:ext cx="1238098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103" name="Text 99"/>
          <p:cNvSpPr txBox="1"/>
          <p:nvPr/>
        </p:nvSpPr>
        <p:spPr>
          <a:xfrm>
            <a:off x="722376" y="5737860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· B2</a:t>
            </a:r>
            <a:endParaRPr lang="en-US" sz="680" dirty="0"/>
          </a:p>
        </p:txBody>
      </p:sp>
      <p:sp>
        <p:nvSpPr>
          <p:cNvPr id="104" name="Text 100"/>
          <p:cNvSpPr txBox="1"/>
          <p:nvPr/>
        </p:nvSpPr>
        <p:spPr>
          <a:xfrm>
            <a:off x="2898648" y="57378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Oct</a:t>
            </a:r>
            <a:endParaRPr lang="en-US" sz="900" dirty="0"/>
          </a:p>
        </p:txBody>
      </p:sp>
      <p:sp>
        <p:nvSpPr>
          <p:cNvPr id="105" name="Text 101"/>
          <p:cNvSpPr txBox="1"/>
          <p:nvPr/>
        </p:nvSpPr>
        <p:spPr>
          <a:xfrm>
            <a:off x="7872984" y="57378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106" name="Text 102"/>
          <p:cNvSpPr txBox="1"/>
          <p:nvPr/>
        </p:nvSpPr>
        <p:spPr>
          <a:xfrm>
            <a:off x="8997696" y="57378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9436608" y="58155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108" name="Shape 104"/>
          <p:cNvSpPr/>
          <p:nvPr/>
        </p:nvSpPr>
        <p:spPr>
          <a:xfrm>
            <a:off x="10351008" y="5792724"/>
            <a:ext cx="109728" cy="109728"/>
          </a:xfrm>
          <a:prstGeom prst="ellipse">
            <a:avLst/>
          </a:prstGeom>
          <a:solidFill>
            <a:srgbClr val="FFB56B"/>
          </a:solidFill>
          <a:ln/>
        </p:spPr>
      </p:sp>
      <p:sp>
        <p:nvSpPr>
          <p:cNvPr id="109" name="Text 105"/>
          <p:cNvSpPr txBox="1"/>
          <p:nvPr/>
        </p:nvSpPr>
        <p:spPr>
          <a:xfrm>
            <a:off x="10515600" y="57378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riesgo</a:t>
            </a:r>
            <a:endParaRPr lang="en-US" sz="850" dirty="0"/>
          </a:p>
        </p:txBody>
      </p:sp>
      <p:sp>
        <p:nvSpPr>
          <p:cNvPr id="110" name="Shape 106"/>
          <p:cNvSpPr/>
          <p:nvPr/>
        </p:nvSpPr>
        <p:spPr>
          <a:xfrm>
            <a:off x="658368" y="60030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722376" y="6048756"/>
            <a:ext cx="1238098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112" name="Text 108"/>
          <p:cNvSpPr txBox="1"/>
          <p:nvPr/>
        </p:nvSpPr>
        <p:spPr>
          <a:xfrm>
            <a:off x="722376" y="6048756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· B3</a:t>
            </a:r>
            <a:endParaRPr lang="en-US" sz="680" dirty="0"/>
          </a:p>
        </p:txBody>
      </p:sp>
      <p:sp>
        <p:nvSpPr>
          <p:cNvPr id="113" name="Text 109"/>
          <p:cNvSpPr txBox="1"/>
          <p:nvPr/>
        </p:nvSpPr>
        <p:spPr>
          <a:xfrm>
            <a:off x="2898648" y="60487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Nov</a:t>
            </a:r>
            <a:endParaRPr lang="en-US" sz="900" dirty="0"/>
          </a:p>
        </p:txBody>
      </p:sp>
      <p:sp>
        <p:nvSpPr>
          <p:cNvPr id="114" name="Text 110"/>
          <p:cNvSpPr txBox="1"/>
          <p:nvPr/>
        </p:nvSpPr>
        <p:spPr>
          <a:xfrm>
            <a:off x="7872984" y="60487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115" name="Text 111"/>
          <p:cNvSpPr txBox="1"/>
          <p:nvPr/>
        </p:nvSpPr>
        <p:spPr>
          <a:xfrm>
            <a:off x="8997696" y="60487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116" name="Shape 112"/>
          <p:cNvSpPr/>
          <p:nvPr/>
        </p:nvSpPr>
        <p:spPr>
          <a:xfrm>
            <a:off x="9436608" y="61264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117" name="Shape 113"/>
          <p:cNvSpPr/>
          <p:nvPr/>
        </p:nvSpPr>
        <p:spPr>
          <a:xfrm>
            <a:off x="10351008" y="6103620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118" name="Text 114"/>
          <p:cNvSpPr txBox="1"/>
          <p:nvPr/>
        </p:nvSpPr>
        <p:spPr>
          <a:xfrm>
            <a:off x="10515600" y="60487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85C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234440" cy="3749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651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BLOQUE 03 · COORDINACIÓN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2990088"/>
            <a:ext cx="10515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Incidencias</a:t>
            </a:r>
            <a:endParaRPr lang="en-US" sz="4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 traspasos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4714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Incidencias abiertas, tareas pendientes y traspasos entre responsables pendientes de cerrar.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· Incidencias y traspasos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· INCIDENCIAS Y TRASPASOS   INCIDENCIAS Y TAREAS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· Incidencias y traspasos — Incidencias y tareas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19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87552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Incidencias y tareas abiertas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453896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Dos incidencias en Strategic Boost y Cargador Fondos y tres tareas abiertas o pendientes.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02920" y="1801368"/>
            <a:ext cx="3557016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22376" y="2002536"/>
            <a:ext cx="857922" cy="237744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22376" y="2002536"/>
            <a:ext cx="8579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INCIDENCIA</a:t>
            </a:r>
            <a:endParaRPr lang="en-US" sz="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96596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2376" y="236829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Strategic Boost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722376" y="2715768"/>
            <a:ext cx="31181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Duplicados en ISSR, en el alta automática de emisores</a:t>
            </a:r>
            <a:endParaRPr lang="en-US" sz="9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Error en el proceso si el usuario deja vacío el Legal Regime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315968" y="1801368"/>
            <a:ext cx="3557016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35424" y="2002536"/>
            <a:ext cx="1266444" cy="237744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535424" y="2002536"/>
            <a:ext cx="12664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 · EN RIESGO</a:t>
            </a:r>
            <a:endParaRPr lang="en-US" sz="7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344" y="196596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535424" y="236829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2024-57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4535424" y="2715768"/>
            <a:ext cx="31181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Eliminar columnas no utilizadas FT_T_RLA1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8129016" y="1801368"/>
            <a:ext cx="3557016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348472" y="2002536"/>
            <a:ext cx="1208084" cy="237744"/>
          </a:xfrm>
          <a:prstGeom prst="roundRect">
            <a:avLst>
              <a:gd name="adj" fmla="val 50000"/>
            </a:avLst>
          </a:prstGeom>
          <a:solidFill>
            <a:srgbClr val="88E783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348472" y="2002536"/>
            <a:ext cx="1208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 · EN PLAZO</a:t>
            </a:r>
            <a:endParaRPr lang="en-US" sz="7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2" y="1965960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348472" y="236829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Migración Midas FX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8348472" y="2715768"/>
            <a:ext cx="31181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Volcado de BBDD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02920" y="4014216"/>
            <a:ext cx="3557016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22376" y="4215384"/>
            <a:ext cx="857922" cy="237744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722376" y="4215384"/>
            <a:ext cx="8579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INCIDENCIA</a:t>
            </a:r>
            <a:endParaRPr lang="en-US" sz="7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17880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2376" y="458114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Cargador Fondos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722376" y="4928616"/>
            <a:ext cx="31181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Timeout en la carga masiva de más de 5.000 fondos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4315968" y="4014216"/>
            <a:ext cx="3557016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535424" y="4215384"/>
            <a:ext cx="1208084" cy="237744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4535424" y="4215384"/>
            <a:ext cx="1208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 · EN CURSO</a:t>
            </a:r>
            <a:endParaRPr lang="en-US" sz="7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4344" y="4178808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535424" y="458114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Certificados JBOSS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4535424" y="4928616"/>
            <a:ext cx="31181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Renovación de certificados de los entornos de UAT</a:t>
            </a:r>
            <a:endParaRPr lang="en-US" sz="9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Coordinar con sistemas la ventana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· INCIDENCIAS Y TRASPASOS   TRASPASOS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· Incidencias y traspasos — Traspasos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20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87552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Traspasos pendientes de cerrar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453896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Seis proyectos traspasados; cuatro esperan el OK de usuario, uno la implantación y uno con otros pendientes.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02920" y="1801368"/>
            <a:ext cx="11183112" cy="3529584"/>
          </a:xfrm>
          <a:prstGeom prst="roundRect">
            <a:avLst>
              <a:gd name="adj" fmla="val 31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" y="1801368"/>
            <a:ext cx="11183112" cy="365760"/>
          </a:xfrm>
          <a:prstGeom prst="roundRect">
            <a:avLst>
              <a:gd name="adj" fmla="val 30000"/>
            </a:avLst>
          </a:prstGeom>
          <a:solidFill>
            <a:srgbClr val="E2E6EA"/>
          </a:solidFill>
          <a:ln/>
        </p:spPr>
      </p:sp>
      <p:sp>
        <p:nvSpPr>
          <p:cNvPr id="11" name="Shape 7"/>
          <p:cNvSpPr/>
          <p:nvPr/>
        </p:nvSpPr>
        <p:spPr>
          <a:xfrm>
            <a:off x="502920" y="1984248"/>
            <a:ext cx="11183112" cy="182880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22376" y="180136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CÓDIGO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1956816" y="180136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PROYECTO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5084064" y="1801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RESPONSABLE INTERNO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7150608" y="1801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RESPONSABLE NFQ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9208008" y="180136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PENDIENTE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22376" y="2313432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22376" y="2313432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2025-61</a:t>
            </a:r>
            <a:endParaRPr lang="en-US" sz="750" dirty="0"/>
          </a:p>
        </p:txBody>
      </p:sp>
      <p:sp>
        <p:nvSpPr>
          <p:cNvPr id="19" name="Text 15"/>
          <p:cNvSpPr txBox="1"/>
          <p:nvPr/>
        </p:nvSpPr>
        <p:spPr>
          <a:xfrm>
            <a:off x="1956816" y="235915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Supply Chain Finance - Contrapartidas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5084064" y="23591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Alejandro Romero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7150608" y="23591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Ángela Montero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9208008" y="235915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Falta OK usuario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58368" y="273405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22376" y="2825496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22376" y="2825496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2026-21</a:t>
            </a:r>
            <a:endParaRPr lang="en-US" sz="750" dirty="0"/>
          </a:p>
        </p:txBody>
      </p:sp>
      <p:sp>
        <p:nvSpPr>
          <p:cNvPr id="26" name="Text 22"/>
          <p:cNvSpPr txBox="1"/>
          <p:nvPr/>
        </p:nvSpPr>
        <p:spPr>
          <a:xfrm>
            <a:off x="1956816" y="2871216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Cargador Thirdparties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5084064" y="28712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Lucía Garrido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7150608" y="28712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 Trujillano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9208008" y="2871216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Falta implantación GoLive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58368" y="32461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22376" y="3337560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22376" y="333756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2026-23</a:t>
            </a:r>
            <a:endParaRPr lang="en-US" sz="750" dirty="0"/>
          </a:p>
        </p:txBody>
      </p:sp>
      <p:sp>
        <p:nvSpPr>
          <p:cNvPr id="33" name="Text 29"/>
          <p:cNvSpPr txBox="1"/>
          <p:nvPr/>
        </p:nvSpPr>
        <p:spPr>
          <a:xfrm>
            <a:off x="1956816" y="33832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Cargador Fondos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5084064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Lucía Garrido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7150608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Jesús Tejada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9208008" y="338328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Falta OK usuario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58368" y="3758184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22376" y="3849624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722376" y="3849624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2026-49</a:t>
            </a:r>
            <a:endParaRPr lang="en-US" sz="750" dirty="0"/>
          </a:p>
        </p:txBody>
      </p:sp>
      <p:sp>
        <p:nvSpPr>
          <p:cNvPr id="40" name="Text 36"/>
          <p:cNvSpPr txBox="1"/>
          <p:nvPr/>
        </p:nvSpPr>
        <p:spPr>
          <a:xfrm>
            <a:off x="1956816" y="3895344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Legal Agreements CLS</a:t>
            </a:r>
            <a:endParaRPr lang="en-US" sz="950" dirty="0"/>
          </a:p>
        </p:txBody>
      </p:sp>
      <p:sp>
        <p:nvSpPr>
          <p:cNvPr id="41" name="Text 37"/>
          <p:cNvSpPr txBox="1"/>
          <p:nvPr/>
        </p:nvSpPr>
        <p:spPr>
          <a:xfrm>
            <a:off x="5084064" y="38953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Lucía Garrido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7150608" y="38953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 Trujillano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9208008" y="389534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Falta OK usuario / OK destino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658368" y="427024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22376" y="4361688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722376" y="4361688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2026-41</a:t>
            </a:r>
            <a:endParaRPr lang="en-US" sz="750" dirty="0"/>
          </a:p>
        </p:txBody>
      </p:sp>
      <p:sp>
        <p:nvSpPr>
          <p:cNvPr id="47" name="Text 43"/>
          <p:cNvSpPr txBox="1"/>
          <p:nvPr/>
        </p:nvSpPr>
        <p:spPr>
          <a:xfrm>
            <a:off x="1956816" y="440740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Eventos Corporativos</a:t>
            </a:r>
            <a:endParaRPr lang="en-US" sz="950" dirty="0"/>
          </a:p>
        </p:txBody>
      </p:sp>
      <p:sp>
        <p:nvSpPr>
          <p:cNvPr id="48" name="Text 44"/>
          <p:cNvSpPr txBox="1"/>
          <p:nvPr/>
        </p:nvSpPr>
        <p:spPr>
          <a:xfrm>
            <a:off x="5084064" y="4407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 Rodríguez</a:t>
            </a:r>
            <a:endParaRPr lang="en-US" sz="950" dirty="0"/>
          </a:p>
        </p:txBody>
      </p:sp>
      <p:sp>
        <p:nvSpPr>
          <p:cNvPr id="49" name="Text 45"/>
          <p:cNvSpPr txBox="1"/>
          <p:nvPr/>
        </p:nvSpPr>
        <p:spPr>
          <a:xfrm>
            <a:off x="7150608" y="4407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50" dirty="0"/>
          </a:p>
        </p:txBody>
      </p:sp>
      <p:sp>
        <p:nvSpPr>
          <p:cNvPr id="50" name="Text 46"/>
          <p:cNvSpPr txBox="1"/>
          <p:nvPr/>
        </p:nvSpPr>
        <p:spPr>
          <a:xfrm>
            <a:off x="9208008" y="440740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Falta OK usuario post-implantación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658368" y="478231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22376" y="4873752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722376" y="4873752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2026-46</a:t>
            </a:r>
            <a:endParaRPr lang="en-US" sz="750" dirty="0"/>
          </a:p>
        </p:txBody>
      </p:sp>
      <p:sp>
        <p:nvSpPr>
          <p:cNvPr id="54" name="Text 50"/>
          <p:cNvSpPr txBox="1"/>
          <p:nvPr/>
        </p:nvSpPr>
        <p:spPr>
          <a:xfrm>
            <a:off x="1956816" y="491947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Automatización Emisiones RV</a:t>
            </a:r>
            <a:endParaRPr lang="en-US" sz="950" dirty="0"/>
          </a:p>
        </p:txBody>
      </p:sp>
      <p:sp>
        <p:nvSpPr>
          <p:cNvPr id="55" name="Text 51"/>
          <p:cNvSpPr txBox="1"/>
          <p:nvPr/>
        </p:nvSpPr>
        <p:spPr>
          <a:xfrm>
            <a:off x="5084064" y="49194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Alejandro García</a:t>
            </a:r>
            <a:endParaRPr lang="en-US" sz="950" dirty="0"/>
          </a:p>
        </p:txBody>
      </p:sp>
      <p:sp>
        <p:nvSpPr>
          <p:cNvPr id="56" name="Text 52"/>
          <p:cNvSpPr txBox="1"/>
          <p:nvPr/>
        </p:nvSpPr>
        <p:spPr>
          <a:xfrm>
            <a:off x="7150608" y="49194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50" dirty="0"/>
          </a:p>
        </p:txBody>
      </p:sp>
      <p:sp>
        <p:nvSpPr>
          <p:cNvPr id="57" name="Text 53"/>
          <p:cNvSpPr txBox="1"/>
          <p:nvPr/>
        </p:nvSpPr>
        <p:spPr>
          <a:xfrm>
            <a:off x="9208008" y="491947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Documentación de traspaso</a:t>
            </a:r>
            <a:endParaRPr lang="en-US" sz="950" dirty="0"/>
          </a:p>
        </p:txBody>
      </p:sp>
      <p:sp>
        <p:nvSpPr>
          <p:cNvPr id="58" name="Text 54"/>
          <p:cNvSpPr txBox="1"/>
          <p:nvPr/>
        </p:nvSpPr>
        <p:spPr>
          <a:xfrm>
            <a:off x="502920" y="55138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Color del código: Canary, falta el OK de usuario (pruebas); Mandarin, falta la implantación; Serene, otros pendientes.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13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RDR   CIFRAS CLAVE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Resumen · Cifras clave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21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87552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7F8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Cifras clave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02920" y="180136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020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53288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proyectos en seguimiento con seis responsables internos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783434" y="180136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966314" y="2020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64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2966314" y="253288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tareas con fecha límite y avance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063947" y="180136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46827" y="2020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41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5246827" y="253288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tareas completadas al 100 %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344461" y="180136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527341" y="2020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7527341" y="253288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tareas en riesgo: Plan Brasil y Vulnerabilidades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9624974" y="180136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807854" y="2020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9807854" y="253288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implantaciones en los próximos 30 días: Security Lending, BSI 2.0 y Vulnerabilidades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02920" y="390448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41239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685800" y="463600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incidencias abiertas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783434" y="390448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2966314" y="41239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2966314" y="463600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tareas abiertas o pendientes de coordinación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063947" y="390448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246827" y="41239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5246827" y="463600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traspasos pendientes de OK de usuario o de implantación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7344461" y="390448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527341" y="41239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75 %</a:t>
            </a:r>
            <a:endParaRPr lang="en-US" sz="2000" dirty="0"/>
          </a:p>
        </p:txBody>
      </p:sp>
      <p:sp>
        <p:nvSpPr>
          <p:cNvPr id="34" name="Text 30"/>
          <p:cNvSpPr txBox="1"/>
          <p:nvPr/>
        </p:nvSpPr>
        <p:spPr>
          <a:xfrm>
            <a:off x="7527341" y="463600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 medio de las tareas en seguimiento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9624974" y="390448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807854" y="41239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3"/>
          <p:cNvSpPr txBox="1"/>
          <p:nvPr/>
        </p:nvSpPr>
        <p:spPr>
          <a:xfrm>
            <a:off x="9807854" y="463600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tareas con la fecha límite superada sin cerrar: Migración MIDAS, Plan Brasil, Testing / IA - RDR…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13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568" y="2487168"/>
            <a:ext cx="2194560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6118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GRACIAS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0" y="390448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RDR Global 2026 · 5 de octubre de 2026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4617720" y="568756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HECHO POR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5687568"/>
            <a:ext cx="64008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RDR   ANEXO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RDR · Anexo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23 / 23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SDATOOL-34546 · 2026-39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Institucional Clientes · E-Clients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tareas · 5 al 100 % · Asignación: Marta y Pilar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2496312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Feb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Planificación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Pilar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7889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83464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83464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8346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 Feb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86207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Inclusión de los alias en el Servicio de Inactivaciones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8346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Pilar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8346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9123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9123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88950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8346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09981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145536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145536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722376" y="3410712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2898648" y="314553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 Mar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931920" y="317296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7872984" y="314553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Pilar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8997696" y="314553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436608" y="322326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9" name="Shape 45"/>
          <p:cNvSpPr/>
          <p:nvPr/>
        </p:nvSpPr>
        <p:spPr>
          <a:xfrm>
            <a:off x="9436608" y="322326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0" name="Shape 46"/>
          <p:cNvSpPr/>
          <p:nvPr/>
        </p:nvSpPr>
        <p:spPr>
          <a:xfrm>
            <a:off x="10351008" y="320040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10515600" y="314553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658368" y="36027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22376" y="3648456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22376" y="3648456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55" name="Text 51"/>
          <p:cNvSpPr txBox="1"/>
          <p:nvPr/>
        </p:nvSpPr>
        <p:spPr>
          <a:xfrm>
            <a:off x="722376" y="3913632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2898648" y="36484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27 Mar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3931920" y="367588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 con E-Clients</a:t>
            </a:r>
            <a:endParaRPr lang="en-US" sz="850" dirty="0"/>
          </a:p>
        </p:txBody>
      </p:sp>
      <p:sp>
        <p:nvSpPr>
          <p:cNvPr id="58" name="Text 54"/>
          <p:cNvSpPr txBox="1"/>
          <p:nvPr/>
        </p:nvSpPr>
        <p:spPr>
          <a:xfrm>
            <a:off x="7872984" y="36484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8997696" y="36484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9436608" y="37261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1" name="Shape 57"/>
          <p:cNvSpPr/>
          <p:nvPr/>
        </p:nvSpPr>
        <p:spPr>
          <a:xfrm>
            <a:off x="9436608" y="37261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2" name="Shape 58"/>
          <p:cNvSpPr/>
          <p:nvPr/>
        </p:nvSpPr>
        <p:spPr>
          <a:xfrm>
            <a:off x="10351008" y="370332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10515600" y="36484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658368" y="410565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22376" y="4151376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722376" y="4151376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67" name="Text 63"/>
          <p:cNvSpPr txBox="1"/>
          <p:nvPr/>
        </p:nvSpPr>
        <p:spPr>
          <a:xfrm>
            <a:off x="2898648" y="415137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 Jul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3931920" y="4178808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en producción</a:t>
            </a:r>
            <a:endParaRPr lang="en-US" sz="850" dirty="0"/>
          </a:p>
        </p:txBody>
      </p:sp>
      <p:sp>
        <p:nvSpPr>
          <p:cNvPr id="69" name="Text 65"/>
          <p:cNvSpPr txBox="1"/>
          <p:nvPr/>
        </p:nvSpPr>
        <p:spPr>
          <a:xfrm>
            <a:off x="7872984" y="415137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8997696" y="41513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9436608" y="422910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2" name="Shape 68"/>
          <p:cNvSpPr/>
          <p:nvPr/>
        </p:nvSpPr>
        <p:spPr>
          <a:xfrm>
            <a:off x="9436608" y="422910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3" name="Shape 69"/>
          <p:cNvSpPr/>
          <p:nvPr/>
        </p:nvSpPr>
        <p:spPr>
          <a:xfrm>
            <a:off x="10351008" y="420624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4" name="Text 70"/>
          <p:cNvSpPr txBox="1"/>
          <p:nvPr/>
        </p:nvSpPr>
        <p:spPr>
          <a:xfrm>
            <a:off x="10515600" y="415137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NFQ Advisory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Seguimiento RDR · 5 de octubre de 2026</dc:title>
  <dc:subject>PptxGenJS Presentation</dc:subject>
  <dc:creator>NFQ Advisory Services</dc:creator>
  <cp:lastModifiedBy>NFQ Advisory Services</cp:lastModifiedBy>
  <cp:revision>1</cp:revision>
  <dcterms:created xsi:type="dcterms:W3CDTF">2026-10-03T10:25:08Z</dcterms:created>
  <dcterms:modified xsi:type="dcterms:W3CDTF">2026-10-03T10:25:08Z</dcterms:modified>
</cp:coreProperties>
</file>